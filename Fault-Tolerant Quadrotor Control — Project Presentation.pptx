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name]. Our project is number 6: a quadrotor that keeps flying its waypoint mission when one motor is cut to half speed. The orange rotor in the picture is that motor. We’ll go through four things: our objectives, our solution framework, the deliverables we’re committing to, and the components we’ll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come straight from the project brief. First, the drone itself: it needs enough spare thrust that one motor at half speed doesn’t bring it down. Second, a normal autonomous waypoint mission with all motors healthy. That’s our baseline, and everything after the fault gets compared against it. Third, when we’re told a motor is at 50%, the controller adapts and keeps the drone level. Fourth, after the fault the drone either finishes the mission or flies back and lands. Fifth, every result we report comes from flight logs. One thing we don’t do is detect the fault. The brief says we’re told which motor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the problem is hard. Propeller thrust goes with the square of its speed, so half the RPM gives about a quarter of the thrust, not half. A quadrotor has no spare motor; the four motors share lift, roll, pitch and yaw between them. Weaken one corner and the drone tips toward it. And since two motors spin clockwise and two anticlockwise, their twisting forces stop cancelling, so the drone also starts to turn. The controller has to deal with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main design decision. Our drone should weigh about 650 grams, so each motor needs about 163 grams of thrust to hover. The motors we picked give about 1.2 kilograms each at full speed. A quarter of that is about 300 grams, which is still more than the weak motor needs to hold up its corner. The break-even point is a thrust-to-weight ratio of 4:1, because a quarter of 4 is 1. We’re aiming for 5:1 or more, and our estimate is around 7:1. These are estimates; we’ll measure the real numbers once the parts arrive. If asked why not a bigger 450 mm frame: to reach 5:1 on a frame that size you need much bigger motors and batteries, which costs a lot more. A 5-inch frame gets there cheaply and is easy to fix after a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flight stack, left to right. The mission says where to go next. The position controller decides which way to tilt. The attitude and rate controllers work out how much roll, pitch and yaw is needed. Control allocation, the mixer, turns that into a speed for each motor. We’re using PX4, an open-source autopilot, so we don’t have to build stable flight from scratch. We add three pieces: the fault interface, a fault-aware allocator, and the mission logic that decides what to do after the fault. If asked why PX4: it’s open source, it already does waypoint missions and detailed logging, and its control allocation is a separate module we can modify. That module is exactly what our project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of our software. The mixer solves one equation: the controller asks for total lift plus roll, pitch and yaw, and the mixer finds four motor thrusts that produce it. Normally each motor can go anywhere between zero and full. After the fault, motor k tops out at about a quarter of its normal thrust. We handle that in three steps. We give the allocator the new limit, so it plans around it instead of asking for something impossible. We set priorities: staying level and holding height come first, and if something has to give, it’s yaw, so the heading may drift a little. And after the fault we lower the speed, climb-rate and tilt limits, so the controller rarely needs more than the weak motor can give. If asked whether hover is fine anyway at 7:1: yes, in calm hover the weak motor has enough. The trouble comes in climbs, turns, braking and gusts, when the controller suddenly wants more from one motor. The default mixer doesn’t know the limit, so it saturates and the drone tilts. Ours plans around it, and we’ll show the difference in simulation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the fault is injected from outside and the controller is told about it. So we need a clear way for the message “motor k is at 50%” to reach our code. We plan to accept it either as a MAVLink command from the ground station or as an RC switch. Inside PX4 it becomes an internal message that both the allocator and the mission logic listen for. While testing, we have to create the fault ourselves. One switch on our remote will cap motor k and send the notification at the same time. Throttle and RPM aren’t the same thing, so we’ll measure the real motor speed from the ESCs’ RPM readings and calibrate the cap on the bench. If asked how we know it’s really 50% RPM: we measure it directly from ESC telemetry and log it in every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allows two endings after the fault: continue the mission, or stop and land safely. Our drone decides on its own. As soon as the fault arrives, it holds position for a few seconds to settle. Then it checks three things: is the tilt error small, is it holding position, and is there enough battery left. If all three pass, it flies the remaining waypoints more slowly. If any one fails, it flies back and lands. Either ending meets the brief; finishing the mission is what we’re aiming for. If asked for exact thresholds: we’ll set them from simulation and tethered tests, roughly a few degrees of tilt error and under half a metre of position error, and report the values we pick.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deliverables we’re committing to. They follow the brief’s list one to one, and the right column says how we’ll prove each. D1 is the drone itself, sized for the fault. D2 and D3 are normal flight: a stable, tuned controller and an autonomous waypoint mission. D4 to D6 are the fault handling: the notification interface, the fault-aware allocation, and the tighter limits after the fault. D7 is the pair of demo flights, one healthy and one with the fault. D8 is the decision after the fault: finish or land. D9 is the logs, data and report that every team submits. Since deliverables can’t change after today, we’ve kept this list to what the brief asks for. The extras are on the next slide as stretch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about scope: these stretch goals are things we’ll try if time allows, but we’re not committing to them. Finishing the full mission in every single trial is hard, so our commitment is “finish or land safely”. A closed-loop RPM cap would hold exactly 50% as the battery drains. And comparing the default mixer against ours in real flight is risky, because the default may crash, so we commit to that comparison in simulation only. Out of scope: detecting the fault, which the brief excludes, and other kinds of fault, like a fully stopped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propulsion part follows one rule: thrust-to-weight of at least 5:1, so the weak motor can still carry its share. Frame: a 5-inch carbon frame is light, survives crashes, and a broken arm is cheap to replace. We expect a few crashes while testing the fault. Motors: 2306 motors at around 2450 KV on a 4-cell battery give roughly 1.2 to 1.5 kg of thrust each. That puts us near 7:1. ESC: these report the actual motor RPM, which is how we prove the weak motor really is at 50% and log it for the report. One 4-in-1 board keeps the wiring simple. Props and batteries: props break easily, so we’re buying plenty. Three batteries mean several flights per session, since a charge takes about an hour. If asked why 4S and not 6S: 4S parts and chargers are cheaper and easier to find, and 4S already gives us enough thrust.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Flight controller: an H7 board that runs PX4. We need to change its control allocation, and we need its flight logs for the report. Position sensor: waypoints need the drone to know where it is. Outdoors that’s GPS with a compass. GPS doesn’t work indoors, so there we’d use an optical-flow sensor. It depends on where the demo happens. Telemetry: the link between the drone and the laptop. It carries the fault notification and lets us watch the flight live. RC transmitter: the safety rules require a manual override and kill switch. We use a second switch to turn the test fault on and off. Test gear: the tether lets us try the fault without the drone flying off, and spare parts mean a crash costs us hours, not a week. Budget is roughly 45 to 55 thousand rupees, less if the lab can lend the transmitter, charger or tools. If asked why not a cheaper Betaflight board: Betaflight can’t fly autonomous waypoint missions and isn’t built to be modified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like to settle these four points, since the deliverables are fixed after today. The answers decide how we build the fault interface, which position sensor we buy, what software we start from, and our budget. Answers to other questions we might get: Why not a hexacopter? The brief asks for a quadrotor. A hexacopter has spare motors, which would make the fault much easier and miss the point. Will you detect the fault? No. The brief says we’re told which motor is weak. What happens to yaw? We lose some yaw authority. We keep the drone level and on position first, and accept a slow heading drift. How is this different from what PX4 already does? Stock PX4 doesn’t know a motor is weaker; it only reacts once that motor saturates. Ours knows the limit in advance and plans around it, and our mission logic decides whether to carry on or land. What if it can’t hold position after the fault? The health check fails and the drone returns and lands, which still meets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42"/>
            <a:ext cx="10566400" cy="446969"/>
          </a:xfrm>
          <a:prstGeom prst="rect">
            <a:avLst/>
          </a:prstGeom>
          <a:noFill/>
          <a:ln/>
        </p:spPr>
        <p:txBody>
          <a:bodyPr wrap="square" lIns="0" tIns="0" rIns="0" bIns="0" rtlCol="0" anchor="t"/>
          <a:lstStyle>
            <a:lvl1pPr algn="l" indent="0" marL="0">
              <a:lnSpc>
                <a:spcPct val="115000"/>
              </a:lnSpc>
              <a:buNone/>
              <a:defRPr lang="en-US" sz="3200" dirty="0">
                <a:solidFill>
                  <a:srgbClr val="13203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12"/>
            <a:ext cx="10566400" cy="4165688"/>
          </a:xfrm>
          <a:prstGeom prst="rect">
            <a:avLst/>
          </a:prstGeom>
          <a:noFill/>
          <a:ln/>
        </p:spPr>
        <p:txBody>
          <a:bodyPr wrap="square" lIns="0" tIns="0" rIns="0" bIns="0" rtlCol="0" anchor="t"/>
          <a:lstStyle>
            <a:lvl1pPr algn="l" indent="0" marL="0">
              <a:lnSpc>
                <a:spcPct val="140000"/>
              </a:lnSpc>
              <a:buNone/>
              <a:defRPr lang="en-US" sz="1600" dirty="0">
                <a:solidFill>
                  <a:srgbClr val="1320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42"/>
            <a:ext cx="10566400" cy="446969"/>
          </a:xfrm>
          <a:prstGeom prst="rect">
            <a:avLst/>
          </a:prstGeom>
          <a:noFill/>
          <a:ln/>
        </p:spPr>
        <p:txBody>
          <a:bodyPr wrap="square" lIns="0" tIns="0" rIns="0" bIns="0" rtlCol="0" anchor="t"/>
          <a:lstStyle>
            <a:lvl1pPr algn="l" indent="0" marL="0">
              <a:lnSpc>
                <a:spcPct val="115000"/>
              </a:lnSpc>
              <a:buNone/>
              <a:defRPr lang="en-US" sz="3200" dirty="0">
                <a:solidFill>
                  <a:srgbClr val="13203A"/>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12"/>
            <a:ext cx="10566400" cy="4165688"/>
          </a:xfrm>
          <a:prstGeom prst="rect">
            <a:avLst/>
          </a:prstGeom>
          <a:noFill/>
          <a:ln/>
        </p:spPr>
        <p:txBody>
          <a:bodyPr wrap="square" lIns="0" tIns="0" rIns="0" bIns="0" rtlCol="0" anchor="t"/>
          <a:lstStyle>
            <a:lvl1pPr algn="l" indent="0" marL="0">
              <a:lnSpc>
                <a:spcPct val="140000"/>
              </a:lnSpc>
              <a:buNone/>
              <a:defRPr lang="en-US" sz="1600" dirty="0">
                <a:solidFill>
                  <a:srgbClr val="1320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3A"/>
        </a:solidFill>
      </p:bgPr>
    </p:bg>
    <p:spTree>
      <p:nvGrpSpPr>
        <p:cNvPr id="1" name=""/>
        <p:cNvGrpSpPr/>
        <p:nvPr/>
      </p:nvGrpSpPr>
      <p:grpSpPr>
        <a:xfrm>
          <a:off x="0" y="0"/>
          <a:ext cx="0" cy="0"/>
          <a:chOff x="0" y="0"/>
          <a:chExt cx="0" cy="0"/>
        </a:xfrm>
      </p:grpSpPr>
      <p:pic>
        <p:nvPicPr>
          <p:cNvPr id="2" name="Image 0" descr="Top view of a quadrotor with four rotors; the bottom-right rotor is highlighted as the weakened motor">    </p:cNvPr>
          <p:cNvPicPr>
            <a:picLocks noChangeAspect="1"/>
          </p:cNvPicPr>
          <p:nvPr/>
        </p:nvPicPr>
        <p:blipFill>
          <a:blip r:embed="rId1"/>
          <a:srcRect l="0" r="0" t="0" b="0"/>
          <a:stretch/>
        </p:blipFill>
        <p:spPr>
          <a:xfrm>
            <a:off x="7493000" y="1587500"/>
            <a:ext cx="3556000" cy="3556000"/>
          </a:xfrm>
          <a:prstGeom prst="rect">
            <a:avLst/>
          </a:prstGeom>
        </p:spPr>
      </p:pic>
      <p:sp>
        <p:nvSpPr>
          <p:cNvPr id="3" name="Text 0"/>
          <p:cNvSpPr/>
          <p:nvPr/>
        </p:nvSpPr>
        <p:spPr>
          <a:xfrm>
            <a:off x="9499600" y="5219700"/>
            <a:ext cx="1574800" cy="274285"/>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08A3C"/>
                </a:solidFill>
                <a:latin typeface="IBM Plex Sans" pitchFamily="34" charset="0"/>
                <a:ea typeface="IBM Plex Sans" pitchFamily="34" charset="-122"/>
                <a:cs typeface="IBM Plex Sans" pitchFamily="34" charset="-120"/>
              </a:rPr>
              <a:t>50% RPM</a:t>
            </a:r>
            <a:endParaRPr lang="en-US" sz="1400" dirty="0"/>
          </a:p>
        </p:txBody>
      </p:sp>
      <p:sp>
        <p:nvSpPr>
          <p:cNvPr id="4" name="Text 1"/>
          <p:cNvSpPr/>
          <p:nvPr/>
        </p:nvSpPr>
        <p:spPr>
          <a:xfrm>
            <a:off x="812800" y="812800"/>
            <a:ext cx="10883392" cy="274285"/>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8A3C"/>
                </a:solidFill>
                <a:latin typeface="IBM Plex Sans" pitchFamily="34" charset="0"/>
                <a:ea typeface="IBM Plex Sans" pitchFamily="34" charset="-122"/>
                <a:cs typeface="IBM Plex Sans" pitchFamily="34" charset="-120"/>
              </a:rPr>
              <a:t>INTRODUCTION TO UAV DESIGN · PROJECT 6</a:t>
            </a:r>
            <a:endParaRPr lang="en-US" sz="1400" dirty="0"/>
          </a:p>
        </p:txBody>
      </p:sp>
      <p:sp>
        <p:nvSpPr>
          <p:cNvPr id="5" name="Text 2"/>
          <p:cNvSpPr/>
          <p:nvPr>
            <p:ph type="title"/>
          </p:nvPr>
        </p:nvSpPr>
        <p:spPr>
          <a:xfrm>
            <a:off x="812800" y="2342004"/>
            <a:ext cx="6540500" cy="1412169"/>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5F3EE"/>
                </a:solidFill>
                <a:latin typeface="Space Grotesk" pitchFamily="34" charset="0"/>
                <a:ea typeface="Space Grotesk" pitchFamily="34" charset="-122"/>
                <a:cs typeface="Space Grotesk" pitchFamily="34" charset="-120"/>
              </a:rPr>
              <a:t>Fault-Tolerant Quadrotor Control</a:t>
            </a:r>
            <a:endParaRPr lang="en-US" sz="5200" dirty="0"/>
          </a:p>
        </p:txBody>
      </p:sp>
      <p:sp>
        <p:nvSpPr>
          <p:cNvPr id="6" name="Text 3"/>
          <p:cNvSpPr/>
          <p:nvPr/>
        </p:nvSpPr>
        <p:spPr>
          <a:xfrm>
            <a:off x="812800" y="3931973"/>
            <a:ext cx="6680200" cy="345369"/>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5CFDC"/>
                </a:solidFill>
                <a:latin typeface="IBM Plex Sans" pitchFamily="34" charset="0"/>
                <a:ea typeface="IBM Plex Sans" pitchFamily="34" charset="-122"/>
                <a:cs typeface="IBM Plex Sans" pitchFamily="34" charset="-120"/>
              </a:rPr>
              <a:t>Objectives, solution framework, deliverables and components</a:t>
            </a:r>
            <a:endParaRPr lang="en-US" sz="1800" dirty="0"/>
          </a:p>
        </p:txBody>
      </p:sp>
      <p:sp>
        <p:nvSpPr>
          <p:cNvPr id="7" name="Text 4"/>
          <p:cNvSpPr/>
          <p:nvPr/>
        </p:nvSpPr>
        <p:spPr>
          <a:xfrm>
            <a:off x="812800" y="5532173"/>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E"/>
                </a:solidFill>
                <a:latin typeface="IBM Plex Sans" pitchFamily="34" charset="0"/>
                <a:ea typeface="IBM Plex Sans" pitchFamily="34" charset="-122"/>
                <a:cs typeface="IBM Plex Sans" pitchFamily="34" charset="-120"/>
              </a:rPr>
              <a:t>[Team name] · [Member names]</a:t>
            </a:r>
            <a:endParaRPr lang="en-US" sz="1400" dirty="0"/>
          </a:p>
        </p:txBody>
      </p:sp>
      <p:sp>
        <p:nvSpPr>
          <p:cNvPr id="8" name="Text 5"/>
          <p:cNvSpPr/>
          <p:nvPr/>
        </p:nvSpPr>
        <p:spPr>
          <a:xfrm>
            <a:off x="812800" y="5831858"/>
            <a:ext cx="10883392"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C"/>
                </a:solidFill>
                <a:latin typeface="IBM Plex Sans" pitchFamily="34" charset="0"/>
                <a:ea typeface="IBM Plex Sans" pitchFamily="34" charset="-122"/>
                <a:cs typeface="IBM Plex Sans" pitchFamily="34" charset="-120"/>
              </a:rPr>
              <a:t>Project presentation · 27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1 · OBJECTIVES</a:t>
            </a:r>
            <a:endParaRPr lang="en-US" sz="1200" dirty="0"/>
          </a:p>
        </p:txBody>
      </p:sp>
      <p:sp>
        <p:nvSpPr>
          <p:cNvPr id="3" name="Text 1"/>
          <p:cNvSpPr/>
          <p:nvPr>
            <p:ph type="title"/>
          </p:nvPr>
        </p:nvSpPr>
        <p:spPr>
          <a:xfrm>
            <a:off x="812800" y="1127743"/>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What we will build and demonstrate</a:t>
            </a:r>
            <a:endParaRPr lang="en-US" sz="3200" dirty="0"/>
          </a:p>
        </p:txBody>
      </p:sp>
      <p:sp>
        <p:nvSpPr>
          <p:cNvPr id="4" name="Shape 2"/>
          <p:cNvSpPr/>
          <p:nvPr/>
        </p:nvSpPr>
        <p:spPr>
          <a:xfrm>
            <a:off x="812800" y="1882687"/>
            <a:ext cx="10566400" cy="0"/>
          </a:xfrm>
          <a:prstGeom prst="line">
            <a:avLst/>
          </a:prstGeom>
          <a:noFill/>
          <a:ln w="6350">
            <a:solidFill>
              <a:srgbClr val="DDD8CC"/>
            </a:solidFill>
            <a:prstDash val="solid"/>
          </a:ln>
        </p:spPr>
      </p:sp>
      <p:sp>
        <p:nvSpPr>
          <p:cNvPr id="5" name="Text 3"/>
          <p:cNvSpPr/>
          <p:nvPr/>
        </p:nvSpPr>
        <p:spPr>
          <a:xfrm>
            <a:off x="812800" y="2029089"/>
            <a:ext cx="45720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64E10"/>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422400" y="2012156"/>
            <a:ext cx="788151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3A"/>
                </a:solidFill>
                <a:latin typeface="IBM Plex Sans" pitchFamily="34" charset="0"/>
                <a:ea typeface="IBM Plex Sans" pitchFamily="34" charset="-122"/>
                <a:cs typeface="IBM Plex Sans" pitchFamily="34" charset="-120"/>
              </a:rPr>
              <a:t>Build a quadrotor with enough spare thrust to fly with one motor at 50% RPM</a:t>
            </a:r>
            <a:endParaRPr lang="en-US" sz="1500" dirty="0"/>
          </a:p>
        </p:txBody>
      </p:sp>
      <p:sp>
        <p:nvSpPr>
          <p:cNvPr id="7" name="Shape 5"/>
          <p:cNvSpPr/>
          <p:nvPr/>
        </p:nvSpPr>
        <p:spPr>
          <a:xfrm>
            <a:off x="812800" y="2409031"/>
            <a:ext cx="10566400" cy="0"/>
          </a:xfrm>
          <a:prstGeom prst="line">
            <a:avLst/>
          </a:prstGeom>
          <a:noFill/>
          <a:ln w="6350">
            <a:solidFill>
              <a:srgbClr val="DDD8CC"/>
            </a:solidFill>
            <a:prstDash val="solid"/>
          </a:ln>
        </p:spPr>
      </p:sp>
      <p:sp>
        <p:nvSpPr>
          <p:cNvPr id="8" name="Text 6"/>
          <p:cNvSpPr/>
          <p:nvPr/>
        </p:nvSpPr>
        <p:spPr>
          <a:xfrm>
            <a:off x="812800" y="2555434"/>
            <a:ext cx="45720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64E10"/>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1422400" y="2538501"/>
            <a:ext cx="811741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3A"/>
                </a:solidFill>
                <a:latin typeface="IBM Plex Sans" pitchFamily="34" charset="0"/>
                <a:ea typeface="IBM Plex Sans" pitchFamily="34" charset="-122"/>
                <a:cs typeface="IBM Plex Sans" pitchFamily="34" charset="-120"/>
              </a:rPr>
              <a:t>Fly an autonomous waypoint mission with all four motors healthy (our baseline)</a:t>
            </a:r>
            <a:endParaRPr lang="en-US" sz="1500" dirty="0"/>
          </a:p>
        </p:txBody>
      </p:sp>
      <p:sp>
        <p:nvSpPr>
          <p:cNvPr id="10" name="Shape 8"/>
          <p:cNvSpPr/>
          <p:nvPr/>
        </p:nvSpPr>
        <p:spPr>
          <a:xfrm>
            <a:off x="812800" y="2935376"/>
            <a:ext cx="10566400" cy="0"/>
          </a:xfrm>
          <a:prstGeom prst="line">
            <a:avLst/>
          </a:prstGeom>
          <a:noFill/>
          <a:ln w="6350">
            <a:solidFill>
              <a:srgbClr val="DDD8CC"/>
            </a:solidFill>
            <a:prstDash val="solid"/>
          </a:ln>
        </p:spPr>
      </p:sp>
      <p:sp>
        <p:nvSpPr>
          <p:cNvPr id="11" name="Text 9"/>
          <p:cNvSpPr/>
          <p:nvPr/>
        </p:nvSpPr>
        <p:spPr>
          <a:xfrm>
            <a:off x="812800" y="3081779"/>
            <a:ext cx="45720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64E10"/>
                </a:solidFill>
                <a:latin typeface="JetBrains Mono" pitchFamily="49" charset="0"/>
                <a:ea typeface="JetBrains Mono" pitchFamily="49" charset="-122"/>
                <a:cs typeface="JetBrains Mono" pitchFamily="49" charset="-120"/>
              </a:rPr>
              <a:t>03</a:t>
            </a:r>
            <a:endParaRPr lang="en-US" sz="1400" dirty="0"/>
          </a:p>
        </p:txBody>
      </p:sp>
      <p:sp>
        <p:nvSpPr>
          <p:cNvPr id="12" name="Text 10"/>
          <p:cNvSpPr/>
          <p:nvPr/>
        </p:nvSpPr>
        <p:spPr>
          <a:xfrm>
            <a:off x="1422400" y="3064845"/>
            <a:ext cx="684022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3A"/>
                </a:solidFill>
                <a:latin typeface="IBM Plex Sans" pitchFamily="34" charset="0"/>
                <a:ea typeface="IBM Plex Sans" pitchFamily="34" charset="-122"/>
                <a:cs typeface="IBM Plex Sans" pitchFamily="34" charset="-120"/>
              </a:rPr>
              <a:t>When told “motor k is at 50%”, adapt the controller and stay stable</a:t>
            </a:r>
            <a:endParaRPr lang="en-US" sz="1500" dirty="0"/>
          </a:p>
        </p:txBody>
      </p:sp>
      <p:sp>
        <p:nvSpPr>
          <p:cNvPr id="13" name="Shape 11"/>
          <p:cNvSpPr/>
          <p:nvPr/>
        </p:nvSpPr>
        <p:spPr>
          <a:xfrm>
            <a:off x="812800" y="3461720"/>
            <a:ext cx="10566400" cy="0"/>
          </a:xfrm>
          <a:prstGeom prst="line">
            <a:avLst/>
          </a:prstGeom>
          <a:noFill/>
          <a:ln w="6350">
            <a:solidFill>
              <a:srgbClr val="DDD8CC"/>
            </a:solidFill>
            <a:prstDash val="solid"/>
          </a:ln>
        </p:spPr>
      </p:sp>
      <p:sp>
        <p:nvSpPr>
          <p:cNvPr id="14" name="Text 12"/>
          <p:cNvSpPr/>
          <p:nvPr/>
        </p:nvSpPr>
        <p:spPr>
          <a:xfrm>
            <a:off x="812800" y="3608123"/>
            <a:ext cx="45720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64E10"/>
                </a:solidFill>
                <a:latin typeface="JetBrains Mono" pitchFamily="49" charset="0"/>
                <a:ea typeface="JetBrains Mono" pitchFamily="49" charset="-122"/>
                <a:cs typeface="JetBrains Mono" pitchFamily="49" charset="-120"/>
              </a:rPr>
              <a:t>04</a:t>
            </a:r>
            <a:endParaRPr lang="en-US" sz="1400" dirty="0"/>
          </a:p>
        </p:txBody>
      </p:sp>
      <p:sp>
        <p:nvSpPr>
          <p:cNvPr id="15" name="Text 13"/>
          <p:cNvSpPr/>
          <p:nvPr/>
        </p:nvSpPr>
        <p:spPr>
          <a:xfrm>
            <a:off x="1422400" y="3591189"/>
            <a:ext cx="588147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3A"/>
                </a:solidFill>
                <a:latin typeface="IBM Plex Sans" pitchFamily="34" charset="0"/>
                <a:ea typeface="IBM Plex Sans" pitchFamily="34" charset="-122"/>
                <a:cs typeface="IBM Plex Sans" pitchFamily="34" charset="-120"/>
              </a:rPr>
              <a:t>After the fault, finish the mission or return and land safely</a:t>
            </a:r>
            <a:endParaRPr lang="en-US" sz="1500" dirty="0"/>
          </a:p>
        </p:txBody>
      </p:sp>
      <p:sp>
        <p:nvSpPr>
          <p:cNvPr id="16" name="Shape 14"/>
          <p:cNvSpPr/>
          <p:nvPr/>
        </p:nvSpPr>
        <p:spPr>
          <a:xfrm>
            <a:off x="812800" y="3988064"/>
            <a:ext cx="10566400" cy="0"/>
          </a:xfrm>
          <a:prstGeom prst="line">
            <a:avLst/>
          </a:prstGeom>
          <a:noFill/>
          <a:ln w="6350">
            <a:solidFill>
              <a:srgbClr val="DDD8CC"/>
            </a:solidFill>
            <a:prstDash val="solid"/>
          </a:ln>
        </p:spPr>
      </p:sp>
      <p:sp>
        <p:nvSpPr>
          <p:cNvPr id="17" name="Shape 15"/>
          <p:cNvSpPr/>
          <p:nvPr/>
        </p:nvSpPr>
        <p:spPr>
          <a:xfrm>
            <a:off x="812800" y="4513703"/>
            <a:ext cx="10566400" cy="0"/>
          </a:xfrm>
          <a:prstGeom prst="line">
            <a:avLst/>
          </a:prstGeom>
          <a:noFill/>
          <a:ln w="6350">
            <a:solidFill>
              <a:srgbClr val="DDD8CC"/>
            </a:solidFill>
            <a:prstDash val="solid"/>
          </a:ln>
        </p:spPr>
      </p:sp>
      <p:sp>
        <p:nvSpPr>
          <p:cNvPr id="18" name="Text 16"/>
          <p:cNvSpPr/>
          <p:nvPr/>
        </p:nvSpPr>
        <p:spPr>
          <a:xfrm>
            <a:off x="812800" y="4134468"/>
            <a:ext cx="45720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64E10"/>
                </a:solidFill>
                <a:latin typeface="JetBrains Mono" pitchFamily="49" charset="0"/>
                <a:ea typeface="JetBrains Mono" pitchFamily="49" charset="-122"/>
                <a:cs typeface="JetBrains Mono" pitchFamily="49" charset="-120"/>
              </a:rPr>
              <a:t>05</a:t>
            </a:r>
            <a:endParaRPr lang="en-US" sz="1400" dirty="0"/>
          </a:p>
        </p:txBody>
      </p:sp>
      <p:sp>
        <p:nvSpPr>
          <p:cNvPr id="19" name="Text 17"/>
          <p:cNvSpPr/>
          <p:nvPr/>
        </p:nvSpPr>
        <p:spPr>
          <a:xfrm>
            <a:off x="1422400" y="4117534"/>
            <a:ext cx="53490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3A"/>
                </a:solidFill>
                <a:latin typeface="IBM Plex Sans" pitchFamily="34" charset="0"/>
                <a:ea typeface="IBM Plex Sans" pitchFamily="34" charset="-122"/>
                <a:cs typeface="IBM Plex Sans" pitchFamily="34" charset="-120"/>
              </a:rPr>
              <a:t>Back every result with flight logs and measured data</a:t>
            </a:r>
            <a:endParaRPr lang="en-US" sz="1500" dirty="0"/>
          </a:p>
        </p:txBody>
      </p:sp>
      <p:sp>
        <p:nvSpPr>
          <p:cNvPr id="20" name="Text 18"/>
          <p:cNvSpPr/>
          <p:nvPr/>
        </p:nvSpPr>
        <p:spPr>
          <a:xfrm>
            <a:off x="812800" y="4821679"/>
            <a:ext cx="10566400" cy="485069"/>
          </a:xfrm>
          <a:prstGeom prst="roundRect">
            <a:avLst>
              <a:gd name="adj" fmla="val 15709"/>
            </a:avLst>
          </a:prstGeom>
          <a:solidFill>
            <a:srgbClr val="E9E6DE"/>
          </a:solidFill>
          <a:ln/>
        </p:spPr>
        <p:txBody>
          <a:bodyPr wrap="square" lIns="155482" tIns="104682" rIns="0" bIns="79282"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Out of scope, as the brief says: detecting the fault. We’re told which motor is weak and when.</a:t>
            </a:r>
            <a:endParaRPr lang="en-US" sz="1300" dirty="0"/>
          </a:p>
        </p:txBody>
      </p:sp>
      <p:sp>
        <p:nvSpPr>
          <p:cNvPr id="21" name="Text 19"/>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Project 6 · Fault-Tolerant Quadrotor Control</a:t>
            </a:r>
            <a:endParaRPr lang="en-US" sz="1200" dirty="0"/>
          </a:p>
        </p:txBody>
      </p:sp>
      <p:sp>
        <p:nvSpPr>
          <p:cNvPr id="22" name="Text 20"/>
          <p:cNvSpPr/>
          <p:nvPr/>
        </p:nvSpPr>
        <p:spPr>
          <a:xfrm>
            <a:off x="8763000" y="6238258"/>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6D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1 · OBJECTIVES · WHY IT’S HARD</a:t>
            </a:r>
            <a:endParaRPr lang="en-US" sz="1200" dirty="0"/>
          </a:p>
        </p:txBody>
      </p:sp>
      <p:sp>
        <p:nvSpPr>
          <p:cNvPr id="3" name="Text 1"/>
          <p:cNvSpPr/>
          <p:nvPr>
            <p:ph type="title"/>
          </p:nvPr>
        </p:nvSpPr>
        <p:spPr>
          <a:xfrm>
            <a:off x="812800" y="1127742"/>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Half the speed leaves a quarter of the thrust</a:t>
            </a:r>
            <a:endParaRPr lang="en-US" sz="3200" dirty="0"/>
          </a:p>
        </p:txBody>
      </p:sp>
      <p:sp>
        <p:nvSpPr>
          <p:cNvPr id="4" name="Text 2"/>
          <p:cNvSpPr/>
          <p:nvPr/>
        </p:nvSpPr>
        <p:spPr>
          <a:xfrm>
            <a:off x="812800" y="2164998"/>
            <a:ext cx="3924300" cy="1422400"/>
          </a:xfrm>
          <a:prstGeom prst="rect">
            <a:avLst/>
          </a:prstGeom>
          <a:noFill/>
          <a:ln/>
        </p:spPr>
        <p:txBody>
          <a:bodyPr wrap="square" lIns="0" tIns="0" rIns="0" bIns="0" rtlCol="0" anchor="t">
            <a:normAutofit/>
          </a:bodyPr>
          <a:lstStyle/>
          <a:p>
            <a:pPr algn="l" indent="0" marL="0">
              <a:lnSpc>
                <a:spcPts val="11000"/>
              </a:lnSpc>
              <a:buNone/>
            </a:pPr>
            <a:r>
              <a:rPr lang="en-US" sz="11000" b="1" dirty="0">
                <a:solidFill>
                  <a:srgbClr val="A64E10"/>
                </a:solidFill>
                <a:latin typeface="Space Grotesk" pitchFamily="34" charset="0"/>
                <a:ea typeface="Space Grotesk" pitchFamily="34" charset="-122"/>
                <a:cs typeface="Space Grotesk" pitchFamily="34" charset="-120"/>
              </a:rPr>
              <a:t>25%</a:t>
            </a:r>
            <a:endParaRPr lang="en-US" sz="11000" dirty="0"/>
          </a:p>
        </p:txBody>
      </p:sp>
      <p:sp>
        <p:nvSpPr>
          <p:cNvPr id="5" name="Text 3"/>
          <p:cNvSpPr/>
          <p:nvPr/>
        </p:nvSpPr>
        <p:spPr>
          <a:xfrm>
            <a:off x="812800" y="3714398"/>
            <a:ext cx="39243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03A"/>
                </a:solidFill>
                <a:latin typeface="IBM Plex Sans" pitchFamily="34" charset="0"/>
                <a:ea typeface="IBM Plex Sans" pitchFamily="34" charset="-122"/>
                <a:cs typeface="IBM Plex Sans" pitchFamily="34" charset="-120"/>
              </a:rPr>
              <a:t>of its normal maximum thrust is all the weak motor has left</a:t>
            </a:r>
            <a:endParaRPr lang="en-US" sz="1500" dirty="0"/>
          </a:p>
        </p:txBody>
      </p:sp>
      <p:sp>
        <p:nvSpPr>
          <p:cNvPr id="6" name="Text 4"/>
          <p:cNvSpPr/>
          <p:nvPr/>
        </p:nvSpPr>
        <p:spPr>
          <a:xfrm>
            <a:off x="812800" y="4400198"/>
            <a:ext cx="3810000" cy="452085"/>
          </a:xfrm>
          <a:prstGeom prst="roundRect">
            <a:avLst>
              <a:gd name="adj" fmla="val 16855"/>
            </a:avLst>
          </a:prstGeom>
          <a:solidFill>
            <a:srgbClr val="F5F3EE"/>
          </a:solidFill>
          <a:ln/>
        </p:spPr>
        <p:txBody>
          <a:bodyPr wrap="square" lIns="130082" tIns="79282" rIns="24926" bIns="53882" rtlCol="0" anchor="t">
            <a:normAutofit/>
          </a:bodyPr>
          <a:lstStyle/>
          <a:p>
            <a:pPr algn="l" indent="0" marL="0">
              <a:lnSpc>
                <a:spcPts val="1960"/>
              </a:lnSpc>
              <a:buNone/>
            </a:pPr>
            <a:r>
              <a:rPr lang="en-US" sz="1400" dirty="0">
                <a:solidFill>
                  <a:srgbClr val="13203A"/>
                </a:solidFill>
                <a:latin typeface="JetBrains Mono" pitchFamily="49" charset="0"/>
                <a:ea typeface="JetBrains Mono" pitchFamily="49" charset="-122"/>
                <a:cs typeface="JetBrains Mono" pitchFamily="49" charset="-120"/>
              </a:rPr>
              <a:t>thrust ∝ RPM² → 0.5² = 0.25</a:t>
            </a:r>
            <a:endParaRPr lang="en-US" sz="1400" dirty="0"/>
          </a:p>
        </p:txBody>
      </p:sp>
      <p:sp>
        <p:nvSpPr>
          <p:cNvPr id="7" name="Shape 5"/>
          <p:cNvSpPr/>
          <p:nvPr/>
        </p:nvSpPr>
        <p:spPr>
          <a:xfrm>
            <a:off x="5029200" y="1930312"/>
            <a:ext cx="6350000" cy="1061508"/>
          </a:xfrm>
          <a:prstGeom prst="roundRect">
            <a:avLst>
              <a:gd name="adj" fmla="val 9571"/>
            </a:avLst>
          </a:prstGeom>
          <a:solidFill>
            <a:srgbClr val="F5F3EE"/>
          </a:solidFill>
          <a:ln/>
        </p:spPr>
      </p:sp>
      <p:sp>
        <p:nvSpPr>
          <p:cNvPr id="8" name="Text 6"/>
          <p:cNvSpPr/>
          <p:nvPr/>
        </p:nvSpPr>
        <p:spPr>
          <a:xfrm>
            <a:off x="5232400" y="2082712"/>
            <a:ext cx="6121908"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3A"/>
                </a:solidFill>
                <a:latin typeface="Space Grotesk" pitchFamily="34" charset="0"/>
                <a:ea typeface="Space Grotesk" pitchFamily="34" charset="-122"/>
                <a:cs typeface="Space Grotesk" pitchFamily="34" charset="-120"/>
              </a:rPr>
              <a:t>No spare motor</a:t>
            </a:r>
            <a:endParaRPr lang="en-US" sz="1600" dirty="0"/>
          </a:p>
        </p:txBody>
      </p:sp>
      <p:sp>
        <p:nvSpPr>
          <p:cNvPr id="9" name="Text 7"/>
          <p:cNvSpPr/>
          <p:nvPr/>
        </p:nvSpPr>
        <p:spPr>
          <a:xfrm>
            <a:off x="5232400" y="2377281"/>
            <a:ext cx="612190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Four motors handle lift, roll, pitch and yaw. Weaken one and all four jobs are affected.</a:t>
            </a:r>
            <a:endParaRPr lang="en-US" sz="1300" dirty="0"/>
          </a:p>
        </p:txBody>
      </p:sp>
      <p:sp>
        <p:nvSpPr>
          <p:cNvPr id="10" name="Shape 8"/>
          <p:cNvSpPr/>
          <p:nvPr/>
        </p:nvSpPr>
        <p:spPr>
          <a:xfrm>
            <a:off x="5029200" y="3093420"/>
            <a:ext cx="6350000" cy="830439"/>
          </a:xfrm>
          <a:prstGeom prst="roundRect">
            <a:avLst>
              <a:gd name="adj" fmla="val 12234"/>
            </a:avLst>
          </a:prstGeom>
          <a:solidFill>
            <a:srgbClr val="F5F3EE"/>
          </a:solidFill>
          <a:ln/>
        </p:spPr>
      </p:sp>
      <p:sp>
        <p:nvSpPr>
          <p:cNvPr id="11" name="Text 9"/>
          <p:cNvSpPr/>
          <p:nvPr/>
        </p:nvSpPr>
        <p:spPr>
          <a:xfrm>
            <a:off x="5232400" y="3245820"/>
            <a:ext cx="6121908"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3A"/>
                </a:solidFill>
                <a:latin typeface="Space Grotesk" pitchFamily="34" charset="0"/>
                <a:ea typeface="Space Grotesk" pitchFamily="34" charset="-122"/>
                <a:cs typeface="Space Grotesk" pitchFamily="34" charset="-120"/>
              </a:rPr>
              <a:t>It tips toward the weak corner</a:t>
            </a:r>
            <a:endParaRPr lang="en-US" sz="1600" dirty="0"/>
          </a:p>
        </p:txBody>
      </p:sp>
      <p:sp>
        <p:nvSpPr>
          <p:cNvPr id="12" name="Text 10"/>
          <p:cNvSpPr/>
          <p:nvPr/>
        </p:nvSpPr>
        <p:spPr>
          <a:xfrm>
            <a:off x="5232400" y="3540390"/>
            <a:ext cx="6121908"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That corner loses lift, so the drone rolls and pitches toward it.</a:t>
            </a:r>
            <a:endParaRPr lang="en-US" sz="1300" dirty="0"/>
          </a:p>
        </p:txBody>
      </p:sp>
      <p:sp>
        <p:nvSpPr>
          <p:cNvPr id="13" name="Shape 11"/>
          <p:cNvSpPr/>
          <p:nvPr/>
        </p:nvSpPr>
        <p:spPr>
          <a:xfrm>
            <a:off x="5029200" y="4025460"/>
            <a:ext cx="6350000" cy="1061508"/>
          </a:xfrm>
          <a:prstGeom prst="roundRect">
            <a:avLst>
              <a:gd name="adj" fmla="val 9571"/>
            </a:avLst>
          </a:prstGeom>
          <a:solidFill>
            <a:srgbClr val="F5F3EE"/>
          </a:solidFill>
          <a:ln/>
        </p:spPr>
      </p:sp>
      <p:sp>
        <p:nvSpPr>
          <p:cNvPr id="14" name="Text 12"/>
          <p:cNvSpPr/>
          <p:nvPr/>
        </p:nvSpPr>
        <p:spPr>
          <a:xfrm>
            <a:off x="5232400" y="4177860"/>
            <a:ext cx="6121908"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3A"/>
                </a:solidFill>
                <a:latin typeface="Space Grotesk" pitchFamily="34" charset="0"/>
                <a:ea typeface="Space Grotesk" pitchFamily="34" charset="-122"/>
                <a:cs typeface="Space Grotesk" pitchFamily="34" charset="-120"/>
              </a:rPr>
              <a:t>It starts to turn</a:t>
            </a:r>
            <a:endParaRPr lang="en-US" sz="1600" dirty="0"/>
          </a:p>
        </p:txBody>
      </p:sp>
      <p:sp>
        <p:nvSpPr>
          <p:cNvPr id="15" name="Text 13"/>
          <p:cNvSpPr/>
          <p:nvPr/>
        </p:nvSpPr>
        <p:spPr>
          <a:xfrm>
            <a:off x="5232400" y="4472429"/>
            <a:ext cx="612190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The clockwise and anticlockwise torques stop cancelling out, so the heading drifts.</a:t>
            </a:r>
            <a:endParaRPr lang="en-US" sz="1300" dirty="0"/>
          </a:p>
        </p:txBody>
      </p:sp>
      <p:sp>
        <p:nvSpPr>
          <p:cNvPr id="16" name="Text 14"/>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Project 6 · Fault-Tolerant Quadrotor Control</a:t>
            </a:r>
            <a:endParaRPr lang="en-US" sz="1200" dirty="0"/>
          </a:p>
        </p:txBody>
      </p:sp>
      <p:sp>
        <p:nvSpPr>
          <p:cNvPr id="17" name="Text 15"/>
          <p:cNvSpPr/>
          <p:nvPr/>
        </p:nvSpPr>
        <p:spPr>
          <a:xfrm>
            <a:off x="8763000" y="6238258"/>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2 · SOLUTION FRAMEWORK · KEY IDEA</a:t>
            </a:r>
            <a:endParaRPr lang="en-US" sz="1200" dirty="0"/>
          </a:p>
        </p:txBody>
      </p:sp>
      <p:sp>
        <p:nvSpPr>
          <p:cNvPr id="3" name="Text 1"/>
          <p:cNvSpPr/>
          <p:nvPr>
            <p:ph type="title"/>
          </p:nvPr>
        </p:nvSpPr>
        <p:spPr>
          <a:xfrm>
            <a:off x="812800" y="1127742"/>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Start with enough thrust margin</a:t>
            </a:r>
            <a:endParaRPr lang="en-US" sz="3200" dirty="0"/>
          </a:p>
        </p:txBody>
      </p:sp>
      <p:sp>
        <p:nvSpPr>
          <p:cNvPr id="4" name="Shape 2"/>
          <p:cNvSpPr/>
          <p:nvPr/>
        </p:nvSpPr>
        <p:spPr>
          <a:xfrm>
            <a:off x="815975" y="2054667"/>
            <a:ext cx="3105591" cy="1221493"/>
          </a:xfrm>
          <a:prstGeom prst="roundRect">
            <a:avLst>
              <a:gd name="adj" fmla="val 8058"/>
            </a:avLst>
          </a:prstGeom>
          <a:solidFill>
            <a:srgbClr val="FBFAF7"/>
          </a:solidFill>
          <a:ln w="6350">
            <a:solidFill>
              <a:srgbClr val="DDD8CC"/>
            </a:solidFill>
            <a:prstDash val="solid"/>
          </a:ln>
        </p:spPr>
      </p:sp>
      <p:sp>
        <p:nvSpPr>
          <p:cNvPr id="5" name="Text 3"/>
          <p:cNvSpPr/>
          <p:nvPr/>
        </p:nvSpPr>
        <p:spPr>
          <a:xfrm>
            <a:off x="1021644" y="2260335"/>
            <a:ext cx="2775080" cy="528285"/>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3203A"/>
                </a:solidFill>
                <a:latin typeface="Space Grotesk" pitchFamily="34" charset="0"/>
                <a:ea typeface="Space Grotesk" pitchFamily="34" charset="-122"/>
                <a:cs typeface="Space Grotesk" pitchFamily="34" charset="-120"/>
              </a:rPr>
              <a:t>≈650 g</a:t>
            </a:r>
            <a:endParaRPr lang="en-US" sz="3600" dirty="0"/>
          </a:p>
        </p:txBody>
      </p:sp>
      <p:sp>
        <p:nvSpPr>
          <p:cNvPr id="6" name="Text 4"/>
          <p:cNvSpPr/>
          <p:nvPr/>
        </p:nvSpPr>
        <p:spPr>
          <a:xfrm>
            <a:off x="1021644" y="2839420"/>
            <a:ext cx="2775080"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Estimated total weight of the drone</a:t>
            </a:r>
            <a:endParaRPr lang="en-US" sz="1300" dirty="0"/>
          </a:p>
        </p:txBody>
      </p:sp>
      <p:pic>
        <p:nvPicPr>
          <p:cNvPr id="7" name="Image 0" descr="arrow-right">    </p:cNvPr>
          <p:cNvPicPr>
            <a:picLocks noChangeAspect="1"/>
          </p:cNvPicPr>
          <p:nvPr/>
        </p:nvPicPr>
        <p:blipFill>
          <a:blip r:embed="rId1"/>
          <a:srcRect l="0" r="0" t="0" b="0"/>
          <a:stretch/>
        </p:blipFill>
        <p:spPr>
          <a:xfrm>
            <a:off x="4077141" y="2589213"/>
            <a:ext cx="304800" cy="152400"/>
          </a:xfrm>
          <a:prstGeom prst="rect">
            <a:avLst/>
          </a:prstGeom>
        </p:spPr>
      </p:pic>
      <p:sp>
        <p:nvSpPr>
          <p:cNvPr id="8" name="Shape 5"/>
          <p:cNvSpPr/>
          <p:nvPr/>
        </p:nvSpPr>
        <p:spPr>
          <a:xfrm>
            <a:off x="4537516" y="2054667"/>
            <a:ext cx="3105679" cy="1221493"/>
          </a:xfrm>
          <a:prstGeom prst="roundRect">
            <a:avLst>
              <a:gd name="adj" fmla="val 8058"/>
            </a:avLst>
          </a:prstGeom>
          <a:solidFill>
            <a:srgbClr val="FBFAF7"/>
          </a:solidFill>
          <a:ln w="6350">
            <a:solidFill>
              <a:srgbClr val="DDD8CC"/>
            </a:solidFill>
            <a:prstDash val="solid"/>
          </a:ln>
        </p:spPr>
      </p:sp>
      <p:sp>
        <p:nvSpPr>
          <p:cNvPr id="9" name="Text 6"/>
          <p:cNvSpPr/>
          <p:nvPr/>
        </p:nvSpPr>
        <p:spPr>
          <a:xfrm>
            <a:off x="4743185" y="2260335"/>
            <a:ext cx="2775171" cy="528285"/>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3203A"/>
                </a:solidFill>
                <a:latin typeface="Space Grotesk" pitchFamily="34" charset="0"/>
                <a:ea typeface="Space Grotesk" pitchFamily="34" charset="-122"/>
                <a:cs typeface="Space Grotesk" pitchFamily="34" charset="-120"/>
              </a:rPr>
              <a:t>≈163 g</a:t>
            </a:r>
            <a:endParaRPr lang="en-US" sz="3600" dirty="0"/>
          </a:p>
        </p:txBody>
      </p:sp>
      <p:sp>
        <p:nvSpPr>
          <p:cNvPr id="10" name="Text 7"/>
          <p:cNvSpPr/>
          <p:nvPr/>
        </p:nvSpPr>
        <p:spPr>
          <a:xfrm>
            <a:off x="4743185" y="2839420"/>
            <a:ext cx="2775171"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Thrust each motor needs to hover</a:t>
            </a:r>
            <a:endParaRPr lang="en-US" sz="1300" dirty="0"/>
          </a:p>
        </p:txBody>
      </p:sp>
      <p:pic>
        <p:nvPicPr>
          <p:cNvPr id="11" name="Image 1" descr="arrow-right">    </p:cNvPr>
          <p:cNvPicPr>
            <a:picLocks noChangeAspect="1"/>
          </p:cNvPicPr>
          <p:nvPr/>
        </p:nvPicPr>
        <p:blipFill>
          <a:blip r:embed="rId2"/>
          <a:srcRect l="0" r="0" t="0" b="0"/>
          <a:stretch/>
        </p:blipFill>
        <p:spPr>
          <a:xfrm>
            <a:off x="7798770" y="2589213"/>
            <a:ext cx="304800" cy="152400"/>
          </a:xfrm>
          <a:prstGeom prst="rect">
            <a:avLst/>
          </a:prstGeom>
        </p:spPr>
      </p:pic>
      <p:sp>
        <p:nvSpPr>
          <p:cNvPr id="12" name="Shape 8"/>
          <p:cNvSpPr/>
          <p:nvPr/>
        </p:nvSpPr>
        <p:spPr>
          <a:xfrm>
            <a:off x="8262320" y="1936662"/>
            <a:ext cx="3110530" cy="1457501"/>
          </a:xfrm>
          <a:prstGeom prst="roundRect">
            <a:avLst>
              <a:gd name="adj" fmla="val 6535"/>
            </a:avLst>
          </a:prstGeom>
          <a:solidFill>
            <a:srgbClr val="FCEBDD"/>
          </a:solidFill>
          <a:ln w="12700">
            <a:solidFill>
              <a:srgbClr val="E07A2E"/>
            </a:solidFill>
            <a:prstDash val="solid"/>
          </a:ln>
        </p:spPr>
      </p:sp>
      <p:sp>
        <p:nvSpPr>
          <p:cNvPr id="13" name="Text 9"/>
          <p:cNvSpPr/>
          <p:nvPr/>
        </p:nvSpPr>
        <p:spPr>
          <a:xfrm>
            <a:off x="8470459" y="2144801"/>
            <a:ext cx="2775080" cy="528285"/>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64E10"/>
                </a:solidFill>
                <a:latin typeface="Space Grotesk" pitchFamily="34" charset="0"/>
                <a:ea typeface="Space Grotesk" pitchFamily="34" charset="-122"/>
                <a:cs typeface="Space Grotesk" pitchFamily="34" charset="-120"/>
              </a:rPr>
              <a:t>≈300 g</a:t>
            </a:r>
            <a:endParaRPr lang="en-US" sz="3600" dirty="0"/>
          </a:p>
        </p:txBody>
      </p:sp>
      <p:sp>
        <p:nvSpPr>
          <p:cNvPr id="14" name="Text 10"/>
          <p:cNvSpPr/>
          <p:nvPr/>
        </p:nvSpPr>
        <p:spPr>
          <a:xfrm>
            <a:off x="8470459" y="2723885"/>
            <a:ext cx="2775080"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What the weak motor still gives (25% of ≈1.2 kg)</a:t>
            </a:r>
            <a:endParaRPr lang="en-US" sz="1300" dirty="0"/>
          </a:p>
        </p:txBody>
      </p:sp>
      <p:sp>
        <p:nvSpPr>
          <p:cNvPr id="15" name="Text 11"/>
          <p:cNvSpPr/>
          <p:nvPr/>
        </p:nvSpPr>
        <p:spPr>
          <a:xfrm>
            <a:off x="812800" y="375611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03A"/>
                </a:solidFill>
                <a:latin typeface="IBM Plex Sans" pitchFamily="34" charset="0"/>
                <a:ea typeface="IBM Plex Sans" pitchFamily="34" charset="-122"/>
                <a:cs typeface="IBM Plex Sans" pitchFamily="34" charset="-120"/>
              </a:rPr>
              <a:t>Thrust-to-weight ≈ 7:1. The break-even point is 4:1, and we’re aiming for at least 5:1.</a:t>
            </a:r>
            <a:endParaRPr lang="en-US" sz="1600" dirty="0"/>
          </a:p>
        </p:txBody>
      </p:sp>
      <p:sp>
        <p:nvSpPr>
          <p:cNvPr id="16" name="Text 12"/>
          <p:cNvSpPr/>
          <p:nvPr/>
        </p:nvSpPr>
        <p:spPr>
          <a:xfrm>
            <a:off x="812800" y="4142141"/>
            <a:ext cx="10883392"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3A"/>
                </a:solidFill>
                <a:latin typeface="IBM Plex Sans" pitchFamily="34" charset="0"/>
                <a:ea typeface="IBM Plex Sans" pitchFamily="34" charset="-122"/>
                <a:cs typeface="IBM Plex Sans" pitchFamily="34" charset="-120"/>
              </a:rPr>
              <a:t>So the weak motor can still hold up its corner, and our job is to re-plan the motor commands around it.</a:t>
            </a:r>
            <a:endParaRPr lang="en-US" sz="1600" dirty="0"/>
          </a:p>
        </p:txBody>
      </p:sp>
      <p:sp>
        <p:nvSpPr>
          <p:cNvPr id="17" name="Text 13"/>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Estimates · we’ll measure the real numbers once parts arrive</a:t>
            </a:r>
            <a:endParaRPr lang="en-US" sz="1200" dirty="0"/>
          </a:p>
        </p:txBody>
      </p:sp>
      <p:sp>
        <p:nvSpPr>
          <p:cNvPr id="18" name="Text 14"/>
          <p:cNvSpPr/>
          <p:nvPr/>
        </p:nvSpPr>
        <p:spPr>
          <a:xfrm>
            <a:off x="8763000" y="6238258"/>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2 · SOLUTION FRAMEWORK · ARCHITECTURE</a:t>
            </a:r>
            <a:endParaRPr lang="en-US" sz="1200" dirty="0"/>
          </a:p>
        </p:txBody>
      </p:sp>
      <p:sp>
        <p:nvSpPr>
          <p:cNvPr id="3" name="Text 1"/>
          <p:cNvSpPr/>
          <p:nvPr>
            <p:ph type="title"/>
          </p:nvPr>
        </p:nvSpPr>
        <p:spPr>
          <a:xfrm>
            <a:off x="812800" y="1127742"/>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Where our code fits in the flight stack</a:t>
            </a:r>
            <a:endParaRPr lang="en-US" sz="3200" dirty="0"/>
          </a:p>
        </p:txBody>
      </p:sp>
      <p:sp>
        <p:nvSpPr>
          <p:cNvPr id="4" name="Text 2"/>
          <p:cNvSpPr/>
          <p:nvPr/>
        </p:nvSpPr>
        <p:spPr>
          <a:xfrm>
            <a:off x="815975" y="1969557"/>
            <a:ext cx="1698272" cy="789693"/>
          </a:xfrm>
          <a:prstGeom prst="roundRect">
            <a:avLst>
              <a:gd name="adj" fmla="val 12464"/>
            </a:avLst>
          </a:prstGeom>
          <a:solidFill>
            <a:srgbClr val="FBFAF7"/>
          </a:solidFill>
          <a:ln w="6350">
            <a:solidFill>
              <a:srgbClr val="DDD8CC"/>
            </a:solidFill>
            <a:prstDash val="solid"/>
          </a:ln>
        </p:spPr>
        <p:txBody>
          <a:bodyPr wrap="square" lIns="126042" tIns="126042" rIns="75242" bIns="100642" rtlCol="0" anchor="t">
            <a:normAutofit/>
          </a:bodyPr>
          <a:lstStyle/>
          <a:p>
            <a:pPr algn="l" indent="0" marL="0">
              <a:lnSpc>
                <a:spcPts val="1890"/>
              </a:lnSpc>
              <a:buNone/>
            </a:pPr>
            <a:r>
              <a:rPr lang="en-US" sz="1400" b="1" dirty="0">
                <a:solidFill>
                  <a:srgbClr val="13203A"/>
                </a:solidFill>
                <a:latin typeface="IBM Plex Sans" pitchFamily="34" charset="0"/>
                <a:ea typeface="IBM Plex Sans" pitchFamily="34" charset="-122"/>
                <a:cs typeface="IBM Plex Sans" pitchFamily="34" charset="-120"/>
              </a:rPr>
              <a:t>Waypoint mission</a:t>
            </a:r>
            <a:endParaRPr lang="en-US" sz="1400" dirty="0"/>
          </a:p>
        </p:txBody>
      </p:sp>
      <p:pic>
        <p:nvPicPr>
          <p:cNvPr id="5" name="Image 0" descr="arrow-right">    </p:cNvPr>
          <p:cNvPicPr>
            <a:picLocks noChangeAspect="1"/>
          </p:cNvPicPr>
          <p:nvPr/>
        </p:nvPicPr>
        <p:blipFill>
          <a:blip r:embed="rId1"/>
          <a:srcRect l="0" r="0" t="0" b="0"/>
          <a:stretch/>
        </p:blipFill>
        <p:spPr>
          <a:xfrm>
            <a:off x="2619022" y="2288205"/>
            <a:ext cx="304800" cy="152400"/>
          </a:xfrm>
          <a:prstGeom prst="rect">
            <a:avLst/>
          </a:prstGeom>
        </p:spPr>
      </p:pic>
      <p:sp>
        <p:nvSpPr>
          <p:cNvPr id="6" name="Text 3"/>
          <p:cNvSpPr/>
          <p:nvPr/>
        </p:nvSpPr>
        <p:spPr>
          <a:xfrm>
            <a:off x="3028597" y="1969557"/>
            <a:ext cx="1698272" cy="789693"/>
          </a:xfrm>
          <a:prstGeom prst="roundRect">
            <a:avLst>
              <a:gd name="adj" fmla="val 12464"/>
            </a:avLst>
          </a:prstGeom>
          <a:solidFill>
            <a:srgbClr val="FBFAF7"/>
          </a:solidFill>
          <a:ln w="6350">
            <a:solidFill>
              <a:srgbClr val="DDD8CC"/>
            </a:solidFill>
            <a:prstDash val="solid"/>
          </a:ln>
        </p:spPr>
        <p:txBody>
          <a:bodyPr wrap="square" lIns="126042" tIns="126042" rIns="75242" bIns="100642" rtlCol="0" anchor="t">
            <a:normAutofit/>
          </a:bodyPr>
          <a:lstStyle/>
          <a:p>
            <a:pPr algn="l" indent="0" marL="0">
              <a:lnSpc>
                <a:spcPts val="1890"/>
              </a:lnSpc>
              <a:buNone/>
            </a:pPr>
            <a:r>
              <a:rPr lang="en-US" sz="1400" b="1" dirty="0">
                <a:solidFill>
                  <a:srgbClr val="13203A"/>
                </a:solidFill>
                <a:latin typeface="IBM Plex Sans" pitchFamily="34" charset="0"/>
                <a:ea typeface="IBM Plex Sans" pitchFamily="34" charset="-122"/>
                <a:cs typeface="IBM Plex Sans" pitchFamily="34" charset="-120"/>
              </a:rPr>
              <a:t>Position controller</a:t>
            </a:r>
            <a:endParaRPr lang="en-US" sz="1400" dirty="0"/>
          </a:p>
        </p:txBody>
      </p:sp>
      <p:pic>
        <p:nvPicPr>
          <p:cNvPr id="7" name="Image 1" descr="arrow-right">    </p:cNvPr>
          <p:cNvPicPr>
            <a:picLocks noChangeAspect="1"/>
          </p:cNvPicPr>
          <p:nvPr/>
        </p:nvPicPr>
        <p:blipFill>
          <a:blip r:embed="rId2"/>
          <a:srcRect l="0" r="0" t="0" b="0"/>
          <a:stretch/>
        </p:blipFill>
        <p:spPr>
          <a:xfrm>
            <a:off x="4831645" y="2288205"/>
            <a:ext cx="304800" cy="152400"/>
          </a:xfrm>
          <a:prstGeom prst="rect">
            <a:avLst/>
          </a:prstGeom>
        </p:spPr>
      </p:pic>
      <p:sp>
        <p:nvSpPr>
          <p:cNvPr id="8" name="Text 4"/>
          <p:cNvSpPr/>
          <p:nvPr/>
        </p:nvSpPr>
        <p:spPr>
          <a:xfrm>
            <a:off x="5241220" y="1969557"/>
            <a:ext cx="1698272" cy="789693"/>
          </a:xfrm>
          <a:prstGeom prst="roundRect">
            <a:avLst>
              <a:gd name="adj" fmla="val 12464"/>
            </a:avLst>
          </a:prstGeom>
          <a:solidFill>
            <a:srgbClr val="FBFAF7"/>
          </a:solidFill>
          <a:ln w="6350">
            <a:solidFill>
              <a:srgbClr val="DDD8CC"/>
            </a:solidFill>
            <a:prstDash val="solid"/>
          </a:ln>
        </p:spPr>
        <p:txBody>
          <a:bodyPr wrap="square" lIns="126042" tIns="126042" rIns="75242" bIns="100642" rtlCol="0" anchor="t">
            <a:normAutofit/>
          </a:bodyPr>
          <a:lstStyle/>
          <a:p>
            <a:pPr algn="l" indent="0" marL="0">
              <a:lnSpc>
                <a:spcPts val="1890"/>
              </a:lnSpc>
              <a:buNone/>
            </a:pPr>
            <a:r>
              <a:rPr lang="en-US" sz="1400" b="1" dirty="0">
                <a:solidFill>
                  <a:srgbClr val="13203A"/>
                </a:solidFill>
                <a:latin typeface="IBM Plex Sans" pitchFamily="34" charset="0"/>
                <a:ea typeface="IBM Plex Sans" pitchFamily="34" charset="-122"/>
                <a:cs typeface="IBM Plex Sans" pitchFamily="34" charset="-120"/>
              </a:rPr>
              <a:t>Attitude &amp; rate controller</a:t>
            </a:r>
            <a:endParaRPr lang="en-US" sz="1400" dirty="0"/>
          </a:p>
        </p:txBody>
      </p:sp>
      <p:pic>
        <p:nvPicPr>
          <p:cNvPr id="9" name="Image 2" descr="arrow-right">    </p:cNvPr>
          <p:cNvPicPr>
            <a:picLocks noChangeAspect="1"/>
          </p:cNvPicPr>
          <p:nvPr/>
        </p:nvPicPr>
        <p:blipFill>
          <a:blip r:embed="rId3"/>
          <a:srcRect l="0" r="0" t="0" b="0"/>
          <a:stretch/>
        </p:blipFill>
        <p:spPr>
          <a:xfrm>
            <a:off x="7044267" y="2288205"/>
            <a:ext cx="304800" cy="152400"/>
          </a:xfrm>
          <a:prstGeom prst="rect">
            <a:avLst/>
          </a:prstGeom>
        </p:spPr>
      </p:pic>
      <p:sp>
        <p:nvSpPr>
          <p:cNvPr id="10" name="Shape 5"/>
          <p:cNvSpPr/>
          <p:nvPr/>
        </p:nvSpPr>
        <p:spPr>
          <a:xfrm>
            <a:off x="7457017" y="1835063"/>
            <a:ext cx="1703211" cy="1058774"/>
          </a:xfrm>
          <a:prstGeom prst="roundRect">
            <a:avLst>
              <a:gd name="adj" fmla="val 8996"/>
            </a:avLst>
          </a:prstGeom>
          <a:solidFill>
            <a:srgbClr val="FCEBDD"/>
          </a:solidFill>
          <a:ln w="12700">
            <a:solidFill>
              <a:srgbClr val="E07A2E"/>
            </a:solidFill>
            <a:prstDash val="solid"/>
          </a:ln>
        </p:spPr>
      </p:sp>
      <p:sp>
        <p:nvSpPr>
          <p:cNvPr id="11" name="Text 6"/>
          <p:cNvSpPr/>
          <p:nvPr/>
        </p:nvSpPr>
        <p:spPr>
          <a:xfrm>
            <a:off x="7614355" y="1992402"/>
            <a:ext cx="1439333"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4E10"/>
                </a:solidFill>
                <a:latin typeface="JetBrains Mono" pitchFamily="49" charset="0"/>
                <a:ea typeface="JetBrains Mono" pitchFamily="49" charset="-122"/>
                <a:cs typeface="JetBrains Mono" pitchFamily="49" charset="-120"/>
              </a:rPr>
              <a:t>WE CHANGE</a:t>
            </a:r>
            <a:endParaRPr lang="en-US" sz="1200" dirty="0"/>
          </a:p>
        </p:txBody>
      </p:sp>
      <p:sp>
        <p:nvSpPr>
          <p:cNvPr id="12" name="Text 7"/>
          <p:cNvSpPr/>
          <p:nvPr/>
        </p:nvSpPr>
        <p:spPr>
          <a:xfrm>
            <a:off x="7614355" y="2256544"/>
            <a:ext cx="1439333" cy="505354"/>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03A"/>
                </a:solidFill>
                <a:latin typeface="IBM Plex Sans" pitchFamily="34" charset="0"/>
                <a:ea typeface="IBM Plex Sans" pitchFamily="34" charset="-122"/>
                <a:cs typeface="IBM Plex Sans" pitchFamily="34" charset="-120"/>
              </a:rPr>
              <a:t>Control allocation</a:t>
            </a:r>
            <a:endParaRPr lang="en-US" sz="1400" dirty="0"/>
          </a:p>
        </p:txBody>
      </p:sp>
      <p:pic>
        <p:nvPicPr>
          <p:cNvPr id="13" name="Image 3" descr="arrow-right">    </p:cNvPr>
          <p:cNvPicPr>
            <a:picLocks noChangeAspect="1"/>
          </p:cNvPicPr>
          <p:nvPr/>
        </p:nvPicPr>
        <p:blipFill>
          <a:blip r:embed="rId4"/>
          <a:srcRect l="0" r="0" t="0" b="0"/>
          <a:stretch/>
        </p:blipFill>
        <p:spPr>
          <a:xfrm>
            <a:off x="9268178" y="2288205"/>
            <a:ext cx="304800" cy="152400"/>
          </a:xfrm>
          <a:prstGeom prst="rect">
            <a:avLst/>
          </a:prstGeom>
        </p:spPr>
      </p:pic>
      <p:sp>
        <p:nvSpPr>
          <p:cNvPr id="14" name="Text 8"/>
          <p:cNvSpPr/>
          <p:nvPr/>
        </p:nvSpPr>
        <p:spPr>
          <a:xfrm>
            <a:off x="9677753" y="1969557"/>
            <a:ext cx="1698272" cy="789693"/>
          </a:xfrm>
          <a:prstGeom prst="roundRect">
            <a:avLst>
              <a:gd name="adj" fmla="val 12464"/>
            </a:avLst>
          </a:prstGeom>
          <a:solidFill>
            <a:srgbClr val="FBFAF7"/>
          </a:solidFill>
          <a:ln w="6350">
            <a:solidFill>
              <a:srgbClr val="DDD8CC"/>
            </a:solidFill>
            <a:prstDash val="solid"/>
          </a:ln>
        </p:spPr>
        <p:txBody>
          <a:bodyPr wrap="square" lIns="126042" tIns="126042" rIns="75242" bIns="100642" rtlCol="0" anchor="t">
            <a:normAutofit/>
          </a:bodyPr>
          <a:lstStyle/>
          <a:p>
            <a:pPr algn="l" indent="0" marL="0">
              <a:lnSpc>
                <a:spcPts val="1890"/>
              </a:lnSpc>
              <a:buNone/>
            </a:pPr>
            <a:r>
              <a:rPr lang="en-US" sz="1400" b="1" dirty="0">
                <a:solidFill>
                  <a:srgbClr val="13203A"/>
                </a:solidFill>
                <a:latin typeface="IBM Plex Sans" pitchFamily="34" charset="0"/>
                <a:ea typeface="IBM Plex Sans" pitchFamily="34" charset="-122"/>
                <a:cs typeface="IBM Plex Sans" pitchFamily="34" charset="-120"/>
              </a:rPr>
              <a:t>ESCs and 4 motors</a:t>
            </a:r>
            <a:endParaRPr lang="en-US" sz="1400" dirty="0"/>
          </a:p>
        </p:txBody>
      </p:sp>
      <p:sp>
        <p:nvSpPr>
          <p:cNvPr id="15" name="Shape 9"/>
          <p:cNvSpPr/>
          <p:nvPr/>
        </p:nvSpPr>
        <p:spPr>
          <a:xfrm>
            <a:off x="812800" y="3154186"/>
            <a:ext cx="3420533" cy="1361281"/>
          </a:xfrm>
          <a:prstGeom prst="roundRect">
            <a:avLst>
              <a:gd name="adj" fmla="val 7464"/>
            </a:avLst>
          </a:prstGeom>
          <a:solidFill>
            <a:srgbClr val="E9E6DE"/>
          </a:solidFill>
          <a:ln/>
        </p:spPr>
      </p:sp>
      <p:sp>
        <p:nvSpPr>
          <p:cNvPr id="16" name="Text 10"/>
          <p:cNvSpPr/>
          <p:nvPr/>
        </p:nvSpPr>
        <p:spPr>
          <a:xfrm>
            <a:off x="1016000" y="3331986"/>
            <a:ext cx="3104557"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4E10"/>
                </a:solidFill>
                <a:latin typeface="JetBrains Mono" pitchFamily="49" charset="0"/>
                <a:ea typeface="JetBrains Mono" pitchFamily="49" charset="-122"/>
                <a:cs typeface="JetBrains Mono" pitchFamily="49" charset="-120"/>
              </a:rPr>
              <a:t>WE ADD 01</a:t>
            </a:r>
            <a:endParaRPr lang="en-US" sz="1200" dirty="0"/>
          </a:p>
        </p:txBody>
      </p:sp>
      <p:sp>
        <p:nvSpPr>
          <p:cNvPr id="17" name="Text 11"/>
          <p:cNvSpPr/>
          <p:nvPr/>
        </p:nvSpPr>
        <p:spPr>
          <a:xfrm>
            <a:off x="1016000" y="3596128"/>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Fault interface</a:t>
            </a:r>
            <a:endParaRPr lang="en-US" sz="1500" dirty="0"/>
          </a:p>
        </p:txBody>
      </p:sp>
      <p:sp>
        <p:nvSpPr>
          <p:cNvPr id="18" name="Text 12"/>
          <p:cNvSpPr/>
          <p:nvPr/>
        </p:nvSpPr>
        <p:spPr>
          <a:xfrm>
            <a:off x="1016000" y="3875528"/>
            <a:ext cx="3104557"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Receives “motor k is now at 50%”</a:t>
            </a:r>
            <a:endParaRPr lang="en-US" sz="1300" dirty="0"/>
          </a:p>
        </p:txBody>
      </p:sp>
      <p:sp>
        <p:nvSpPr>
          <p:cNvPr id="19" name="Shape 13"/>
          <p:cNvSpPr/>
          <p:nvPr/>
        </p:nvSpPr>
        <p:spPr>
          <a:xfrm>
            <a:off x="4385733" y="3154186"/>
            <a:ext cx="3420533" cy="1361281"/>
          </a:xfrm>
          <a:prstGeom prst="roundRect">
            <a:avLst>
              <a:gd name="adj" fmla="val 7464"/>
            </a:avLst>
          </a:prstGeom>
          <a:solidFill>
            <a:srgbClr val="E9E6DE"/>
          </a:solidFill>
          <a:ln/>
        </p:spPr>
      </p:sp>
      <p:sp>
        <p:nvSpPr>
          <p:cNvPr id="20" name="Text 14"/>
          <p:cNvSpPr/>
          <p:nvPr/>
        </p:nvSpPr>
        <p:spPr>
          <a:xfrm>
            <a:off x="4588933" y="3331986"/>
            <a:ext cx="3104557"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4E10"/>
                </a:solidFill>
                <a:latin typeface="JetBrains Mono" pitchFamily="49" charset="0"/>
                <a:ea typeface="JetBrains Mono" pitchFamily="49" charset="-122"/>
                <a:cs typeface="JetBrains Mono" pitchFamily="49" charset="-120"/>
              </a:rPr>
              <a:t>WE ADD 02</a:t>
            </a:r>
            <a:endParaRPr lang="en-US" sz="1200" dirty="0"/>
          </a:p>
        </p:txBody>
      </p:sp>
      <p:sp>
        <p:nvSpPr>
          <p:cNvPr id="21" name="Text 15"/>
          <p:cNvSpPr/>
          <p:nvPr/>
        </p:nvSpPr>
        <p:spPr>
          <a:xfrm>
            <a:off x="4588933" y="3596128"/>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Fault-aware allocation</a:t>
            </a:r>
            <a:endParaRPr lang="en-US" sz="1500" dirty="0"/>
          </a:p>
        </p:txBody>
      </p:sp>
      <p:sp>
        <p:nvSpPr>
          <p:cNvPr id="22" name="Text 16"/>
          <p:cNvSpPr/>
          <p:nvPr/>
        </p:nvSpPr>
        <p:spPr>
          <a:xfrm>
            <a:off x="4588933" y="3875528"/>
            <a:ext cx="3104557"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Knows motor k’s new limit and moves work to the other three</a:t>
            </a:r>
            <a:endParaRPr lang="en-US" sz="1300" dirty="0"/>
          </a:p>
        </p:txBody>
      </p:sp>
      <p:sp>
        <p:nvSpPr>
          <p:cNvPr id="23" name="Shape 17"/>
          <p:cNvSpPr/>
          <p:nvPr/>
        </p:nvSpPr>
        <p:spPr>
          <a:xfrm>
            <a:off x="7958667" y="3154186"/>
            <a:ext cx="3420533" cy="1361281"/>
          </a:xfrm>
          <a:prstGeom prst="roundRect">
            <a:avLst>
              <a:gd name="adj" fmla="val 7464"/>
            </a:avLst>
          </a:prstGeom>
          <a:solidFill>
            <a:srgbClr val="E9E6DE"/>
          </a:solidFill>
          <a:ln/>
        </p:spPr>
      </p:sp>
      <p:sp>
        <p:nvSpPr>
          <p:cNvPr id="24" name="Text 18"/>
          <p:cNvSpPr/>
          <p:nvPr/>
        </p:nvSpPr>
        <p:spPr>
          <a:xfrm>
            <a:off x="8161867" y="3331986"/>
            <a:ext cx="3104557"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4E10"/>
                </a:solidFill>
                <a:latin typeface="JetBrains Mono" pitchFamily="49" charset="0"/>
                <a:ea typeface="JetBrains Mono" pitchFamily="49" charset="-122"/>
                <a:cs typeface="JetBrains Mono" pitchFamily="49" charset="-120"/>
              </a:rPr>
              <a:t>WE ADD 03</a:t>
            </a:r>
            <a:endParaRPr lang="en-US" sz="1200" dirty="0"/>
          </a:p>
        </p:txBody>
      </p:sp>
      <p:sp>
        <p:nvSpPr>
          <p:cNvPr id="25" name="Text 19"/>
          <p:cNvSpPr/>
          <p:nvPr/>
        </p:nvSpPr>
        <p:spPr>
          <a:xfrm>
            <a:off x="8161867" y="3596128"/>
            <a:ext cx="31045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Mission logic</a:t>
            </a:r>
            <a:endParaRPr lang="en-US" sz="1500" dirty="0"/>
          </a:p>
        </p:txBody>
      </p:sp>
      <p:sp>
        <p:nvSpPr>
          <p:cNvPr id="26" name="Text 20"/>
          <p:cNvSpPr/>
          <p:nvPr/>
        </p:nvSpPr>
        <p:spPr>
          <a:xfrm>
            <a:off x="8161867" y="3875528"/>
            <a:ext cx="3104557"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Decides whether to carry on or return and land</a:t>
            </a:r>
            <a:endParaRPr lang="en-US" sz="1300" dirty="0"/>
          </a:p>
        </p:txBody>
      </p:sp>
      <p:sp>
        <p:nvSpPr>
          <p:cNvPr id="27" name="Text 21"/>
          <p:cNvSpPr/>
          <p:nvPr/>
        </p:nvSpPr>
        <p:spPr>
          <a:xfrm>
            <a:off x="812800" y="4769467"/>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We build on </a:t>
            </a:r>
            <a:r>
              <a:rPr lang="en-US" sz="1400" b="1" dirty="0">
                <a:solidFill>
                  <a:srgbClr val="13203A"/>
                </a:solidFill>
                <a:latin typeface="IBM Plex Sans" pitchFamily="34" charset="0"/>
                <a:ea typeface="IBM Plex Sans" pitchFamily="34" charset="-122"/>
                <a:cs typeface="IBM Plex Sans" pitchFamily="34" charset="-120"/>
              </a:rPr>
              <a:t>PX4</a:t>
            </a:r>
            <a:r>
              <a:rPr lang="en-US" sz="1400" dirty="0">
                <a:solidFill>
                  <a:srgbClr val="13203A"/>
                </a:solidFill>
                <a:latin typeface="IBM Plex Sans" pitchFamily="34" charset="0"/>
                <a:ea typeface="IBM Plex Sans" pitchFamily="34" charset="-122"/>
                <a:cs typeface="IBM Plex Sans" pitchFamily="34" charset="-120"/>
              </a:rPr>
              <a:t>, an open-source autopilot, and only change the parts the fault affects.</a:t>
            </a:r>
            <a:endParaRPr lang="en-US" sz="1400" dirty="0"/>
          </a:p>
        </p:txBody>
      </p:sp>
      <p:sp>
        <p:nvSpPr>
          <p:cNvPr id="28" name="Text 22"/>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Project 6 · Fault-Tolerant Quadrotor Control</a:t>
            </a:r>
            <a:endParaRPr lang="en-US" sz="1200" dirty="0"/>
          </a:p>
        </p:txBody>
      </p:sp>
      <p:sp>
        <p:nvSpPr>
          <p:cNvPr id="29" name="Text 23"/>
          <p:cNvSpPr/>
          <p:nvPr/>
        </p:nvSpPr>
        <p:spPr>
          <a:xfrm>
            <a:off x="8763000" y="6238258"/>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2 · SOLUTION FRAMEWORK · CONTROL REALLOCATION</a:t>
            </a:r>
            <a:endParaRPr lang="en-US" sz="1200" dirty="0"/>
          </a:p>
        </p:txBody>
      </p:sp>
      <p:sp>
        <p:nvSpPr>
          <p:cNvPr id="3" name="Text 1"/>
          <p:cNvSpPr/>
          <p:nvPr>
            <p:ph type="title"/>
          </p:nvPr>
        </p:nvSpPr>
        <p:spPr>
          <a:xfrm>
            <a:off x="812800" y="1127742"/>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Tell the mixer motor k is weaker</a:t>
            </a:r>
            <a:endParaRPr lang="en-US" sz="3200" dirty="0"/>
          </a:p>
        </p:txBody>
      </p:sp>
      <p:sp>
        <p:nvSpPr>
          <p:cNvPr id="4" name="Shape 2"/>
          <p:cNvSpPr/>
          <p:nvPr/>
        </p:nvSpPr>
        <p:spPr>
          <a:xfrm>
            <a:off x="812800" y="1879513"/>
            <a:ext cx="4826000" cy="3145014"/>
          </a:xfrm>
          <a:prstGeom prst="roundRect">
            <a:avLst>
              <a:gd name="adj" fmla="val 3231"/>
            </a:avLst>
          </a:prstGeom>
          <a:solidFill>
            <a:srgbClr val="13203A"/>
          </a:solidFill>
          <a:ln/>
        </p:spPr>
      </p:sp>
      <p:sp>
        <p:nvSpPr>
          <p:cNvPr id="5" name="Text 3"/>
          <p:cNvSpPr/>
          <p:nvPr/>
        </p:nvSpPr>
        <p:spPr>
          <a:xfrm>
            <a:off x="1066800" y="2133513"/>
            <a:ext cx="444754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3EE"/>
                </a:solidFill>
                <a:latin typeface="JetBrains Mono" pitchFamily="49" charset="0"/>
                <a:ea typeface="JetBrains Mono" pitchFamily="49" charset="-122"/>
                <a:cs typeface="JetBrains Mono" pitchFamily="49" charset="-120"/>
              </a:rPr>
              <a:t>[T, τx, τy, τz] = B · [f1, f2, f3, f4]</a:t>
            </a:r>
            <a:endParaRPr lang="en-US" sz="1400" dirty="0"/>
          </a:p>
        </p:txBody>
      </p:sp>
      <p:sp>
        <p:nvSpPr>
          <p:cNvPr id="6" name="Text 4"/>
          <p:cNvSpPr/>
          <p:nvPr/>
        </p:nvSpPr>
        <p:spPr>
          <a:xfrm>
            <a:off x="1066800" y="2433197"/>
            <a:ext cx="444754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5CFDC"/>
                </a:solidFill>
                <a:latin typeface="JetBrains Mono" pitchFamily="49" charset="0"/>
                <a:ea typeface="JetBrains Mono" pitchFamily="49" charset="-122"/>
                <a:cs typeface="JetBrains Mono" pitchFamily="49" charset="-120"/>
              </a:rPr>
              <a:t>normal: 0 ≤ fi ≤ fmax</a:t>
            </a:r>
            <a:endParaRPr lang="en-US" sz="1400" dirty="0"/>
          </a:p>
        </p:txBody>
      </p:sp>
      <p:sp>
        <p:nvSpPr>
          <p:cNvPr id="7" name="Text 5"/>
          <p:cNvSpPr/>
          <p:nvPr/>
        </p:nvSpPr>
        <p:spPr>
          <a:xfrm>
            <a:off x="1066800" y="2732881"/>
            <a:ext cx="4447540"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8A3C"/>
                </a:solidFill>
                <a:latin typeface="JetBrains Mono" pitchFamily="49" charset="0"/>
                <a:ea typeface="JetBrains Mono" pitchFamily="49" charset="-122"/>
                <a:cs typeface="JetBrains Mono" pitchFamily="49" charset="-120"/>
              </a:rPr>
              <a:t>fault: 0 ≤ fk ≤ 0.25 · fmax</a:t>
            </a:r>
            <a:endParaRPr lang="en-US" sz="1400" dirty="0"/>
          </a:p>
        </p:txBody>
      </p:sp>
      <p:sp>
        <p:nvSpPr>
          <p:cNvPr id="8" name="Text 6"/>
          <p:cNvSpPr/>
          <p:nvPr/>
        </p:nvSpPr>
        <p:spPr>
          <a:xfrm>
            <a:off x="1066800" y="3134165"/>
            <a:ext cx="4447540"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DC"/>
                </a:solidFill>
                <a:latin typeface="IBM Plex Sans" pitchFamily="34" charset="0"/>
                <a:ea typeface="IBM Plex Sans" pitchFamily="34" charset="-122"/>
                <a:cs typeface="IBM Plex Sans" pitchFamily="34" charset="-120"/>
              </a:rPr>
              <a:t>B maps the four motor thrusts (f1–f4) to total lift T and the roll, pitch and yaw moments.</a:t>
            </a:r>
            <a:endParaRPr lang="en-US" sz="1300" dirty="0"/>
          </a:p>
        </p:txBody>
      </p:sp>
      <p:sp>
        <p:nvSpPr>
          <p:cNvPr id="9" name="Text 7"/>
          <p:cNvSpPr/>
          <p:nvPr/>
        </p:nvSpPr>
        <p:spPr>
          <a:xfrm>
            <a:off x="1066800" y="3748705"/>
            <a:ext cx="4447540"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5CFDC"/>
                </a:solidFill>
                <a:latin typeface="IBM Plex Sans" pitchFamily="34" charset="0"/>
                <a:ea typeface="IBM Plex Sans" pitchFamily="34" charset="-122"/>
                <a:cs typeface="IBM Plex Sans" pitchFamily="34" charset="-120"/>
              </a:rPr>
              <a:t>PX4’s default mixer doesn’t know about the limit. It keeps asking motor k for thrust it can’t give, the motor saturates, and the drone tilts.</a:t>
            </a:r>
            <a:endParaRPr lang="en-US" sz="1300" dirty="0"/>
          </a:p>
        </p:txBody>
      </p:sp>
      <p:sp>
        <p:nvSpPr>
          <p:cNvPr id="10" name="Shape 8"/>
          <p:cNvSpPr/>
          <p:nvPr/>
        </p:nvSpPr>
        <p:spPr>
          <a:xfrm>
            <a:off x="5946775" y="1882688"/>
            <a:ext cx="5429250" cy="820208"/>
          </a:xfrm>
          <a:prstGeom prst="roundRect">
            <a:avLst>
              <a:gd name="adj" fmla="val 12000"/>
            </a:avLst>
          </a:prstGeom>
          <a:solidFill>
            <a:srgbClr val="FBFAF7"/>
          </a:solidFill>
          <a:ln w="6350">
            <a:solidFill>
              <a:srgbClr val="DDD8CC"/>
            </a:solidFill>
            <a:prstDash val="solid"/>
          </a:ln>
        </p:spPr>
      </p:sp>
      <p:sp>
        <p:nvSpPr>
          <p:cNvPr id="11" name="Text 9"/>
          <p:cNvSpPr/>
          <p:nvPr/>
        </p:nvSpPr>
        <p:spPr>
          <a:xfrm>
            <a:off x="6152445" y="2037556"/>
            <a:ext cx="51684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1 · Update the limit</a:t>
            </a:r>
            <a:endParaRPr lang="en-US" sz="1500" dirty="0"/>
          </a:p>
        </p:txBody>
      </p:sp>
      <p:sp>
        <p:nvSpPr>
          <p:cNvPr id="12" name="Text 10"/>
          <p:cNvSpPr/>
          <p:nvPr/>
        </p:nvSpPr>
        <p:spPr>
          <a:xfrm>
            <a:off x="6152445" y="2316956"/>
            <a:ext cx="5168448"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The allocator learns motor k’s new maximum and plans around it.</a:t>
            </a:r>
            <a:endParaRPr lang="en-US" sz="1300" dirty="0"/>
          </a:p>
        </p:txBody>
      </p:sp>
      <p:sp>
        <p:nvSpPr>
          <p:cNvPr id="13" name="Shape 11"/>
          <p:cNvSpPr/>
          <p:nvPr/>
        </p:nvSpPr>
        <p:spPr>
          <a:xfrm>
            <a:off x="5946775" y="2810845"/>
            <a:ext cx="5429250" cy="1051278"/>
          </a:xfrm>
          <a:prstGeom prst="roundRect">
            <a:avLst>
              <a:gd name="adj" fmla="val 9362"/>
            </a:avLst>
          </a:prstGeom>
          <a:solidFill>
            <a:srgbClr val="FBFAF7"/>
          </a:solidFill>
          <a:ln w="6350">
            <a:solidFill>
              <a:srgbClr val="DDD8CC"/>
            </a:solidFill>
            <a:prstDash val="solid"/>
          </a:ln>
        </p:spPr>
      </p:sp>
      <p:sp>
        <p:nvSpPr>
          <p:cNvPr id="14" name="Text 12"/>
          <p:cNvSpPr/>
          <p:nvPr/>
        </p:nvSpPr>
        <p:spPr>
          <a:xfrm>
            <a:off x="6152445" y="2965714"/>
            <a:ext cx="51684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2 · Set priorities</a:t>
            </a:r>
            <a:endParaRPr lang="en-US" sz="1500" dirty="0"/>
          </a:p>
        </p:txBody>
      </p:sp>
      <p:sp>
        <p:nvSpPr>
          <p:cNvPr id="15" name="Text 13"/>
          <p:cNvSpPr/>
          <p:nvPr/>
        </p:nvSpPr>
        <p:spPr>
          <a:xfrm>
            <a:off x="6152445" y="3245114"/>
            <a:ext cx="516844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Lift, roll and pitch come first. If something has to give, it’s yaw; a slow heading drift is acceptable.</a:t>
            </a:r>
            <a:endParaRPr lang="en-US" sz="1300" dirty="0"/>
          </a:p>
        </p:txBody>
      </p:sp>
      <p:sp>
        <p:nvSpPr>
          <p:cNvPr id="16" name="Shape 14"/>
          <p:cNvSpPr/>
          <p:nvPr/>
        </p:nvSpPr>
        <p:spPr>
          <a:xfrm>
            <a:off x="5946775" y="3970074"/>
            <a:ext cx="5429250" cy="1051278"/>
          </a:xfrm>
          <a:prstGeom prst="roundRect">
            <a:avLst>
              <a:gd name="adj" fmla="val 9362"/>
            </a:avLst>
          </a:prstGeom>
          <a:solidFill>
            <a:srgbClr val="FBFAF7"/>
          </a:solidFill>
          <a:ln w="6350">
            <a:solidFill>
              <a:srgbClr val="DDD8CC"/>
            </a:solidFill>
            <a:prstDash val="solid"/>
          </a:ln>
        </p:spPr>
      </p:sp>
      <p:sp>
        <p:nvSpPr>
          <p:cNvPr id="17" name="Text 15"/>
          <p:cNvSpPr/>
          <p:nvPr/>
        </p:nvSpPr>
        <p:spPr>
          <a:xfrm>
            <a:off x="6152445" y="4124942"/>
            <a:ext cx="51684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3 · Reconfigure the limits</a:t>
            </a:r>
            <a:endParaRPr lang="en-US" sz="1500" dirty="0"/>
          </a:p>
        </p:txBody>
      </p:sp>
      <p:sp>
        <p:nvSpPr>
          <p:cNvPr id="18" name="Text 16"/>
          <p:cNvSpPr/>
          <p:nvPr/>
        </p:nvSpPr>
        <p:spPr>
          <a:xfrm>
            <a:off x="6152445" y="4404342"/>
            <a:ext cx="516844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After the fault we lower speed, climb rate and tilt, so commands stay within reach.</a:t>
            </a:r>
            <a:endParaRPr lang="en-US" sz="1300" dirty="0"/>
          </a:p>
        </p:txBody>
      </p:sp>
      <p:sp>
        <p:nvSpPr>
          <p:cNvPr id="19" name="Text 17"/>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Project 6 · Fault-Tolerant Quadrotor Control</a:t>
            </a:r>
            <a:endParaRPr lang="en-US" sz="1200" dirty="0"/>
          </a:p>
        </p:txBody>
      </p:sp>
      <p:sp>
        <p:nvSpPr>
          <p:cNvPr id="20" name="Text 18"/>
          <p:cNvSpPr/>
          <p:nvPr/>
        </p:nvSpPr>
        <p:spPr>
          <a:xfrm>
            <a:off x="8763000" y="6238258"/>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6D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2 · SOLUTION FRAMEWORK · FAULT INTERFACE</a:t>
            </a:r>
            <a:endParaRPr lang="en-US" sz="1200" dirty="0"/>
          </a:p>
        </p:txBody>
      </p:sp>
      <p:sp>
        <p:nvSpPr>
          <p:cNvPr id="3" name="Text 1"/>
          <p:cNvSpPr/>
          <p:nvPr>
            <p:ph type="title"/>
          </p:nvPr>
        </p:nvSpPr>
        <p:spPr>
          <a:xfrm>
            <a:off x="812800" y="1127742"/>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How the fault reaches our controller</a:t>
            </a:r>
            <a:endParaRPr lang="en-US" sz="3200" dirty="0"/>
          </a:p>
        </p:txBody>
      </p:sp>
      <p:sp>
        <p:nvSpPr>
          <p:cNvPr id="4" name="Shape 2"/>
          <p:cNvSpPr/>
          <p:nvPr/>
        </p:nvSpPr>
        <p:spPr>
          <a:xfrm>
            <a:off x="812800" y="1879513"/>
            <a:ext cx="5156200" cy="2187928"/>
          </a:xfrm>
          <a:prstGeom prst="roundRect">
            <a:avLst>
              <a:gd name="adj" fmla="val 4644"/>
            </a:avLst>
          </a:prstGeom>
          <a:solidFill>
            <a:srgbClr val="F5F3EE"/>
          </a:solidFill>
          <a:ln/>
        </p:spPr>
      </p:sp>
      <p:sp>
        <p:nvSpPr>
          <p:cNvPr id="5" name="Text 3"/>
          <p:cNvSpPr/>
          <p:nvPr/>
        </p:nvSpPr>
        <p:spPr>
          <a:xfrm>
            <a:off x="1066800" y="2082713"/>
            <a:ext cx="4787646"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3A"/>
                </a:solidFill>
                <a:latin typeface="Space Grotesk" pitchFamily="34" charset="0"/>
                <a:ea typeface="Space Grotesk" pitchFamily="34" charset="-122"/>
                <a:cs typeface="Space Grotesk" pitchFamily="34" charset="-120"/>
              </a:rPr>
              <a:t>On demo day</a:t>
            </a:r>
            <a:endParaRPr lang="en-US" sz="1600" dirty="0"/>
          </a:p>
        </p:txBody>
      </p:sp>
      <p:sp>
        <p:nvSpPr>
          <p:cNvPr id="6" name="Text 4"/>
          <p:cNvSpPr/>
          <p:nvPr/>
        </p:nvSpPr>
        <p:spPr>
          <a:xfrm>
            <a:off x="1137797" y="2428081"/>
            <a:ext cx="4709029" cy="1222199"/>
          </a:xfrm>
          <a:prstGeom prst="rect">
            <a:avLst/>
          </a:prstGeom>
          <a:noFill/>
          <a:ln/>
        </p:spPr>
        <p:txBody>
          <a:bodyPr wrap="square" lIns="0" tIns="0" rIns="0" bIns="0" rtlCol="0" anchor="t">
            <a:normAutofit/>
          </a:bodyPr>
          <a:lstStyle/>
          <a:p>
            <a:pPr algn="l" marL="183003" indent="-183003">
              <a:lnSpc>
                <a:spcPts val="1885"/>
              </a:lnSpc>
              <a:buSzPct val="100000"/>
              <a:buFontTx/>
              <a:buAutoNum type="arabicPeriod" startAt="1"/>
            </a:pPr>
            <a:r>
              <a:rPr lang="en-US" sz="1300" dirty="0">
                <a:solidFill>
                  <a:srgbClr val="3D4859"/>
                </a:solidFill>
                <a:latin typeface="IBM Plex Sans" pitchFamily="34" charset="0"/>
                <a:ea typeface="IBM Plex Sans" pitchFamily="34" charset="-122"/>
                <a:cs typeface="IBM Plex Sans" pitchFamily="34" charset="-120"/>
              </a:rPr>
              <a:t>The evaluator caps motor k at 50% RPM</a:t>
            </a:r>
            <a:endParaRPr lang="en-US" sz="1300" dirty="0"/>
          </a:p>
          <a:p>
            <a:pPr algn="l" marL="183003" indent="-183003">
              <a:lnSpc>
                <a:spcPts val="1885"/>
              </a:lnSpc>
              <a:buSzPct val="100000"/>
              <a:buFontTx/>
              <a:buAutoNum type="arabicPeriod" startAt="1"/>
            </a:pPr>
            <a:r>
              <a:rPr lang="en-US" sz="1300" dirty="0">
                <a:solidFill>
                  <a:srgbClr val="3D4859"/>
                </a:solidFill>
                <a:latin typeface="IBM Plex Sans" pitchFamily="34" charset="0"/>
                <a:ea typeface="IBM Plex Sans" pitchFamily="34" charset="-122"/>
                <a:cs typeface="IBM Plex Sans" pitchFamily="34" charset="-120"/>
              </a:rPr>
              <a:t>The notification arrives as a MAVLink command or an RC switch</a:t>
            </a:r>
            <a:endParaRPr lang="en-US" sz="1300" dirty="0"/>
          </a:p>
          <a:p>
            <a:pPr algn="l" marL="183003" indent="-183003">
              <a:lnSpc>
                <a:spcPts val="1885"/>
              </a:lnSpc>
              <a:buSzPct val="100000"/>
              <a:buFontTx/>
              <a:buAutoNum type="arabicPeriod" startAt="1"/>
            </a:pPr>
            <a:r>
              <a:rPr lang="en-US" sz="1300" dirty="0">
                <a:solidFill>
                  <a:srgbClr val="3D4859"/>
                </a:solidFill>
                <a:latin typeface="IBM Plex Sans" pitchFamily="34" charset="0"/>
                <a:ea typeface="IBM Plex Sans" pitchFamily="34" charset="-122"/>
                <a:cs typeface="IBM Plex Sans" pitchFamily="34" charset="-120"/>
              </a:rPr>
              <a:t>PX4 turns it into an internal motor_fault message: {k, 50%}</a:t>
            </a:r>
            <a:endParaRPr lang="en-US" sz="1300" dirty="0"/>
          </a:p>
          <a:p>
            <a:pPr algn="l" marL="183003" indent="-183003">
              <a:lnSpc>
                <a:spcPts val="1885"/>
              </a:lnSpc>
              <a:buSzPct val="100000"/>
              <a:buFontTx/>
              <a:buAutoNum type="arabicPeriod" startAt="1"/>
            </a:pPr>
            <a:r>
              <a:rPr lang="en-US" sz="1300" dirty="0">
                <a:solidFill>
                  <a:srgbClr val="3D4859"/>
                </a:solidFill>
                <a:latin typeface="IBM Plex Sans" pitchFamily="34" charset="0"/>
                <a:ea typeface="IBM Plex Sans" pitchFamily="34" charset="-122"/>
                <a:cs typeface="IBM Plex Sans" pitchFamily="34" charset="-120"/>
              </a:rPr>
              <a:t>The allocator and mission logic switch to fault mode</a:t>
            </a:r>
            <a:endParaRPr lang="en-US" sz="1300" dirty="0"/>
          </a:p>
        </p:txBody>
      </p:sp>
      <p:sp>
        <p:nvSpPr>
          <p:cNvPr id="7" name="Shape 5"/>
          <p:cNvSpPr/>
          <p:nvPr/>
        </p:nvSpPr>
        <p:spPr>
          <a:xfrm>
            <a:off x="6223000" y="1879513"/>
            <a:ext cx="5156200" cy="2187928"/>
          </a:xfrm>
          <a:prstGeom prst="roundRect">
            <a:avLst>
              <a:gd name="adj" fmla="val 4644"/>
            </a:avLst>
          </a:prstGeom>
          <a:solidFill>
            <a:srgbClr val="F5F3EE"/>
          </a:solidFill>
          <a:ln/>
        </p:spPr>
      </p:sp>
      <p:sp>
        <p:nvSpPr>
          <p:cNvPr id="8" name="Text 6"/>
          <p:cNvSpPr/>
          <p:nvPr/>
        </p:nvSpPr>
        <p:spPr>
          <a:xfrm>
            <a:off x="6477000" y="2082713"/>
            <a:ext cx="4787646"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3A"/>
                </a:solidFill>
                <a:latin typeface="Space Grotesk" pitchFamily="34" charset="0"/>
                <a:ea typeface="Space Grotesk" pitchFamily="34" charset="-122"/>
                <a:cs typeface="Space Grotesk" pitchFamily="34" charset="-120"/>
              </a:rPr>
              <a:t>While testing, we inject it ourselves</a:t>
            </a:r>
            <a:endParaRPr lang="en-US" sz="1600" dirty="0"/>
          </a:p>
        </p:txBody>
      </p:sp>
      <p:sp>
        <p:nvSpPr>
          <p:cNvPr id="9" name="Text 7"/>
          <p:cNvSpPr/>
          <p:nvPr/>
        </p:nvSpPr>
        <p:spPr>
          <a:xfrm>
            <a:off x="6562344" y="2428081"/>
            <a:ext cx="4694682" cy="1461558"/>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D4859"/>
                </a:solidFill>
                <a:latin typeface="IBM Plex Sans" pitchFamily="34" charset="0"/>
                <a:ea typeface="IBM Plex Sans" pitchFamily="34" charset="-122"/>
                <a:cs typeface="IBM Plex Sans" pitchFamily="34" charset="-120"/>
              </a:rPr>
              <a:t>One RC switch caps motor k and sends the notification together</a:t>
            </a:r>
            <a:endParaRPr lang="en-US" sz="1300" dirty="0"/>
          </a:p>
          <a:p>
            <a:pPr algn="l" marL="168656" indent="-168656">
              <a:lnSpc>
                <a:spcPts val="1885"/>
              </a:lnSpc>
              <a:buSzPct val="100000"/>
              <a:buChar char="•"/>
            </a:pPr>
            <a:r>
              <a:rPr lang="en-US" sz="1300" dirty="0">
                <a:solidFill>
                  <a:srgbClr val="3D4859"/>
                </a:solidFill>
                <a:latin typeface="IBM Plex Sans" pitchFamily="34" charset="0"/>
                <a:ea typeface="IBM Plex Sans" pitchFamily="34" charset="-122"/>
                <a:cs typeface="IBM Plex Sans" pitchFamily="34" charset="-120"/>
              </a:rPr>
              <a:t>We calibrate the cap on the bench from the ESCs’ RPM readings</a:t>
            </a:r>
            <a:endParaRPr lang="en-US" sz="1300" dirty="0"/>
          </a:p>
          <a:p>
            <a:pPr algn="l" marL="168656" indent="-168656">
              <a:lnSpc>
                <a:spcPts val="1885"/>
              </a:lnSpc>
              <a:buSzPct val="100000"/>
              <a:buChar char="•"/>
            </a:pPr>
            <a:r>
              <a:rPr lang="en-US" sz="1300" dirty="0">
                <a:solidFill>
                  <a:srgbClr val="3D4859"/>
                </a:solidFill>
                <a:latin typeface="IBM Plex Sans" pitchFamily="34" charset="0"/>
                <a:ea typeface="IBM Plex Sans" pitchFamily="34" charset="-122"/>
                <a:cs typeface="IBM Plex Sans" pitchFamily="34" charset="-120"/>
              </a:rPr>
              <a:t>Everything runs in the PX4 simulator before it touches the drone</a:t>
            </a:r>
            <a:endParaRPr lang="en-US" sz="1300" dirty="0"/>
          </a:p>
        </p:txBody>
      </p:sp>
      <p:sp>
        <p:nvSpPr>
          <p:cNvPr id="10" name="Text 8"/>
          <p:cNvSpPr/>
          <p:nvPr/>
        </p:nvSpPr>
        <p:spPr>
          <a:xfrm>
            <a:off x="819150" y="4378589"/>
            <a:ext cx="10553700" cy="494947"/>
          </a:xfrm>
          <a:prstGeom prst="roundRect">
            <a:avLst>
              <a:gd name="adj" fmla="val 14113"/>
            </a:avLst>
          </a:prstGeom>
          <a:solidFill>
            <a:srgbClr val="FCEBDD"/>
          </a:solidFill>
          <a:ln w="12700">
            <a:solidFill>
              <a:srgbClr val="E07A2E"/>
            </a:solidFill>
            <a:prstDash val="solid"/>
          </a:ln>
        </p:spPr>
        <p:txBody>
          <a:bodyPr wrap="square" lIns="162281" tIns="111481" rIns="0" bIns="86081" rtlCol="0" anchor="t">
            <a:normAutofit/>
          </a:bodyPr>
          <a:lstStyle/>
          <a:p>
            <a:pPr algn="l"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We’d like to confirm how the fault will be applied and signalled on demo day, so our interface matches it.</a:t>
            </a:r>
            <a:endParaRPr lang="en-US" sz="1300" dirty="0"/>
          </a:p>
        </p:txBody>
      </p:sp>
      <p:sp>
        <p:nvSpPr>
          <p:cNvPr id="11" name="Text 9"/>
          <p:cNvSpPr/>
          <p:nvPr/>
        </p:nvSpPr>
        <p:spPr>
          <a:xfrm>
            <a:off x="812800" y="6238258"/>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Project 6 · Fault-Tolerant Quadrotor Control</a:t>
            </a:r>
            <a:endParaRPr lang="en-US" sz="1200" dirty="0"/>
          </a:p>
        </p:txBody>
      </p:sp>
      <p:sp>
        <p:nvSpPr>
          <p:cNvPr id="12" name="Text 10"/>
          <p:cNvSpPr/>
          <p:nvPr/>
        </p:nvSpPr>
        <p:spPr>
          <a:xfrm>
            <a:off x="8763000" y="6238258"/>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2 · SOLUTION FRAMEWORK · AFTER THE FAULT</a:t>
            </a:r>
            <a:endParaRPr lang="en-US" sz="1200" dirty="0"/>
          </a:p>
        </p:txBody>
      </p:sp>
      <p:sp>
        <p:nvSpPr>
          <p:cNvPr id="3" name="Text 1"/>
          <p:cNvSpPr/>
          <p:nvPr>
            <p:ph type="title"/>
          </p:nvPr>
        </p:nvSpPr>
        <p:spPr>
          <a:xfrm>
            <a:off x="812800" y="1127742"/>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Carry on, or come home and land</a:t>
            </a:r>
            <a:endParaRPr lang="en-US" sz="3200" dirty="0"/>
          </a:p>
        </p:txBody>
      </p:sp>
      <p:sp>
        <p:nvSpPr>
          <p:cNvPr id="4" name="Shape 2"/>
          <p:cNvSpPr/>
          <p:nvPr/>
        </p:nvSpPr>
        <p:spPr>
          <a:xfrm>
            <a:off x="815975" y="2490084"/>
            <a:ext cx="1907117" cy="1315420"/>
          </a:xfrm>
          <a:prstGeom prst="roundRect">
            <a:avLst>
              <a:gd name="adj" fmla="val 7482"/>
            </a:avLst>
          </a:prstGeom>
          <a:solidFill>
            <a:srgbClr val="FBFAF7"/>
          </a:solidFill>
          <a:ln w="6350">
            <a:solidFill>
              <a:srgbClr val="DDD8CC"/>
            </a:solidFill>
            <a:prstDash val="solid"/>
          </a:ln>
        </p:spPr>
      </p:sp>
      <p:sp>
        <p:nvSpPr>
          <p:cNvPr id="5" name="Text 3"/>
          <p:cNvSpPr/>
          <p:nvPr/>
        </p:nvSpPr>
        <p:spPr>
          <a:xfrm>
            <a:off x="970844" y="2644952"/>
            <a:ext cx="164817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6BC0"/>
                </a:solidFill>
                <a:latin typeface="JetBrains Mono" pitchFamily="49" charset="0"/>
                <a:ea typeface="JetBrains Mono" pitchFamily="49" charset="-122"/>
                <a:cs typeface="JetBrains Mono" pitchFamily="49" charset="-120"/>
              </a:rPr>
              <a:t>STEP 1</a:t>
            </a:r>
            <a:endParaRPr lang="en-US" sz="1200" dirty="0"/>
          </a:p>
        </p:txBody>
      </p:sp>
      <p:sp>
        <p:nvSpPr>
          <p:cNvPr id="6" name="Text 4"/>
          <p:cNvSpPr/>
          <p:nvPr/>
        </p:nvSpPr>
        <p:spPr>
          <a:xfrm>
            <a:off x="970844" y="2909094"/>
            <a:ext cx="16481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Fault received</a:t>
            </a:r>
            <a:endParaRPr lang="en-US" sz="1500" dirty="0"/>
          </a:p>
        </p:txBody>
      </p:sp>
      <p:sp>
        <p:nvSpPr>
          <p:cNvPr id="7" name="Text 5"/>
          <p:cNvSpPr/>
          <p:nvPr/>
        </p:nvSpPr>
        <p:spPr>
          <a:xfrm>
            <a:off x="970844" y="3188494"/>
            <a:ext cx="164817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Motor k is capped at 50% RPM</a:t>
            </a:r>
            <a:endParaRPr lang="en-US" sz="1300" dirty="0"/>
          </a:p>
        </p:txBody>
      </p:sp>
      <p:pic>
        <p:nvPicPr>
          <p:cNvPr id="8" name="Image 0" descr="arrow-right">    </p:cNvPr>
          <p:cNvPicPr>
            <a:picLocks noChangeAspect="1"/>
          </p:cNvPicPr>
          <p:nvPr/>
        </p:nvPicPr>
        <p:blipFill>
          <a:blip r:embed="rId1"/>
          <a:srcRect l="0" r="0" t="0" b="0"/>
          <a:stretch/>
        </p:blipFill>
        <p:spPr>
          <a:xfrm>
            <a:off x="2827867" y="3071636"/>
            <a:ext cx="304800" cy="152400"/>
          </a:xfrm>
          <a:prstGeom prst="rect">
            <a:avLst/>
          </a:prstGeom>
        </p:spPr>
      </p:pic>
      <p:sp>
        <p:nvSpPr>
          <p:cNvPr id="9" name="Shape 6"/>
          <p:cNvSpPr/>
          <p:nvPr/>
        </p:nvSpPr>
        <p:spPr>
          <a:xfrm>
            <a:off x="3237442" y="2490084"/>
            <a:ext cx="1907117" cy="1315420"/>
          </a:xfrm>
          <a:prstGeom prst="roundRect">
            <a:avLst>
              <a:gd name="adj" fmla="val 7482"/>
            </a:avLst>
          </a:prstGeom>
          <a:solidFill>
            <a:srgbClr val="FBFAF7"/>
          </a:solidFill>
          <a:ln w="6350">
            <a:solidFill>
              <a:srgbClr val="DDD8CC"/>
            </a:solidFill>
            <a:prstDash val="solid"/>
          </a:ln>
        </p:spPr>
      </p:sp>
      <p:sp>
        <p:nvSpPr>
          <p:cNvPr id="10" name="Text 7"/>
          <p:cNvSpPr/>
          <p:nvPr/>
        </p:nvSpPr>
        <p:spPr>
          <a:xfrm>
            <a:off x="3392311" y="2644952"/>
            <a:ext cx="164817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6BC0"/>
                </a:solidFill>
                <a:latin typeface="JetBrains Mono" pitchFamily="49" charset="0"/>
                <a:ea typeface="JetBrains Mono" pitchFamily="49" charset="-122"/>
                <a:cs typeface="JetBrains Mono" pitchFamily="49" charset="-120"/>
              </a:rPr>
              <a:t>STEP 2</a:t>
            </a:r>
            <a:endParaRPr lang="en-US" sz="1200" dirty="0"/>
          </a:p>
        </p:txBody>
      </p:sp>
      <p:sp>
        <p:nvSpPr>
          <p:cNvPr id="11" name="Text 8"/>
          <p:cNvSpPr/>
          <p:nvPr/>
        </p:nvSpPr>
        <p:spPr>
          <a:xfrm>
            <a:off x="3392311" y="2909094"/>
            <a:ext cx="16481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Settle</a:t>
            </a:r>
            <a:endParaRPr lang="en-US" sz="1500" dirty="0"/>
          </a:p>
        </p:txBody>
      </p:sp>
      <p:sp>
        <p:nvSpPr>
          <p:cNvPr id="12" name="Text 9"/>
          <p:cNvSpPr/>
          <p:nvPr/>
        </p:nvSpPr>
        <p:spPr>
          <a:xfrm>
            <a:off x="3392311" y="3188494"/>
            <a:ext cx="1648178"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Hold position for a few seconds</a:t>
            </a:r>
            <a:endParaRPr lang="en-US" sz="1300" dirty="0"/>
          </a:p>
        </p:txBody>
      </p:sp>
      <p:pic>
        <p:nvPicPr>
          <p:cNvPr id="13" name="Image 1" descr="arrow-right">    </p:cNvPr>
          <p:cNvPicPr>
            <a:picLocks noChangeAspect="1"/>
          </p:cNvPicPr>
          <p:nvPr/>
        </p:nvPicPr>
        <p:blipFill>
          <a:blip r:embed="rId2"/>
          <a:srcRect l="0" r="0" t="0" b="0"/>
          <a:stretch/>
        </p:blipFill>
        <p:spPr>
          <a:xfrm>
            <a:off x="5249333" y="3071636"/>
            <a:ext cx="304800" cy="152400"/>
          </a:xfrm>
          <a:prstGeom prst="rect">
            <a:avLst/>
          </a:prstGeom>
        </p:spPr>
      </p:pic>
      <p:sp>
        <p:nvSpPr>
          <p:cNvPr id="14" name="Shape 10"/>
          <p:cNvSpPr/>
          <p:nvPr/>
        </p:nvSpPr>
        <p:spPr>
          <a:xfrm>
            <a:off x="5658908" y="2374547"/>
            <a:ext cx="1907117" cy="1546490"/>
          </a:xfrm>
          <a:prstGeom prst="roundRect">
            <a:avLst>
              <a:gd name="adj" fmla="val 6364"/>
            </a:avLst>
          </a:prstGeom>
          <a:solidFill>
            <a:srgbClr val="FBFAF7"/>
          </a:solidFill>
          <a:ln w="6350">
            <a:solidFill>
              <a:srgbClr val="DDD8CC"/>
            </a:solidFill>
            <a:prstDash val="solid"/>
          </a:ln>
        </p:spPr>
      </p:sp>
      <p:sp>
        <p:nvSpPr>
          <p:cNvPr id="15" name="Text 11"/>
          <p:cNvSpPr/>
          <p:nvPr/>
        </p:nvSpPr>
        <p:spPr>
          <a:xfrm>
            <a:off x="5813778" y="2529418"/>
            <a:ext cx="164817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6BC0"/>
                </a:solidFill>
                <a:latin typeface="JetBrains Mono" pitchFamily="49" charset="0"/>
                <a:ea typeface="JetBrains Mono" pitchFamily="49" charset="-122"/>
                <a:cs typeface="JetBrains Mono" pitchFamily="49" charset="-120"/>
              </a:rPr>
              <a:t>STEP 3</a:t>
            </a:r>
            <a:endParaRPr lang="en-US" sz="1200" dirty="0"/>
          </a:p>
        </p:txBody>
      </p:sp>
      <p:sp>
        <p:nvSpPr>
          <p:cNvPr id="16" name="Text 12"/>
          <p:cNvSpPr/>
          <p:nvPr/>
        </p:nvSpPr>
        <p:spPr>
          <a:xfrm>
            <a:off x="5813778" y="2793560"/>
            <a:ext cx="16481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Health check</a:t>
            </a:r>
            <a:endParaRPr lang="en-US" sz="1500" dirty="0"/>
          </a:p>
        </p:txBody>
      </p:sp>
      <p:sp>
        <p:nvSpPr>
          <p:cNvPr id="17" name="Text 13"/>
          <p:cNvSpPr/>
          <p:nvPr/>
        </p:nvSpPr>
        <p:spPr>
          <a:xfrm>
            <a:off x="5813778" y="3072960"/>
            <a:ext cx="1648178" cy="71860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Tilt error small? Holding position? Enough battery?</a:t>
            </a:r>
            <a:endParaRPr lang="en-US" sz="1300" dirty="0"/>
          </a:p>
        </p:txBody>
      </p:sp>
      <p:pic>
        <p:nvPicPr>
          <p:cNvPr id="18" name="Image 2" descr="arrow-right">    </p:cNvPr>
          <p:cNvPicPr>
            <a:picLocks noChangeAspect="1"/>
          </p:cNvPicPr>
          <p:nvPr/>
        </p:nvPicPr>
        <p:blipFill>
          <a:blip r:embed="rId3"/>
          <a:srcRect l="0" r="0" t="0" b="0"/>
          <a:stretch/>
        </p:blipFill>
        <p:spPr>
          <a:xfrm>
            <a:off x="7670800" y="3071636"/>
            <a:ext cx="304800" cy="152400"/>
          </a:xfrm>
          <a:prstGeom prst="rect">
            <a:avLst/>
          </a:prstGeom>
        </p:spPr>
      </p:pic>
      <p:sp>
        <p:nvSpPr>
          <p:cNvPr id="19" name="Shape 14"/>
          <p:cNvSpPr/>
          <p:nvPr/>
        </p:nvSpPr>
        <p:spPr>
          <a:xfrm>
            <a:off x="8083550" y="1885863"/>
            <a:ext cx="3289300" cy="1320359"/>
          </a:xfrm>
          <a:prstGeom prst="roundRect">
            <a:avLst>
              <a:gd name="adj" fmla="val 7214"/>
            </a:avLst>
          </a:prstGeom>
          <a:solidFill>
            <a:srgbClr val="E6EEF8"/>
          </a:solidFill>
          <a:ln w="12700">
            <a:solidFill>
              <a:srgbClr val="2E6BC0"/>
            </a:solidFill>
            <a:prstDash val="solid"/>
          </a:ln>
        </p:spPr>
      </p:sp>
      <p:sp>
        <p:nvSpPr>
          <p:cNvPr id="20" name="Text 15"/>
          <p:cNvSpPr/>
          <p:nvPr/>
        </p:nvSpPr>
        <p:spPr>
          <a:xfrm>
            <a:off x="8240889" y="2043202"/>
            <a:ext cx="306386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6BC0"/>
                </a:solidFill>
                <a:latin typeface="JetBrains Mono" pitchFamily="49" charset="0"/>
                <a:ea typeface="JetBrains Mono" pitchFamily="49" charset="-122"/>
                <a:cs typeface="JetBrains Mono" pitchFamily="49" charset="-120"/>
              </a:rPr>
              <a:t>ALL YES</a:t>
            </a:r>
            <a:endParaRPr lang="en-US" sz="1200" dirty="0"/>
          </a:p>
        </p:txBody>
      </p:sp>
      <p:sp>
        <p:nvSpPr>
          <p:cNvPr id="21" name="Text 16"/>
          <p:cNvSpPr/>
          <p:nvPr/>
        </p:nvSpPr>
        <p:spPr>
          <a:xfrm>
            <a:off x="8240889" y="2307344"/>
            <a:ext cx="306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Continue the mission</a:t>
            </a:r>
            <a:endParaRPr lang="en-US" sz="1500" dirty="0"/>
          </a:p>
        </p:txBody>
      </p:sp>
      <p:sp>
        <p:nvSpPr>
          <p:cNvPr id="22" name="Text 17"/>
          <p:cNvSpPr/>
          <p:nvPr/>
        </p:nvSpPr>
        <p:spPr>
          <a:xfrm>
            <a:off x="8240889" y="2586744"/>
            <a:ext cx="3063861" cy="4875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Fly the remaining waypoints, more slowly</a:t>
            </a:r>
            <a:endParaRPr lang="en-US" sz="1300" dirty="0"/>
          </a:p>
        </p:txBody>
      </p:sp>
      <p:sp>
        <p:nvSpPr>
          <p:cNvPr id="23" name="Shape 18"/>
          <p:cNvSpPr/>
          <p:nvPr/>
        </p:nvSpPr>
        <p:spPr>
          <a:xfrm>
            <a:off x="8083550" y="3320520"/>
            <a:ext cx="3289300" cy="1089290"/>
          </a:xfrm>
          <a:prstGeom prst="roundRect">
            <a:avLst>
              <a:gd name="adj" fmla="val 8744"/>
            </a:avLst>
          </a:prstGeom>
          <a:solidFill>
            <a:srgbClr val="FCEBDD"/>
          </a:solidFill>
          <a:ln w="12700">
            <a:solidFill>
              <a:srgbClr val="E07A2E"/>
            </a:solidFill>
            <a:prstDash val="solid"/>
          </a:ln>
        </p:spPr>
      </p:sp>
      <p:sp>
        <p:nvSpPr>
          <p:cNvPr id="24" name="Text 19"/>
          <p:cNvSpPr/>
          <p:nvPr/>
        </p:nvSpPr>
        <p:spPr>
          <a:xfrm>
            <a:off x="8240889" y="3477859"/>
            <a:ext cx="3063861"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64E10"/>
                </a:solidFill>
                <a:latin typeface="JetBrains Mono" pitchFamily="49" charset="0"/>
                <a:ea typeface="JetBrains Mono" pitchFamily="49" charset="-122"/>
                <a:cs typeface="JetBrains Mono" pitchFamily="49" charset="-120"/>
              </a:rPr>
              <a:t>ANY NO</a:t>
            </a:r>
            <a:endParaRPr lang="en-US" sz="1200" dirty="0"/>
          </a:p>
        </p:txBody>
      </p:sp>
      <p:sp>
        <p:nvSpPr>
          <p:cNvPr id="25" name="Text 20"/>
          <p:cNvSpPr/>
          <p:nvPr/>
        </p:nvSpPr>
        <p:spPr>
          <a:xfrm>
            <a:off x="8240889" y="3742001"/>
            <a:ext cx="306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3A"/>
                </a:solidFill>
                <a:latin typeface="Space Grotesk" pitchFamily="34" charset="0"/>
                <a:ea typeface="Space Grotesk" pitchFamily="34" charset="-122"/>
                <a:cs typeface="Space Grotesk" pitchFamily="34" charset="-120"/>
              </a:rPr>
              <a:t>Return and land</a:t>
            </a:r>
            <a:endParaRPr lang="en-US" sz="1500" dirty="0"/>
          </a:p>
        </p:txBody>
      </p:sp>
      <p:sp>
        <p:nvSpPr>
          <p:cNvPr id="26" name="Text 21"/>
          <p:cNvSpPr/>
          <p:nvPr/>
        </p:nvSpPr>
        <p:spPr>
          <a:xfrm>
            <a:off x="8240889" y="4021404"/>
            <a:ext cx="3063861" cy="25646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Fly back slowly and land</a:t>
            </a:r>
            <a:endParaRPr lang="en-US" sz="1300" dirty="0"/>
          </a:p>
        </p:txBody>
      </p:sp>
      <p:sp>
        <p:nvSpPr>
          <p:cNvPr id="27" name="Text 22"/>
          <p:cNvSpPr/>
          <p:nvPr/>
        </p:nvSpPr>
        <p:spPr>
          <a:xfrm>
            <a:off x="812800" y="4720958"/>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Both endings meet the brief. Finishing the mission is what we’re aiming for.</a:t>
            </a:r>
            <a:endParaRPr lang="en-US" sz="1400" dirty="0"/>
          </a:p>
        </p:txBody>
      </p:sp>
      <p:sp>
        <p:nvSpPr>
          <p:cNvPr id="28" name="Text 23"/>
          <p:cNvSpPr/>
          <p:nvPr/>
        </p:nvSpPr>
        <p:spPr>
          <a:xfrm>
            <a:off x="812800" y="6238261"/>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Project 6 · Fault-Tolerant Quadrotor Control</a:t>
            </a:r>
            <a:endParaRPr lang="en-US" sz="1200" dirty="0"/>
          </a:p>
        </p:txBody>
      </p:sp>
      <p:sp>
        <p:nvSpPr>
          <p:cNvPr id="29" name="Text 24"/>
          <p:cNvSpPr/>
          <p:nvPr/>
        </p:nvSpPr>
        <p:spPr>
          <a:xfrm>
            <a:off x="8763000" y="6238261"/>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3 · DELIVERABLES</a:t>
            </a:r>
            <a:endParaRPr lang="en-US" sz="1200" dirty="0"/>
          </a:p>
        </p:txBody>
      </p:sp>
      <p:sp>
        <p:nvSpPr>
          <p:cNvPr id="3" name="Text 1"/>
          <p:cNvSpPr/>
          <p:nvPr>
            <p:ph type="title"/>
          </p:nvPr>
        </p:nvSpPr>
        <p:spPr>
          <a:xfrm>
            <a:off x="812800" y="1127745"/>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What we commit to deliver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40002"/>
          <a:ext cx="10555111" cy="3947583"/>
        </p:xfrm>
        <a:graphic>
          <a:graphicData uri="http://schemas.openxmlformats.org/drawingml/2006/table">
            <a:tbl>
              <a:tblPr/>
              <a:tblGrid>
                <a:gridCol w="738858"/>
                <a:gridCol w="5277556"/>
                <a:gridCol w="4538698"/>
              </a:tblGrid>
              <a:tr h="394758">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Deliverable</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131D31"/>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c>
                  <a:txBody>
                    <a:bodyPr/>
                    <a:lstStyle/>
                    <a:p>
                      <a:pPr indent="0" marL="0">
                        <a:lnSpc>
                          <a:spcPts val="1820"/>
                        </a:lnSpc>
                        <a:buNone/>
                      </a:pPr>
                      <a:r>
                        <a:rPr lang="en-US" sz="1300" b="1" dirty="0">
                          <a:solidFill>
                            <a:srgbClr val="F5F3EE"/>
                          </a:solidFill>
                          <a:latin typeface="IBM Plex Sans" pitchFamily="34" charset="0"/>
                          <a:ea typeface="IBM Plex Sans" pitchFamily="34" charset="-122"/>
                          <a:cs typeface="IBM Plex Sans" pitchFamily="34" charset="-120"/>
                        </a:rPr>
                        <a:t>How we’ll show it</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131D31"/>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D1</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Quadrotor sized for the fault (T/W ≥ 5:1)</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Parts list, thrust test, flying prototype</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D2</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Stable baseline autonomous flight controller</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Tuned PX4; attitude and position logs</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D3</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Autonomous waypoint navigation</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Planned vs flown path plots</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D4</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Interface for receiving the fault notification</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Logs show the switch to fault mode</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D5</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Fault-tolerant strategy: fault-aware allocation</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Code, analysis, sim vs default mixer</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D6</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Controller reconfiguration after the fault</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Motor outputs and limits, before vs after</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D7</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Baseline and post-fault flight demonstrations</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Side-by-side logs from both flights</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D8</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Continue the mission or end it safely</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A post-fault flight that finishes or lands</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r>
              <a:tr h="394758">
                <a:tc>
                  <a:txBody>
                    <a:bodyPr/>
                    <a:lstStyle/>
                    <a:p>
                      <a:pPr indent="0" marL="0">
                        <a:lnSpc>
                          <a:spcPts val="1820"/>
                        </a:lnSpc>
                        <a:buNone/>
                      </a:pPr>
                      <a:r>
                        <a:rPr lang="en-US" sz="1300" dirty="0">
                          <a:solidFill>
                            <a:srgbClr val="A64E10"/>
                          </a:solidFill>
                          <a:latin typeface="IBM Plex Sans" pitchFamily="34" charset="0"/>
                          <a:ea typeface="IBM Plex Sans" pitchFamily="34" charset="-122"/>
                          <a:cs typeface="IBM Plex Sans" pitchFamily="34" charset="-120"/>
                        </a:rPr>
                        <a:t>D9</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13203A"/>
                          </a:solidFill>
                          <a:latin typeface="IBM Plex Sans" pitchFamily="34" charset="0"/>
                          <a:ea typeface="IBM Plex Sans" pitchFamily="34" charset="-122"/>
                          <a:cs typeface="IBM Plex Sans" pitchFamily="34" charset="-120"/>
                        </a:rPr>
                        <a:t>Flight logs, data and technical report</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820"/>
                        </a:lnSpc>
                        <a:buNone/>
                      </a:pPr>
                      <a:r>
                        <a:rPr lang="en-US" sz="1300" dirty="0">
                          <a:solidFill>
                            <a:srgbClr val="3D4859"/>
                          </a:solidFill>
                          <a:latin typeface="IBM Plex Sans" pitchFamily="34" charset="0"/>
                          <a:ea typeface="IBM Plex Sans" pitchFamily="34" charset="-122"/>
                          <a:cs typeface="IBM Plex Sans" pitchFamily="34" charset="-120"/>
                        </a:rPr>
                        <a:t>Raw logs, analysis scripts, report</a:t>
                      </a:r>
                      <a:endParaRPr lang="en-US" sz="1300" dirty="0">
                        <a:latin typeface="IBM Plex Sans" charset="0"/>
                        <a:ea typeface="IBM Plex Sans" charset="0"/>
                        <a:cs typeface="IBM Plex Sans" charset="0"/>
                      </a:endParaRPr>
                    </a:p>
                  </a:txBody>
                  <a:tcPr marL="114300" marR="114300" marT="76200" marB="762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61"/>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D1–D8 follow the project brief; D9 covers the common deliverables</a:t>
            </a:r>
            <a:endParaRPr lang="en-US" sz="1200" dirty="0"/>
          </a:p>
        </p:txBody>
      </p:sp>
      <p:sp>
        <p:nvSpPr>
          <p:cNvPr id="6" name="Text 3"/>
          <p:cNvSpPr/>
          <p:nvPr/>
        </p:nvSpPr>
        <p:spPr>
          <a:xfrm>
            <a:off x="8763000" y="6238261"/>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6D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3 · DELIVERABLES · SCOPE</a:t>
            </a:r>
            <a:endParaRPr lang="en-US" sz="1200" dirty="0"/>
          </a:p>
        </p:txBody>
      </p:sp>
      <p:sp>
        <p:nvSpPr>
          <p:cNvPr id="3" name="Text 1"/>
          <p:cNvSpPr/>
          <p:nvPr>
            <p:ph type="title"/>
          </p:nvPr>
        </p:nvSpPr>
        <p:spPr>
          <a:xfrm>
            <a:off x="812800" y="1127745"/>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Stretch goals, and what’s out of scope</a:t>
            </a:r>
            <a:endParaRPr lang="en-US" sz="3200" dirty="0"/>
          </a:p>
        </p:txBody>
      </p:sp>
      <p:sp>
        <p:nvSpPr>
          <p:cNvPr id="4" name="Shape 2"/>
          <p:cNvSpPr/>
          <p:nvPr/>
        </p:nvSpPr>
        <p:spPr>
          <a:xfrm>
            <a:off x="819150" y="1885863"/>
            <a:ext cx="5154789" cy="2273388"/>
          </a:xfrm>
          <a:prstGeom prst="roundRect">
            <a:avLst>
              <a:gd name="adj" fmla="val 4190"/>
            </a:avLst>
          </a:prstGeom>
          <a:solidFill>
            <a:srgbClr val="F5F3EE"/>
          </a:solidFill>
          <a:ln w="12700">
            <a:solidFill>
              <a:srgbClr val="2E6BC0"/>
            </a:solidFill>
            <a:prstDash val="solid"/>
          </a:ln>
        </p:spPr>
      </p:sp>
      <p:sp>
        <p:nvSpPr>
          <p:cNvPr id="5" name="Text 3"/>
          <p:cNvSpPr/>
          <p:nvPr/>
        </p:nvSpPr>
        <p:spPr>
          <a:xfrm>
            <a:off x="1078089" y="2093999"/>
            <a:ext cx="477601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6BC0"/>
                </a:solidFill>
                <a:latin typeface="JetBrains Mono" pitchFamily="49" charset="0"/>
                <a:ea typeface="JetBrains Mono" pitchFamily="49" charset="-122"/>
                <a:cs typeface="JetBrains Mono" pitchFamily="49" charset="-120"/>
              </a:rPr>
              <a:t>IF TIME ALLOWS · NOT COMMITTED</a:t>
            </a:r>
            <a:endParaRPr lang="en-US" sz="1200" dirty="0"/>
          </a:p>
        </p:txBody>
      </p:sp>
      <p:sp>
        <p:nvSpPr>
          <p:cNvPr id="6" name="Text 4"/>
          <p:cNvSpPr/>
          <p:nvPr/>
        </p:nvSpPr>
        <p:spPr>
          <a:xfrm>
            <a:off x="1078089" y="2408944"/>
            <a:ext cx="4776018"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3A"/>
                </a:solidFill>
                <a:latin typeface="Space Grotesk" pitchFamily="34" charset="0"/>
                <a:ea typeface="Space Grotesk" pitchFamily="34" charset="-122"/>
                <a:cs typeface="Space Grotesk" pitchFamily="34" charset="-120"/>
              </a:rPr>
              <a:t>Stretch goals</a:t>
            </a:r>
            <a:endParaRPr lang="en-US" sz="1600" dirty="0"/>
          </a:p>
        </p:txBody>
      </p:sp>
      <p:sp>
        <p:nvSpPr>
          <p:cNvPr id="7" name="Text 5"/>
          <p:cNvSpPr/>
          <p:nvPr/>
        </p:nvSpPr>
        <p:spPr>
          <a:xfrm>
            <a:off x="1163433" y="2754313"/>
            <a:ext cx="4683054" cy="1222199"/>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D4859"/>
                </a:solidFill>
                <a:latin typeface="IBM Plex Sans" pitchFamily="34" charset="0"/>
                <a:ea typeface="IBM Plex Sans" pitchFamily="34" charset="-122"/>
                <a:cs typeface="IBM Plex Sans" pitchFamily="34" charset="-120"/>
              </a:rPr>
              <a:t>Finish the full mission after the fault in every trial</a:t>
            </a:r>
            <a:endParaRPr lang="en-US" sz="1300" dirty="0"/>
          </a:p>
          <a:p>
            <a:pPr algn="l" marL="168656" indent="-168656">
              <a:lnSpc>
                <a:spcPts val="1885"/>
              </a:lnSpc>
              <a:buSzPct val="100000"/>
              <a:buChar char="•"/>
            </a:pPr>
            <a:r>
              <a:rPr lang="en-US" sz="1300" dirty="0">
                <a:solidFill>
                  <a:srgbClr val="3D4859"/>
                </a:solidFill>
                <a:latin typeface="IBM Plex Sans" pitchFamily="34" charset="0"/>
                <a:ea typeface="IBM Plex Sans" pitchFamily="34" charset="-122"/>
                <a:cs typeface="IBM Plex Sans" pitchFamily="34" charset="-120"/>
              </a:rPr>
              <a:t>A closed-loop RPM cap that holds 50% as the battery drains</a:t>
            </a:r>
            <a:endParaRPr lang="en-US" sz="1300" dirty="0"/>
          </a:p>
          <a:p>
            <a:pPr algn="l" marL="168656" indent="-168656">
              <a:lnSpc>
                <a:spcPts val="1885"/>
              </a:lnSpc>
              <a:buSzPct val="100000"/>
              <a:buChar char="•"/>
            </a:pPr>
            <a:r>
              <a:rPr lang="en-US" sz="1300" dirty="0">
                <a:solidFill>
                  <a:srgbClr val="3D4859"/>
                </a:solidFill>
                <a:latin typeface="IBM Plex Sans" pitchFamily="34" charset="0"/>
                <a:ea typeface="IBM Plex Sans" pitchFamily="34" charset="-122"/>
                <a:cs typeface="IBM Plex Sans" pitchFamily="34" charset="-120"/>
              </a:rPr>
              <a:t>Compare the default mixer with ours in real flight (we commit to this in simulation only)</a:t>
            </a:r>
            <a:endParaRPr lang="en-US" sz="1300" dirty="0"/>
          </a:p>
        </p:txBody>
      </p:sp>
      <p:sp>
        <p:nvSpPr>
          <p:cNvPr id="8" name="Shape 6"/>
          <p:cNvSpPr/>
          <p:nvPr/>
        </p:nvSpPr>
        <p:spPr>
          <a:xfrm>
            <a:off x="6234289" y="1879513"/>
            <a:ext cx="5144911" cy="2286088"/>
          </a:xfrm>
          <a:prstGeom prst="roundRect">
            <a:avLst>
              <a:gd name="adj" fmla="val 4444"/>
            </a:avLst>
          </a:prstGeom>
          <a:solidFill>
            <a:srgbClr val="F5F3EE"/>
          </a:solidFill>
          <a:ln/>
        </p:spPr>
      </p:sp>
      <p:sp>
        <p:nvSpPr>
          <p:cNvPr id="9" name="Text 7"/>
          <p:cNvSpPr/>
          <p:nvPr/>
        </p:nvSpPr>
        <p:spPr>
          <a:xfrm>
            <a:off x="6488289" y="2082713"/>
            <a:ext cx="4776018"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JetBrains Mono" pitchFamily="49" charset="0"/>
                <a:ea typeface="JetBrains Mono" pitchFamily="49" charset="-122"/>
                <a:cs typeface="JetBrains Mono" pitchFamily="49" charset="-120"/>
              </a:rPr>
              <a:t>NOT PART OF THIS PROJECT</a:t>
            </a:r>
            <a:endParaRPr lang="en-US" sz="1200" dirty="0"/>
          </a:p>
        </p:txBody>
      </p:sp>
      <p:sp>
        <p:nvSpPr>
          <p:cNvPr id="10" name="Text 8"/>
          <p:cNvSpPr/>
          <p:nvPr/>
        </p:nvSpPr>
        <p:spPr>
          <a:xfrm>
            <a:off x="6488289" y="2397652"/>
            <a:ext cx="4776018" cy="269169"/>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03A"/>
                </a:solidFill>
                <a:latin typeface="Space Grotesk" pitchFamily="34" charset="0"/>
                <a:ea typeface="Space Grotesk" pitchFamily="34" charset="-122"/>
                <a:cs typeface="Space Grotesk" pitchFamily="34" charset="-120"/>
              </a:rPr>
              <a:t>Out of scope</a:t>
            </a:r>
            <a:endParaRPr lang="en-US" sz="1600" dirty="0"/>
          </a:p>
        </p:txBody>
      </p:sp>
      <p:sp>
        <p:nvSpPr>
          <p:cNvPr id="11" name="Text 9"/>
          <p:cNvSpPr/>
          <p:nvPr/>
        </p:nvSpPr>
        <p:spPr>
          <a:xfrm>
            <a:off x="6573633" y="2743026"/>
            <a:ext cx="4683054" cy="743479"/>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D4859"/>
                </a:solidFill>
                <a:latin typeface="IBM Plex Sans" pitchFamily="34" charset="0"/>
                <a:ea typeface="IBM Plex Sans" pitchFamily="34" charset="-122"/>
                <a:cs typeface="IBM Plex Sans" pitchFamily="34" charset="-120"/>
              </a:rPr>
              <a:t>Detecting or identifying the fault (the brief excludes it)</a:t>
            </a:r>
            <a:endParaRPr lang="en-US" sz="1300" dirty="0"/>
          </a:p>
          <a:p>
            <a:pPr algn="l" marL="168656" indent="-168656">
              <a:lnSpc>
                <a:spcPts val="1885"/>
              </a:lnSpc>
              <a:buSzPct val="100000"/>
              <a:buChar char="•"/>
            </a:pPr>
            <a:r>
              <a:rPr lang="en-US" sz="1300" dirty="0">
                <a:solidFill>
                  <a:srgbClr val="3D4859"/>
                </a:solidFill>
                <a:latin typeface="IBM Plex Sans" pitchFamily="34" charset="0"/>
                <a:ea typeface="IBM Plex Sans" pitchFamily="34" charset="-122"/>
                <a:cs typeface="IBM Plex Sans" pitchFamily="34" charset="-120"/>
              </a:rPr>
              <a:t>Other faults, such as a fully stopped motor or a sensor failure</a:t>
            </a:r>
            <a:endParaRPr lang="en-US" sz="1300" dirty="0"/>
          </a:p>
        </p:txBody>
      </p:sp>
      <p:sp>
        <p:nvSpPr>
          <p:cNvPr id="12" name="Text 10"/>
          <p:cNvSpPr/>
          <p:nvPr/>
        </p:nvSpPr>
        <p:spPr>
          <a:xfrm>
            <a:off x="812800" y="4470400"/>
            <a:ext cx="10883392" cy="27428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After the fault, our commitment is to finish the mission or land safely, as the brief allows.</a:t>
            </a:r>
            <a:endParaRPr lang="en-US" sz="1400" dirty="0"/>
          </a:p>
        </p:txBody>
      </p:sp>
      <p:sp>
        <p:nvSpPr>
          <p:cNvPr id="13" name="Text 11"/>
          <p:cNvSpPr/>
          <p:nvPr/>
        </p:nvSpPr>
        <p:spPr>
          <a:xfrm>
            <a:off x="812800" y="6238261"/>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Project 6 · Fault-Tolerant Quadrotor Control</a:t>
            </a:r>
            <a:endParaRPr lang="en-US" sz="1200" dirty="0"/>
          </a:p>
        </p:txBody>
      </p:sp>
      <p:sp>
        <p:nvSpPr>
          <p:cNvPr id="14" name="Text 12"/>
          <p:cNvSpPr/>
          <p:nvPr/>
        </p:nvSpPr>
        <p:spPr>
          <a:xfrm>
            <a:off x="8763000" y="6238261"/>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4 · COMPONENTS · AIRFRAME AND PROPULSION</a:t>
            </a:r>
            <a:endParaRPr lang="en-US" sz="1200" dirty="0"/>
          </a:p>
        </p:txBody>
      </p:sp>
      <p:sp>
        <p:nvSpPr>
          <p:cNvPr id="3" name="Text 1"/>
          <p:cNvSpPr/>
          <p:nvPr>
            <p:ph type="title"/>
          </p:nvPr>
        </p:nvSpPr>
        <p:spPr>
          <a:xfrm>
            <a:off x="812800" y="1127745"/>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Picked for thrust margin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90802"/>
          <a:ext cx="10555111" cy="2876726"/>
        </p:xfrm>
        <a:graphic>
          <a:graphicData uri="http://schemas.openxmlformats.org/drawingml/2006/table">
            <a:tbl>
              <a:tblPr/>
              <a:tblGrid>
                <a:gridCol w="2322124"/>
                <a:gridCol w="3166533"/>
                <a:gridCol w="5066453"/>
              </a:tblGrid>
              <a:tr h="437974">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Component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Our choice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131D31"/>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Why we need it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131D31"/>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r>
              <a:tr h="437974">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Frame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5″ carbon X, ~250 mm</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Light, survives crashes, and spare arms are cheap</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86858">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Motors ×4</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2306, ~2450 KV, 4S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Enough thrust for T/W ≈ 7:1, so the weak motor still holds its corner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r>
              <a:tr h="437974">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ESC (4-in-1)</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45–55 A, RPM telemetry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Lets us measure and log the real motor RPM</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37974">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Propellers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5″ tri-blade, 10 sets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Matched to the motors; props break, so we need spares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r>
              <a:tr h="437974">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Batteries ×3</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4S LiPo, 1300–1500 mAh</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Several test flights per session, since a charge takes an hour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61"/>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Project 6 · Fault-Tolerant Quadrotor Control</a:t>
            </a:r>
            <a:endParaRPr lang="en-US" sz="1200" dirty="0"/>
          </a:p>
        </p:txBody>
      </p:sp>
      <p:sp>
        <p:nvSpPr>
          <p:cNvPr id="6" name="Text 3"/>
          <p:cNvSpPr/>
          <p:nvPr/>
        </p:nvSpPr>
        <p:spPr>
          <a:xfrm>
            <a:off x="8763000" y="6238261"/>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64E10"/>
                </a:solidFill>
                <a:latin typeface="IBM Plex Sans" pitchFamily="34" charset="0"/>
                <a:ea typeface="IBM Plex Sans" pitchFamily="34" charset="-122"/>
                <a:cs typeface="IBM Plex Sans" pitchFamily="34" charset="-120"/>
              </a:rPr>
              <a:t>4 · COMPONENTS · CONTROL, SENSING AND SAFETY</a:t>
            </a:r>
            <a:endParaRPr lang="en-US" sz="1200" dirty="0"/>
          </a:p>
        </p:txBody>
      </p:sp>
      <p:sp>
        <p:nvSpPr>
          <p:cNvPr id="3" name="Text 1"/>
          <p:cNvSpPr/>
          <p:nvPr>
            <p:ph type="title"/>
          </p:nvPr>
        </p:nvSpPr>
        <p:spPr>
          <a:xfrm>
            <a:off x="812800" y="1127745"/>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03A"/>
                </a:solidFill>
                <a:latin typeface="Space Grotesk" pitchFamily="34" charset="0"/>
                <a:ea typeface="Space Grotesk" pitchFamily="34" charset="-122"/>
                <a:cs typeface="Space Grotesk" pitchFamily="34" charset="-120"/>
              </a:rPr>
              <a:t>Picked for coding and safe testing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890802"/>
          <a:ext cx="10555111" cy="2876726"/>
        </p:xfrm>
        <a:graphic>
          <a:graphicData uri="http://schemas.openxmlformats.org/drawingml/2006/table">
            <a:tbl>
              <a:tblPr/>
              <a:tblGrid>
                <a:gridCol w="2322124"/>
                <a:gridCol w="3166533"/>
                <a:gridCol w="5066453"/>
              </a:tblGrid>
              <a:tr h="437974">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Component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Our choice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131D31"/>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c>
                  <a:txBody>
                    <a:bodyPr/>
                    <a:lstStyle/>
                    <a:p>
                      <a:pPr indent="0" marL="0">
                        <a:lnSpc>
                          <a:spcPts val="1960"/>
                        </a:lnSpc>
                        <a:buNone/>
                      </a:pPr>
                      <a:r>
                        <a:rPr lang="en-US" sz="1400" b="1" dirty="0">
                          <a:solidFill>
                            <a:srgbClr val="F5F3EE"/>
                          </a:solidFill>
                          <a:latin typeface="IBM Plex Sans" pitchFamily="34" charset="0"/>
                          <a:ea typeface="IBM Plex Sans" pitchFamily="34" charset="-122"/>
                          <a:cs typeface="IBM Plex Sans" pitchFamily="34" charset="-120"/>
                        </a:rPr>
                        <a:t>Why we need it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131D31"/>
                      </a:solidFill>
                      <a:prstDash val="solid"/>
                      <a:round/>
                      <a:headEnd type="none" w="med" len="med"/>
                      <a:tailEnd type="none" w="med" len="med"/>
                    </a:lnL>
                    <a:lnR w="12700" cap="flat" cmpd="sng" algn="ctr">
                      <a:solidFill>
                        <a:srgbClr val="131D3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31"/>
                      </a:solidFill>
                      <a:prstDash val="solid"/>
                      <a:round/>
                      <a:headEnd type="none" w="med" len="med"/>
                      <a:tailEnd type="none" w="med" len="med"/>
                    </a:lnB>
                    <a:solidFill>
                      <a:srgbClr val="13203A"/>
                    </a:solidFill>
                  </a:tcPr>
                </a:tc>
              </a:tr>
              <a:tr h="437974">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Flight controller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H7 board running PX4</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We can change its allocation code, and it logs every flight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3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686858">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Position sensor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GPS + compass (outdoor) or optical flow (indoor)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The drone has to know where it is to fly waypoints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r>
              <a:tr h="437974">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Telemetry link</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WiFi module or SiK radio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Carries the fault notification; we watch the flight live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437974">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RC transmitter + receiver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With two spare switches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Kill switch (a safety rule) and a fault on/off switch for tests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CBAB4"/>
                      </a:solidFill>
                      <a:prstDash val="solid"/>
                      <a:round/>
                      <a:headEnd type="none" w="med" len="med"/>
                      <a:tailEnd type="none" w="med" len="med"/>
                    </a:lnL>
                    <a:lnR w="12700" cap="flat" cmpd="sng" algn="ctr">
                      <a:solidFill>
                        <a:srgbClr val="BCBAB4"/>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AB4"/>
                      </a:solidFill>
                      <a:prstDash val="solid"/>
                      <a:round/>
                      <a:headEnd type="none" w="med" len="med"/>
                      <a:tailEnd type="none" w="med" len="med"/>
                    </a:lnB>
                    <a:solidFill>
                      <a:srgbClr val="ECE9E1"/>
                    </a:solidFill>
                  </a:tcPr>
                </a:tc>
              </a:tr>
              <a:tr h="437974">
                <a:tc>
                  <a:txBody>
                    <a:bodyPr/>
                    <a:lstStyle/>
                    <a:p>
                      <a:pPr indent="0" marL="0">
                        <a:lnSpc>
                          <a:spcPts val="1960"/>
                        </a:lnSpc>
                        <a:buNone/>
                      </a:pPr>
                      <a:r>
                        <a:rPr lang="en-US" sz="1400" dirty="0">
                          <a:solidFill>
                            <a:srgbClr val="13203A"/>
                          </a:solidFill>
                          <a:latin typeface="IBM Plex Sans" pitchFamily="34" charset="0"/>
                          <a:ea typeface="IBM Plex Sans" pitchFamily="34" charset="-122"/>
                          <a:cs typeface="IBM Plex Sans" pitchFamily="34" charset="-120"/>
                        </a:rPr>
                        <a:t>Test gear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Tether rig, spare motor and arm</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3D4859"/>
                          </a:solidFill>
                          <a:latin typeface="IBM Plex Sans" pitchFamily="34" charset="0"/>
                          <a:ea typeface="IBM Plex Sans" pitchFamily="34" charset="-122"/>
                          <a:cs typeface="IBM Plex Sans" pitchFamily="34" charset="-120"/>
                        </a:rPr>
                        <a:t>Safe first fault tests; quick repairs after a crash</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AB4"/>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61"/>
            <a:ext cx="7848600" cy="23874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Estimated total ≈ ₹45,000–55,000, less with items borrowed from the lab</a:t>
            </a:r>
            <a:endParaRPr lang="en-US" sz="1200" dirty="0"/>
          </a:p>
        </p:txBody>
      </p:sp>
      <p:sp>
        <p:nvSpPr>
          <p:cNvPr id="6" name="Text 3"/>
          <p:cNvSpPr/>
          <p:nvPr/>
        </p:nvSpPr>
        <p:spPr>
          <a:xfrm>
            <a:off x="8763000" y="6238261"/>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6270"/>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0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4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8A3C"/>
                </a:solidFill>
                <a:latin typeface="IBM Plex Sans" pitchFamily="34" charset="0"/>
                <a:ea typeface="IBM Plex Sans" pitchFamily="34" charset="-122"/>
                <a:cs typeface="IBM Plex Sans" pitchFamily="34" charset="-120"/>
              </a:rPr>
              <a:t>BEFORE WE FINALIZE</a:t>
            </a:r>
            <a:endParaRPr lang="en-US" sz="1200" dirty="0"/>
          </a:p>
        </p:txBody>
      </p:sp>
      <p:sp>
        <p:nvSpPr>
          <p:cNvPr id="3" name="Text 1"/>
          <p:cNvSpPr/>
          <p:nvPr>
            <p:ph type="title"/>
          </p:nvPr>
        </p:nvSpPr>
        <p:spPr>
          <a:xfrm>
            <a:off x="812800" y="1127745"/>
            <a:ext cx="10883392" cy="472369"/>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Space Grotesk" pitchFamily="34" charset="0"/>
                <a:ea typeface="Space Grotesk" pitchFamily="34" charset="-122"/>
                <a:cs typeface="Space Grotesk" pitchFamily="34" charset="-120"/>
              </a:rPr>
              <a:t>A few points we’d like to confirm</a:t>
            </a:r>
            <a:endParaRPr lang="en-US" sz="3200" dirty="0"/>
          </a:p>
        </p:txBody>
      </p:sp>
      <p:sp>
        <p:nvSpPr>
          <p:cNvPr id="4" name="Text 2"/>
          <p:cNvSpPr/>
          <p:nvPr/>
        </p:nvSpPr>
        <p:spPr>
          <a:xfrm>
            <a:off x="841551" y="1879513"/>
            <a:ext cx="10847021" cy="1244600"/>
          </a:xfrm>
          <a:prstGeom prst="rect">
            <a:avLst/>
          </a:prstGeom>
          <a:noFill/>
          <a:ln/>
        </p:spPr>
        <p:txBody>
          <a:bodyPr wrap="square" lIns="0" tIns="0" rIns="0" bIns="0" rtlCol="0" anchor="t">
            <a:normAutofit/>
          </a:bodyPr>
          <a:lstStyle/>
          <a:p>
            <a:pPr algn="l" marL="225249" indent="-225249">
              <a:lnSpc>
                <a:spcPts val="2400"/>
              </a:lnSpc>
              <a:buSzPct val="100000"/>
              <a:buFontTx/>
              <a:buAutoNum type="arabicPeriod" startAt="1"/>
            </a:pPr>
            <a:r>
              <a:rPr lang="en-US" sz="1600" dirty="0">
                <a:solidFill>
                  <a:srgbClr val="F5F3EE"/>
                </a:solidFill>
                <a:latin typeface="IBM Plex Sans" pitchFamily="34" charset="0"/>
                <a:ea typeface="IBM Plex Sans" pitchFamily="34" charset="-122"/>
                <a:cs typeface="IBM Plex Sans" pitchFamily="34" charset="-120"/>
              </a:rPr>
              <a:t>How will the fault be applied and signalled on demo day?</a:t>
            </a:r>
            <a:endParaRPr lang="en-US" sz="1600" dirty="0"/>
          </a:p>
          <a:p>
            <a:pPr algn="l" marL="225249" indent="-225249">
              <a:lnSpc>
                <a:spcPts val="2400"/>
              </a:lnSpc>
              <a:buSzPct val="100000"/>
              <a:buFontTx/>
              <a:buAutoNum type="arabicPeriod" startAt="1"/>
            </a:pPr>
            <a:r>
              <a:rPr lang="en-US" sz="1600" dirty="0">
                <a:solidFill>
                  <a:srgbClr val="F5F3EE"/>
                </a:solidFill>
                <a:latin typeface="IBM Plex Sans" pitchFamily="34" charset="0"/>
                <a:ea typeface="IBM Plex Sans" pitchFamily="34" charset="-122"/>
                <a:cs typeface="IBM Plex Sans" pitchFamily="34" charset="-120"/>
              </a:rPr>
              <a:t>Will the demo be indoors or outdoors?</a:t>
            </a:r>
            <a:endParaRPr lang="en-US" sz="1600" dirty="0"/>
          </a:p>
          <a:p>
            <a:pPr algn="l" marL="225249" indent="-225249">
              <a:lnSpc>
                <a:spcPts val="2400"/>
              </a:lnSpc>
              <a:buSzPct val="100000"/>
              <a:buFontTx/>
              <a:buAutoNum type="arabicPeriod" startAt="1"/>
            </a:pPr>
            <a:r>
              <a:rPr lang="en-US" sz="1600" dirty="0">
                <a:solidFill>
                  <a:srgbClr val="F5F3EE"/>
                </a:solidFill>
                <a:latin typeface="IBM Plex Sans" pitchFamily="34" charset="0"/>
                <a:ea typeface="IBM Plex Sans" pitchFamily="34" charset="-122"/>
                <a:cs typeface="IBM Plex Sans" pitchFamily="34" charset="-120"/>
              </a:rPr>
              <a:t>Can we build on PX4, with our own allocation and mission code?</a:t>
            </a:r>
            <a:endParaRPr lang="en-US" sz="1600" dirty="0"/>
          </a:p>
          <a:p>
            <a:pPr algn="l" marL="225249" indent="-225249">
              <a:lnSpc>
                <a:spcPts val="2400"/>
              </a:lnSpc>
              <a:buSzPct val="100000"/>
              <a:buFontTx/>
              <a:buAutoNum type="arabicPeriod" startAt="1"/>
            </a:pPr>
            <a:r>
              <a:rPr lang="en-US" sz="1600" dirty="0">
                <a:solidFill>
                  <a:srgbClr val="F5F3EE"/>
                </a:solidFill>
                <a:latin typeface="IBM Plex Sans" pitchFamily="34" charset="0"/>
                <a:ea typeface="IBM Plex Sans" pitchFamily="34" charset="-122"/>
                <a:cs typeface="IBM Plex Sans" pitchFamily="34" charset="-120"/>
              </a:rPr>
              <a:t>Does the lab provide a base drone, parts or a budget?</a:t>
            </a:r>
            <a:endParaRPr lang="en-US" sz="1600" dirty="0"/>
          </a:p>
        </p:txBody>
      </p:sp>
      <p:sp>
        <p:nvSpPr>
          <p:cNvPr id="5" name="Text 3"/>
          <p:cNvSpPr/>
          <p:nvPr/>
        </p:nvSpPr>
        <p:spPr>
          <a:xfrm>
            <a:off x="812800" y="5450861"/>
            <a:ext cx="10883392" cy="416542"/>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A3C"/>
                </a:solidFill>
                <a:latin typeface="Space Grotesk" pitchFamily="34" charset="0"/>
                <a:ea typeface="Space Grotesk" pitchFamily="34" charset="-122"/>
                <a:cs typeface="Space Grotesk" pitchFamily="34" charset="-120"/>
              </a:rPr>
              <a:t>Thank you. Questions welcome.</a:t>
            </a:r>
            <a:endParaRPr lang="en-US" sz="2200" dirty="0"/>
          </a:p>
        </p:txBody>
      </p:sp>
      <p:sp>
        <p:nvSpPr>
          <p:cNvPr id="6" name="Text 4"/>
          <p:cNvSpPr/>
          <p:nvPr/>
        </p:nvSpPr>
        <p:spPr>
          <a:xfrm>
            <a:off x="8763000" y="6238261"/>
            <a:ext cx="2616200" cy="238742"/>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5CFDC"/>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theme/theme1.xml><?xml version="1.0" encoding="utf-8"?>
<a:theme xmlns:a="http://schemas.openxmlformats.org/drawingml/2006/main" name="Fault-Tolerant Quadrotor Control — Project Presentation">
  <a:themeElements>
    <a:clrScheme name="Fault-Tolerant Quadrotor Control — Project Presentation">
      <a:dk1>
        <a:srgbClr val="13203A"/>
      </a:dk1>
      <a:lt1>
        <a:srgbClr val="F5F3EE"/>
      </a:lt1>
      <a:dk2>
        <a:srgbClr val="4C5567"/>
      </a:dk2>
      <a:lt2>
        <a:srgbClr val="DEDEDC"/>
      </a:lt2>
      <a:accent1>
        <a:srgbClr val="A64E10"/>
      </a:accent1>
      <a:accent2>
        <a:srgbClr val="F08A3C"/>
      </a:accent2>
      <a:accent3>
        <a:srgbClr val="2E6BC0"/>
      </a:accent3>
      <a:accent4>
        <a:srgbClr val="3D4859"/>
      </a:accent4>
      <a:accent5>
        <a:srgbClr val="5A6270"/>
      </a:accent5>
      <a:accent6>
        <a:srgbClr val="C5CFDC"/>
      </a:accent6>
      <a:hlink>
        <a:srgbClr val="0563C1"/>
      </a:hlink>
      <a:folHlink>
        <a:srgbClr val="954F72"/>
      </a:folHlink>
    </a:clrScheme>
    <a:fontScheme name="Fault-Tolerant Quadrotor Control — Project Presentati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Fault-Tolerant Quadrotor Control — Project Presentation</dc:title>
  <dc:subject/>
  <dc:creator/>
  <cp:lastModifiedBy/>
  <cp:revision>1</cp:revision>
  <dcterms:created xsi:type="dcterms:W3CDTF">2026-10-26T10:58:23Z</dcterms:created>
  <dcterms:modified xsi:type="dcterms:W3CDTF">2026-10-26T10:58:23Z</dcterms:modified>
</cp:coreProperties>
</file>