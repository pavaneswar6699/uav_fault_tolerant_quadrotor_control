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1" r:id="rId22"/>
    <p:sldId id="257" r:id="rId3"/>
    <p:sldId id="258" r:id="rId4"/>
    <p:sldId id="259" r:id="rId5"/>
    <p:sldId id="260" r:id="rId6"/>
    <p:sldId id="261" r:id="rId7"/>
    <p:sldId id="262" r:id="rId8"/>
    <p:sldId id="263" r:id="rId9"/>
    <p:sldId id="264" r:id="rId10"/>
    <p:sldId id="265" r:id="rId11"/>
    <p:sldId id="266" r:id="rId12"/>
    <p:sldId id="272" r:id="rId23"/>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5d5c2dd-96b9-084e-e1d5-30fd64d5215d}">
          <p14:sldIdLst>
            <p14:sldId id="256"/>
          </p14:sldIdLst>
        </p14:section>
        <p14:section name="Objectives" id="{6b9af30e-d2a3-bc30-e53b-2b62bbdbbf89}">
          <p14:sldIdLst>
            <p14:sldId id="257"/>
            <p14:sldId id="258"/>
            <p14:sldId id="259"/>
          </p14:sldIdLst>
        </p14:section>
        <p14:section name="Solution framework" id="{787b193c-ed92-0e62-52a1-d12b78577f48}">
          <p14:sldIdLst>
            <p14:sldId id="260"/>
            <p14:sldId id="261"/>
            <p14:sldId id="262"/>
            <p14:sldId id="263"/>
            <p14:sldId id="264"/>
            <p14:sldId id="265"/>
            <p14:sldId id="266"/>
          </p14:sldIdLst>
        </p14:section>
        <p14:section name="Deliverables" id="{f4573102-2862-4e54-1779-3700db6b2226}">
          <p14:sldIdLst>
            <p14:sldId id="267"/>
            <p14:sldId id="268"/>
          </p14:sldIdLst>
        </p14:section>
        <p14:section name="Components" id="{5acfab49-077f-b5c4-aaee-2b65a33cfd91}">
          <p14:sldIdLst>
            <p14:sldId id="269"/>
          </p14:sldIdLst>
        </p14:section>
        <p14:section name="Close" id="{4c73b78a-dcff-cb06-03ca-0e46fad86a7b}">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We're Team LUGER, working on Project 6, fault-tolerant quadrotor control. In one line: we're making a quadrotor keep flying its path even when one motor is limited to half its normal speed. That's the orange motor here. Our platform is a Crazyflie nano quadrotor. We'll cover our objectives, our solution framework, the deliverables we're committing to, and the components we're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five objectives, all from the project brief. One: fly a quadrotor autonomously around a rectangle, using a Crazyflie as our platform, with all motors healthy. That's our baseline, and every result after the fault is compared against it. Two: partway through, one motor is limited to 50% of its maximum RPM, and the controller is told which one. Three: the controller adapts so the drone stays under control. Four: it then finishes the rectangle, or ends the mission and lands safely. Five: every flight is logged, so each claim is backed by data. The demo is outdoors on a football ground. Detecting the fault is out of scope: the brief says we're told which motor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why this is hard. Propeller thrust goes with the square of its speed, so half the RPM leaves only a quarter of the thrust. To stay level and keep its heading, every motor must carry a quarter of the weight. The weak motor can only do that if the drone's thrust-to-weight ratio is at least 4 to 1. Our platform, a Crazyflie, has about 2.2 to 1 for the standard model and about 3.5 to 1 for the Brushless. So on our drone, the weak motor can't hold up its corner. The answer from the research literature is to give up heading control: the drone spins, and we keep it level and on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idea, shown on a standard Crazyflie. In hover each motor needs 6.75 grams, but the weak motor can only give about 3.75. Its diagonal partner drops to match it, because equal diagonals keep the drone level. The other two motors carry the rest, about 9.75 grams each, well within their 15 gram limit. The total is still 27 grams. The cost is heading: diagonal motors spin the same way, so the twisting forces no longer cancel and the drone spins. We stop controlling which way it faces and control only which way its thrust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architecture. Work is split between the laptop and the drone. On the laptop: the mission, which is the rectangle and a small state machine; a position MPC that plans the motion; and the health check and logging. The laptop sends setpoints over the radio link and receives telemetry back. On the drone, at 500 times a second: INDI attitude control, which we adapt from the drone's firmware, and WLS motor allocation, which replaces the stock mixer. The orange boxes are code we write or change. The fault message goes from the laptop to the drone. Why not run everything on the laptop? The radio adds around 10 milliseconds of delay, too slow for stabilising a spinning drone, so the fast loop has to stay onboard.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control layers. First, the position MPC on the laptop. It looks about a second ahead, plans the motion along the rectangle, and never plans a move the damaged drone can't make. It also estimates a steady wind and leans into it, which matters outdoors. Second, INDI on the drone. Instead of trusting a model, it measures how the rotation is actually changing and corrects the difference. A weak motor or a gust just appears as a measured disturbance, and INDI cancels it. Third, WLS allocation. It splits the work across the four motors, respecting each motor's own limit, with a clear priority: stay level first, then hold height, and heading last. We need it because the stock mixer assumes every motor is equally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exactly what happens at the fault. The evaluator caps motor k at 50% RPM, and our laptop sends the message 'motor k is at 50%' over the radio link. The controller switches to fault mode, ramping over about 0.2 seconds so nothing jumps. Four things change. Motor k's limit drops to 25% of its maximum thrust. Heading is released, and we control only the thrust direction. The allocation stops spending effort on heading. And the MPC tightens its limits: about two and a half motors' worth of thrust instead of four, with lower tilt and speed. In our own tests, one laptop command applies the cap and sends the message together. Since half RPM means a quarter thrust, we calibrate the cap on a thrust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exactly what happens after the fault. One: the fault is applied, so motor k is capped at 50% RPM, which leaves 25% of its thrust. Two: the laptop sends the drone the message 'motor k is at 50%'. Three: the controller switches to fault mode: motor k's limit drops to 25%, heading is released, and the MPC limits are tightened. Four: the drone starts to spin, but INDI and WLS allocation keep it level. Five: it holds position for two to three seconds to settle. Six: the health check looks at tilt, position, battery and wind. If everything is OK, it continues the rectangle at half speed and lands at A, which is our goal. If any check fails, it lands where it is. Both endings meet the brief. And at any time, if there's a sudden drop, it levels and uses full thrust, and if it's too low or upside down it cuts the motors.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is one rectangle. First, a baseline flight: A, B, C, D and back to A with all motors healthy. Then a second flight on the same path, and partway along B to C the fault is applied. The drone holds position for two to three seconds while the spin settles. Then it runs a health check: tilt, position error, battery and wind. If everything passes, it finishes the rectangle at half speed and lands at A. If anything fails, it lands where it is, which the brief also accepts. The size of the rectangle depends on the positioning system: about 2 metres a side with the Flow deck, larger with Loco anchors.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points. First, the demo is outdoors on a football ground. Our drone has no GPS, and the Lighthouse system fails in sunlight, so we plan to use Loco UWB radio anchors around the path, with the Flow deck as a fallback. Wind is the main risk for a 30 gram drone. INDI cancels gusts the same way it cancels the motor fault, and the MPC estimates a steady wind and leans into it. We'll fly in calm hours, low, over grass. Second, extreme cases, which we're still working on. For example, if the drone suddenly drops after completing a lap: we detect fast height loss or near-zero g, level the drone and use all available thrust to stop the fall. If it's too low or upside down, the motors are cut before impact, using the firmware's tumble check. A kill switch on the laptop is always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we'll build it, in five steps. First, a Python simulation in PyBullet, where we cap one motor and prove the algorithm works. Second, CrazySim, which runs the real Crazyflie firmware, so we can test our actual C code before flying. Third, baseline flights of the rectangle with all motors healthy. Fourth, fault tests at low height over grass. Fifth, the full demo on the football ground. We also have three fallback levels after the fault. Level A: spin and land safely, which already meets the brief. Level B: spin and hold position. Level C, our goal: spin and finish the rectangle. Each stage leaves us with a working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deliverables we're committing to. D1 to D8 follow the brief one to one, and the right column says how we'll prove each one. D1 is the Crazyflie integrated with positioning, the radio link and our firmware app, plus thrust calibration. D2 and D3 are normal flight: a stable baseline controller and the rectangle mission. D4 to D6 are the fault handling: the notification interface, the fault-tolerant strategy compared against the stock controller in simulation, and the reallocation and reconfiguration. D7 is the pair of demo flights. D8 is the decision after the fault: finish or land safely. D9 is the logs, data and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clear about scope. These stretch goals are things we'll try if time allows, but we're not committing to them: finishing the full rectangle in every fault trial, recovering from a sudden drop, and comparing the stock controller against ours in real flight, which we commit to in simulation only. Out of scope: detecting the fault, which the brief excludes, and other faults like a fully stopped motor or a sensor failure. Our commitment after the fault is to finish the rectangle or land safely, as the brief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components. Hardware: the Crazyflie nano quadrotor from the lab, which runs our control code; a Loco positioning deck with UWB anchors, which tells the drone where it is outdoors, with the Flow deck as a backup; the Crazyradio dongle, our radio link to the drone; and spare batteries and propellers. Software: the Crazyflie firmware, which we extend with our app containing INDI, WLS and the fault mode; cflib in Python for the mission, fault message and logging; CasADi or acados for the MPC on the laptop; the WLS solver from Paparazzi, ported to our app; and PyBullet and CrazySim for simulation. Everything is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problem: one motor at half speed leaves a quarter of its thrust, and a small quadrotor then can't stay level and hold its heading. Our approach: give up heading and let it spin, with MPC on the laptop planning within the new limits, and INDI with WLS allocation on the drone keeping it level. The demo: one rectangle on the football ground, a baseline flight and a fault flight that finishes or lands safely.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5760720" cy="12344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457200" y="4754880"/>
            <a:ext cx="6858000" cy="228600"/>
          </a:xfrm>
          <a:prstGeom prst="rect">
            <a:avLst/>
          </a:prstGeom>
          <a:noFill/>
          <a:ln/>
        </p:spPr>
        <p:txBody>
          <a:bodyPr wrap="square" lIns="0" tIns="0" rIns="0" bIns="0" rtlCol="0" anchor="ctr"/>
          <a:lstStyle/>
          <a:p>
            <a:pPr indent="0" marL="0">
              <a:buNone/>
            </a:pPr>
            <a:r>
              <a:rPr lang="en-US" sz="900" dirty="0">
                <a:solidFill>
                  <a:schemeClr val="tx2"/>
                </a:solidFill>
              </a:rPr>
              <a:t>Project 6 · Fault-Tolerant Quadrotor Control · Team LUGER</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5760720" cy="1234440"/>
          </a:xfrm>
          <a:prstGeom prst="rect">
            <a:avLst/>
          </a:prstGeom>
          <a:noFill/>
          <a:ln/>
        </p:spPr>
        <p:txBody>
          <a:bodyPr wrap="square" lIns="0" tIns="0" rIns="0" bIns="0" rtlCol="0" anchor="b"/>
          <a:lstStyle/>
          <a:p>
            <a:pPr algn="l" indent="0" marL="0">
              <a:buNone/>
            </a:pPr>
            <a:r>
              <a:rPr lang="en-US" sz="3600" b="1" dirty="0">
                <a:solidFill>
                  <a:schemeClr val="tx1"/>
                </a:solidFill>
              </a:rPr>
              <a:t>Fault-Tolerant Quadrotor Control</a:t>
            </a:r>
            <a:endParaRPr lang="en-US" sz="3600" dirty="0"/>
          </a:p>
        </p:txBody>
      </p:sp>
      <p:sp>
        <p:nvSpPr>
          <p:cNvPr id="3" name="Text 1"/>
          <p:cNvSpPr txBox="1"/>
          <p:nvPr/>
        </p:nvSpPr>
        <p:spPr>
          <a:xfrm>
            <a:off x="548640" y="960120"/>
            <a:ext cx="576072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PROJECT 6 · INTRODUCTION TO UAV DESIGN</a:t>
            </a:r>
            <a:endParaRPr lang="en-US" sz="1200" dirty="0"/>
          </a:p>
        </p:txBody>
      </p:sp>
      <p:sp>
        <p:nvSpPr>
          <p:cNvPr id="4" name="Text 2"/>
          <p:cNvSpPr txBox="1"/>
          <p:nvPr/>
        </p:nvSpPr>
        <p:spPr>
          <a:xfrm>
            <a:off x="548640" y="2697480"/>
            <a:ext cx="5486400" cy="640080"/>
          </a:xfrm>
          <a:prstGeom prst="rect">
            <a:avLst/>
          </a:prstGeom>
          <a:noFill/>
          <a:ln/>
        </p:spPr>
        <p:txBody>
          <a:bodyPr wrap="square" lIns="0" tIns="0" rIns="0" bIns="0" rtlCol="0" anchor="t"/>
          <a:lstStyle/>
          <a:p>
            <a:pPr indent="0" marL="0">
              <a:buNone/>
            </a:pPr>
            <a:r>
              <a:rPr lang="en-US" sz="1800" dirty="0">
                <a:solidFill>
                  <a:schemeClr val="tx2"/>
                </a:solidFill>
              </a:rPr>
              <a:t>A quadrotor that stays under control when one motor drops to 50% RPM mid-mission</a:t>
            </a:r>
            <a:endParaRPr lang="en-US" sz="1800" dirty="0"/>
          </a:p>
        </p:txBody>
      </p:sp>
      <p:sp>
        <p:nvSpPr>
          <p:cNvPr id="5" name="Text 3"/>
          <p:cNvSpPr txBox="1"/>
          <p:nvPr/>
        </p:nvSpPr>
        <p:spPr>
          <a:xfrm>
            <a:off x="548640" y="3383280"/>
            <a:ext cx="5486400" cy="274320"/>
          </a:xfrm>
          <a:prstGeom prst="rect">
            <a:avLst/>
          </a:prstGeom>
          <a:noFill/>
          <a:ln/>
        </p:spPr>
        <p:txBody>
          <a:bodyPr wrap="square" lIns="0" tIns="0" rIns="0" bIns="0" rtlCol="0" anchor="t"/>
          <a:lstStyle/>
          <a:p>
            <a:pPr indent="0" marL="0">
              <a:buNone/>
            </a:pPr>
            <a:r>
              <a:rPr lang="en-US" sz="1200" dirty="0">
                <a:solidFill>
                  <a:schemeClr val="tx2"/>
                </a:solidFill>
              </a:rPr>
              <a:t>Demonstrated on a Crazyflie 2.1 nano quadrotor</a:t>
            </a:r>
            <a:endParaRPr lang="en-US" sz="1200" dirty="0"/>
          </a:p>
        </p:txBody>
      </p:sp>
      <p:sp>
        <p:nvSpPr>
          <p:cNvPr id="6" name="Text 4"/>
          <p:cNvSpPr txBox="1"/>
          <p:nvPr/>
        </p:nvSpPr>
        <p:spPr>
          <a:xfrm>
            <a:off x="548640" y="3794760"/>
            <a:ext cx="5760720" cy="274320"/>
          </a:xfrm>
          <a:prstGeom prst="rect">
            <a:avLst/>
          </a:prstGeom>
          <a:noFill/>
          <a:ln/>
        </p:spPr>
        <p:txBody>
          <a:bodyPr wrap="square" lIns="0" tIns="0" rIns="0" bIns="0" rtlCol="0" anchor="t"/>
          <a:lstStyle/>
          <a:p>
            <a:pPr indent="0" marL="0">
              <a:buNone/>
            </a:pPr>
            <a:r>
              <a:rPr lang="en-US" sz="1300" b="1" dirty="0">
                <a:solidFill>
                  <a:schemeClr val="tx1"/>
                </a:solidFill>
              </a:rPr>
              <a:t>Team LUGER</a:t>
            </a:r>
            <a:endParaRPr lang="en-US" sz="1300" dirty="0"/>
          </a:p>
        </p:txBody>
      </p:sp>
      <p:sp>
        <p:nvSpPr>
          <p:cNvPr id="7" name="Text 5"/>
          <p:cNvSpPr txBox="1"/>
          <p:nvPr/>
        </p:nvSpPr>
        <p:spPr>
          <a:xfrm>
            <a:off x="548640" y="4069080"/>
            <a:ext cx="6035040" cy="502920"/>
          </a:xfrm>
          <a:prstGeom prst="rect">
            <a:avLst/>
          </a:prstGeom>
          <a:noFill/>
          <a:ln/>
        </p:spPr>
        <p:txBody>
          <a:bodyPr wrap="square" lIns="0" tIns="0" rIns="0" bIns="0" rtlCol="0" anchor="t"/>
          <a:lstStyle/>
          <a:p>
            <a:pPr indent="0" marL="0">
              <a:buNone/>
            </a:pPr>
            <a:r>
              <a:rPr lang="en-US" sz="1100" dirty="0">
                <a:solidFill>
                  <a:schemeClr val="tx2"/>
                </a:solidFill>
              </a:rPr>
              <a:t>Batta Venkata Shashank · Nelagonda Pavaneswar · Jetty Jithendra · Vineel Sai Reddy</a:t>
            </a:r>
            <a:endParaRPr lang="en-US" sz="1100" dirty="0"/>
          </a:p>
          <a:p>
            <a:pPr indent="0" marL="0">
              <a:buNone/>
            </a:pPr>
            <a:r>
              <a:rPr lang="en-US" sz="1100" dirty="0">
                <a:solidFill>
                  <a:schemeClr val="tx2"/>
                </a:solidFill>
              </a:rPr>
              <a:t>Hemanth · Shaik Babu · Prasad</a:t>
            </a:r>
            <a:endParaRPr lang="en-US" sz="1100" dirty="0"/>
          </a:p>
        </p:txBody>
      </p:sp>
      <p:sp>
        <p:nvSpPr>
          <p:cNvPr id="8" name="Shape 6"/>
          <p:cNvSpPr/>
          <p:nvPr/>
        </p:nvSpPr>
        <p:spPr>
          <a:xfrm>
            <a:off x="6903720" y="1645920"/>
            <a:ext cx="1371600" cy="1371600"/>
          </a:xfrm>
          <a:prstGeom prst="line">
            <a:avLst/>
          </a:prstGeom>
          <a:noFill/>
          <a:ln w="63500">
            <a:solidFill>
              <a:srgbClr val="9AA5B1"/>
            </a:solidFill>
            <a:prstDash val="solid"/>
          </a:ln>
        </p:spPr>
        <p:txBody>
          <a:bodyPr/>
          <a:p/>
        </p:txBody>
      </p:sp>
      <p:sp>
        <p:nvSpPr>
          <p:cNvPr id="9" name="Shape 7"/>
          <p:cNvSpPr/>
          <p:nvPr/>
        </p:nvSpPr>
        <p:spPr>
          <a:xfrm flipH="1">
            <a:off x="6903720" y="1645920"/>
            <a:ext cx="1371600" cy="1371600"/>
          </a:xfrm>
          <a:prstGeom prst="line">
            <a:avLst/>
          </a:prstGeom>
          <a:noFill/>
          <a:ln w="63500">
            <a:solidFill>
              <a:srgbClr val="9AA5B1"/>
            </a:solidFill>
            <a:prstDash val="solid"/>
          </a:ln>
        </p:spPr>
        <p:txBody>
          <a:bodyPr/>
          <a:p/>
        </p:txBody>
      </p:sp>
      <p:sp>
        <p:nvSpPr>
          <p:cNvPr id="10" name="Shape 8"/>
          <p:cNvSpPr/>
          <p:nvPr/>
        </p:nvSpPr>
        <p:spPr>
          <a:xfrm>
            <a:off x="7388352" y="2130552"/>
            <a:ext cx="402336" cy="402336"/>
          </a:xfrm>
          <a:prstGeom prst="roundRect">
            <a:avLst>
              <a:gd name="adj" fmla="val 13636"/>
            </a:avLst>
          </a:prstGeom>
          <a:solidFill>
            <a:schemeClr val="bg1"/>
          </a:solidFill>
          <a:ln w="15875">
            <a:solidFill>
              <a:srgbClr val="9AA5B1"/>
            </a:solidFill>
            <a:prstDash val="solid"/>
          </a:ln>
        </p:spPr>
        <p:txBody>
          <a:bodyPr/>
          <a:p/>
        </p:txBody>
      </p:sp>
      <p:sp>
        <p:nvSpPr>
          <p:cNvPr id="11" name="Shape 9"/>
          <p:cNvSpPr/>
          <p:nvPr/>
        </p:nvSpPr>
        <p:spPr>
          <a:xfrm>
            <a:off x="6537960" y="1280160"/>
            <a:ext cx="731520" cy="731520"/>
          </a:xfrm>
          <a:prstGeom prst="ellipse">
            <a:avLst/>
          </a:prstGeom>
          <a:solidFill>
            <a:srgbClr val="FFFFFF"/>
          </a:solidFill>
          <a:ln w="15875">
            <a:solidFill>
              <a:srgbClr val="9AA5B1"/>
            </a:solidFill>
            <a:prstDash val="solid"/>
          </a:ln>
        </p:spPr>
        <p:txBody>
          <a:bodyPr/>
          <a:p/>
        </p:txBody>
      </p:sp>
      <p:sp>
        <p:nvSpPr>
          <p:cNvPr id="12" name="Shape 10"/>
          <p:cNvSpPr/>
          <p:nvPr/>
        </p:nvSpPr>
        <p:spPr>
          <a:xfrm>
            <a:off x="7909560" y="1280160"/>
            <a:ext cx="731520" cy="731520"/>
          </a:xfrm>
          <a:prstGeom prst="ellipse">
            <a:avLst/>
          </a:prstGeom>
          <a:solidFill>
            <a:srgbClr val="FBE3D4"/>
          </a:solidFill>
          <a:ln w="28575">
            <a:solidFill>
              <a:srgbClr val="D9530B"/>
            </a:solidFill>
            <a:prstDash val="solid"/>
          </a:ln>
        </p:spPr>
        <p:txBody>
          <a:bodyPr/>
          <a:p/>
        </p:txBody>
      </p:sp>
      <p:sp>
        <p:nvSpPr>
          <p:cNvPr id="13" name="Shape 11"/>
          <p:cNvSpPr/>
          <p:nvPr/>
        </p:nvSpPr>
        <p:spPr>
          <a:xfrm>
            <a:off x="6537960" y="2651760"/>
            <a:ext cx="731520" cy="731520"/>
          </a:xfrm>
          <a:prstGeom prst="ellipse">
            <a:avLst/>
          </a:prstGeom>
          <a:solidFill>
            <a:srgbClr val="FFFFFF"/>
          </a:solidFill>
          <a:ln w="15875">
            <a:solidFill>
              <a:srgbClr val="9AA5B1"/>
            </a:solidFill>
            <a:prstDash val="solid"/>
          </a:ln>
        </p:spPr>
        <p:txBody>
          <a:bodyPr/>
          <a:p/>
        </p:txBody>
      </p:sp>
      <p:sp>
        <p:nvSpPr>
          <p:cNvPr id="14" name="Shape 12"/>
          <p:cNvSpPr/>
          <p:nvPr/>
        </p:nvSpPr>
        <p:spPr>
          <a:xfrm>
            <a:off x="7909560" y="2651760"/>
            <a:ext cx="731520" cy="731520"/>
          </a:xfrm>
          <a:prstGeom prst="ellipse">
            <a:avLst/>
          </a:prstGeom>
          <a:solidFill>
            <a:srgbClr val="FFFFFF"/>
          </a:solidFill>
          <a:ln w="15875">
            <a:solidFill>
              <a:srgbClr val="9AA5B1"/>
            </a:solidFill>
            <a:prstDash val="solid"/>
          </a:ln>
        </p:spPr>
        <p:txBody>
          <a:bodyPr/>
          <a:p/>
        </p:txBody>
      </p:sp>
      <p:sp>
        <p:nvSpPr>
          <p:cNvPr id="15" name="Text 13"/>
          <p:cNvSpPr txBox="1"/>
          <p:nvPr/>
        </p:nvSpPr>
        <p:spPr>
          <a:xfrm>
            <a:off x="8001000" y="1097280"/>
            <a:ext cx="1005840" cy="228600"/>
          </a:xfrm>
          <a:prstGeom prst="rect">
            <a:avLst/>
          </a:prstGeom>
          <a:noFill/>
          <a:ln/>
        </p:spPr>
        <p:txBody>
          <a:bodyPr wrap="square" lIns="0" tIns="0" rIns="0" bIns="0" rtlCol="0" anchor="t"/>
          <a:lstStyle/>
          <a:p>
            <a:pPr indent="0" marL="0">
              <a:buNone/>
            </a:pPr>
            <a:r>
              <a:rPr lang="en-US" sz="1000" dirty="0">
                <a:solidFill>
                  <a:schemeClr val="accent1"/>
                </a:solidFill>
              </a:rPr>
              <a:t>weak motor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Objectives</a:t>
            </a:r>
            <a:endParaRPr lang="en-US" sz="2800" dirty="0"/>
          </a:p>
        </p:txBody>
      </p:sp>
      <p:sp>
        <p:nvSpPr>
          <p:cNvPr id="3" name="Text 1"/>
          <p:cNvSpPr txBox="1"/>
          <p:nvPr/>
        </p:nvSpPr>
        <p:spPr>
          <a:xfrm>
            <a:off x="457200" y="10972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1</a:t>
            </a:r>
            <a:endParaRPr lang="en-US" sz="2200" dirty="0"/>
          </a:p>
        </p:txBody>
      </p:sp>
      <p:sp>
        <p:nvSpPr>
          <p:cNvPr id="4" name="Text 2"/>
          <p:cNvSpPr txBox="1"/>
          <p:nvPr/>
        </p:nvSpPr>
        <p:spPr>
          <a:xfrm>
            <a:off x="868680" y="1143000"/>
            <a:ext cx="4572000" cy="548640"/>
          </a:xfrm>
          <a:prstGeom prst="rect">
            <a:avLst/>
          </a:prstGeom>
          <a:noFill/>
          <a:ln/>
        </p:spPr>
        <p:txBody>
          <a:bodyPr wrap="square" lIns="0" tIns="0" rIns="0" bIns="0" rtlCol="0" anchor="t"/>
          <a:lstStyle/>
          <a:p>
            <a:pPr indent="0" marL="0">
              <a:buNone/>
            </a:pPr>
            <a:r>
              <a:rPr lang="en-US" sz="1500" dirty="0">
                <a:solidFill>
                  <a:schemeClr val="tx1"/>
                </a:solidFill>
              </a:rPr>
              <a:t>Fly a quadrotor autonomously around a rectangular path, with all motors healthy (our baseline)</a:t>
            </a:r>
            <a:endParaRPr lang="en-US" sz="1500" dirty="0"/>
          </a:p>
        </p:txBody>
      </p:sp>
      <p:sp>
        <p:nvSpPr>
          <p:cNvPr id="5" name="Text 3"/>
          <p:cNvSpPr txBox="1"/>
          <p:nvPr/>
        </p:nvSpPr>
        <p:spPr>
          <a:xfrm>
            <a:off x="457200" y="17830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2</a:t>
            </a:r>
            <a:endParaRPr lang="en-US" sz="2200" dirty="0"/>
          </a:p>
        </p:txBody>
      </p:sp>
      <p:sp>
        <p:nvSpPr>
          <p:cNvPr id="6" name="Text 4"/>
          <p:cNvSpPr txBox="1"/>
          <p:nvPr/>
        </p:nvSpPr>
        <p:spPr>
          <a:xfrm>
            <a:off x="868680" y="1828800"/>
            <a:ext cx="4572000" cy="548640"/>
          </a:xfrm>
          <a:prstGeom prst="rect">
            <a:avLst/>
          </a:prstGeom>
          <a:noFill/>
          <a:ln/>
        </p:spPr>
        <p:txBody>
          <a:bodyPr wrap="square" lIns="0" tIns="0" rIns="0" bIns="0" rtlCol="0" anchor="t"/>
          <a:lstStyle/>
          <a:p>
            <a:pPr indent="0" marL="0">
              <a:buNone/>
            </a:pPr>
            <a:r>
              <a:rPr lang="en-US" sz="1500" dirty="0">
                <a:solidFill>
                  <a:schemeClr val="tx1"/>
                </a:solidFill>
              </a:rPr>
              <a:t>Partway through, one motor is limited to 50% RPM and the controller is told which one</a:t>
            </a:r>
            <a:endParaRPr lang="en-US" sz="1500" dirty="0"/>
          </a:p>
        </p:txBody>
      </p:sp>
      <p:sp>
        <p:nvSpPr>
          <p:cNvPr id="7" name="Text 5"/>
          <p:cNvSpPr txBox="1"/>
          <p:nvPr/>
        </p:nvSpPr>
        <p:spPr>
          <a:xfrm>
            <a:off x="457200" y="24688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3</a:t>
            </a:r>
            <a:endParaRPr lang="en-US" sz="2200" dirty="0"/>
          </a:p>
        </p:txBody>
      </p:sp>
      <p:sp>
        <p:nvSpPr>
          <p:cNvPr id="8" name="Text 6"/>
          <p:cNvSpPr txBox="1"/>
          <p:nvPr/>
        </p:nvSpPr>
        <p:spPr>
          <a:xfrm>
            <a:off x="868680" y="2514600"/>
            <a:ext cx="4572000" cy="548640"/>
          </a:xfrm>
          <a:prstGeom prst="rect">
            <a:avLst/>
          </a:prstGeom>
          <a:noFill/>
          <a:ln/>
        </p:spPr>
        <p:txBody>
          <a:bodyPr wrap="square" lIns="0" tIns="0" rIns="0" bIns="0" rtlCol="0" anchor="t"/>
          <a:lstStyle/>
          <a:p>
            <a:pPr indent="0" marL="0">
              <a:buNone/>
            </a:pPr>
            <a:r>
              <a:rPr lang="en-US" sz="1500" dirty="0">
                <a:solidFill>
                  <a:schemeClr val="tx1"/>
                </a:solidFill>
              </a:rPr>
              <a:t>Adapt the controller so the drone stays under control</a:t>
            </a:r>
            <a:endParaRPr lang="en-US" sz="1500" dirty="0"/>
          </a:p>
        </p:txBody>
      </p:sp>
      <p:sp>
        <p:nvSpPr>
          <p:cNvPr id="9" name="Text 7"/>
          <p:cNvSpPr txBox="1"/>
          <p:nvPr/>
        </p:nvSpPr>
        <p:spPr>
          <a:xfrm>
            <a:off x="457200" y="31546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4</a:t>
            </a:r>
            <a:endParaRPr lang="en-US" sz="2200" dirty="0"/>
          </a:p>
        </p:txBody>
      </p:sp>
      <p:sp>
        <p:nvSpPr>
          <p:cNvPr id="10" name="Text 8"/>
          <p:cNvSpPr txBox="1"/>
          <p:nvPr/>
        </p:nvSpPr>
        <p:spPr>
          <a:xfrm>
            <a:off x="868680" y="3200400"/>
            <a:ext cx="4572000" cy="548640"/>
          </a:xfrm>
          <a:prstGeom prst="rect">
            <a:avLst/>
          </a:prstGeom>
          <a:noFill/>
          <a:ln/>
        </p:spPr>
        <p:txBody>
          <a:bodyPr wrap="square" lIns="0" tIns="0" rIns="0" bIns="0" rtlCol="0" anchor="t"/>
          <a:lstStyle/>
          <a:p>
            <a:pPr indent="0" marL="0">
              <a:buNone/>
            </a:pPr>
            <a:r>
              <a:rPr lang="en-US" sz="1500" dirty="0">
                <a:solidFill>
                  <a:schemeClr val="tx1"/>
                </a:solidFill>
              </a:rPr>
              <a:t>Then finish the rectangle, or end the mission and land safely</a:t>
            </a:r>
            <a:endParaRPr lang="en-US" sz="1500" dirty="0"/>
          </a:p>
        </p:txBody>
      </p:sp>
      <p:sp>
        <p:nvSpPr>
          <p:cNvPr id="11" name="Text 9"/>
          <p:cNvSpPr txBox="1"/>
          <p:nvPr/>
        </p:nvSpPr>
        <p:spPr>
          <a:xfrm>
            <a:off x="457200" y="38404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5</a:t>
            </a:r>
            <a:endParaRPr lang="en-US" sz="2200" dirty="0"/>
          </a:p>
        </p:txBody>
      </p:sp>
      <p:sp>
        <p:nvSpPr>
          <p:cNvPr id="12" name="Text 10"/>
          <p:cNvSpPr txBox="1"/>
          <p:nvPr/>
        </p:nvSpPr>
        <p:spPr>
          <a:xfrm>
            <a:off x="868680" y="3886200"/>
            <a:ext cx="4572000" cy="548640"/>
          </a:xfrm>
          <a:prstGeom prst="rect">
            <a:avLst/>
          </a:prstGeom>
          <a:noFill/>
          <a:ln/>
        </p:spPr>
        <p:txBody>
          <a:bodyPr wrap="square" lIns="0" tIns="0" rIns="0" bIns="0" rtlCol="0" anchor="t"/>
          <a:lstStyle/>
          <a:p>
            <a:pPr indent="0" marL="0">
              <a:buNone/>
            </a:pPr>
            <a:r>
              <a:rPr lang="en-US" sz="1500" dirty="0">
                <a:solidFill>
                  <a:schemeClr val="tx1"/>
                </a:solidFill>
              </a:rPr>
              <a:t>Log every flight, so each result is backed by measured data</a:t>
            </a:r>
            <a:endParaRPr lang="en-US" sz="1500" dirty="0"/>
          </a:p>
        </p:txBody>
      </p:sp>
      <p:sp>
        <p:nvSpPr>
          <p:cNvPr id="13" name="Shape 11"/>
          <p:cNvSpPr/>
          <p:nvPr/>
        </p:nvSpPr>
        <p:spPr>
          <a:xfrm>
            <a:off x="5806440" y="1097280"/>
            <a:ext cx="2880360" cy="3291840"/>
          </a:xfrm>
          <a:prstGeom prst="rect">
            <a:avLst/>
          </a:prstGeom>
          <a:solidFill>
            <a:schemeClr val="bg2"/>
          </a:solidFill>
          <a:ln/>
        </p:spPr>
      </p:sp>
      <p:sp>
        <p:nvSpPr>
          <p:cNvPr id="14" name="Text 12"/>
          <p:cNvSpPr txBox="1"/>
          <p:nvPr/>
        </p:nvSpPr>
        <p:spPr>
          <a:xfrm>
            <a:off x="6035040" y="1280160"/>
            <a:ext cx="2468880" cy="274320"/>
          </a:xfrm>
          <a:prstGeom prst="rect">
            <a:avLst/>
          </a:prstGeom>
          <a:noFill/>
          <a:ln/>
        </p:spPr>
        <p:txBody>
          <a:bodyPr wrap="square" lIns="0" tIns="0" rIns="0" bIns="0" rtlCol="0" anchor="t"/>
          <a:lstStyle/>
          <a:p>
            <a:pPr indent="0" marL="0">
              <a:buNone/>
            </a:pPr>
            <a:r>
              <a:rPr lang="en-US" sz="1500" b="1" dirty="0">
                <a:solidFill>
                  <a:schemeClr val="tx1"/>
                </a:solidFill>
              </a:rPr>
              <a:t>Demo</a:t>
            </a:r>
            <a:endParaRPr lang="en-US" sz="1500" dirty="0"/>
          </a:p>
        </p:txBody>
      </p:sp>
      <p:sp>
        <p:nvSpPr>
          <p:cNvPr id="15" name="Text 13"/>
          <p:cNvSpPr txBox="1"/>
          <p:nvPr/>
        </p:nvSpPr>
        <p:spPr>
          <a:xfrm>
            <a:off x="6035040" y="1600200"/>
            <a:ext cx="2468880" cy="731520"/>
          </a:xfrm>
          <a:prstGeom prst="rect">
            <a:avLst/>
          </a:prstGeom>
          <a:noFill/>
          <a:ln/>
        </p:spPr>
        <p:txBody>
          <a:bodyPr wrap="square" lIns="0" tIns="0" rIns="0" bIns="0" rtlCol="0" anchor="t"/>
          <a:lstStyle/>
          <a:p>
            <a:pPr indent="0" marL="0">
              <a:buNone/>
            </a:pPr>
            <a:r>
              <a:rPr lang="en-US" sz="1400" dirty="0">
                <a:solidFill>
                  <a:schemeClr val="tx2"/>
                </a:solidFill>
              </a:rPr>
              <a:t>Outdoors on a football ground, one rectangular path. Platform: Crazyflie.</a:t>
            </a:r>
            <a:endParaRPr lang="en-US" sz="1400" dirty="0"/>
          </a:p>
        </p:txBody>
      </p:sp>
      <p:sp>
        <p:nvSpPr>
          <p:cNvPr id="16" name="Text 14"/>
          <p:cNvSpPr txBox="1"/>
          <p:nvPr/>
        </p:nvSpPr>
        <p:spPr>
          <a:xfrm>
            <a:off x="6035040" y="2606040"/>
            <a:ext cx="2468880" cy="274320"/>
          </a:xfrm>
          <a:prstGeom prst="rect">
            <a:avLst/>
          </a:prstGeom>
          <a:noFill/>
          <a:ln/>
        </p:spPr>
        <p:txBody>
          <a:bodyPr wrap="square" lIns="0" tIns="0" rIns="0" bIns="0" rtlCol="0" anchor="t"/>
          <a:lstStyle/>
          <a:p>
            <a:pPr indent="0" marL="0">
              <a:buNone/>
            </a:pPr>
            <a:r>
              <a:rPr lang="en-US" sz="1500" b="1" dirty="0">
                <a:solidFill>
                  <a:schemeClr val="tx1"/>
                </a:solidFill>
              </a:rPr>
              <a:t>Out of scope</a:t>
            </a:r>
            <a:endParaRPr lang="en-US" sz="1500" dirty="0"/>
          </a:p>
        </p:txBody>
      </p:sp>
      <p:sp>
        <p:nvSpPr>
          <p:cNvPr id="17" name="Text 15"/>
          <p:cNvSpPr txBox="1"/>
          <p:nvPr/>
        </p:nvSpPr>
        <p:spPr>
          <a:xfrm>
            <a:off x="6035040" y="2926080"/>
            <a:ext cx="2468880" cy="1097280"/>
          </a:xfrm>
          <a:prstGeom prst="rect">
            <a:avLst/>
          </a:prstGeom>
          <a:noFill/>
          <a:ln/>
        </p:spPr>
        <p:txBody>
          <a:bodyPr wrap="square" lIns="0" tIns="0" rIns="0" bIns="0" rtlCol="0" anchor="t"/>
          <a:lstStyle/>
          <a:p>
            <a:pPr indent="0" marL="0">
              <a:buNone/>
            </a:pPr>
            <a:r>
              <a:rPr lang="en-US" sz="1400" dirty="0">
                <a:solidFill>
                  <a:schemeClr val="tx2"/>
                </a:solidFill>
              </a:rPr>
              <a:t>Detecting the fault. The brief says we are told which motor is weak and when.</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Why this is hard</a:t>
            </a:r>
            <a:endParaRPr lang="en-US" sz="2800" dirty="0"/>
          </a:p>
        </p:txBody>
      </p:sp>
      <p:sp>
        <p:nvSpPr>
          <p:cNvPr id="3" name="Text 1"/>
          <p:cNvSpPr txBox="1"/>
          <p:nvPr/>
        </p:nvSpPr>
        <p:spPr>
          <a:xfrm>
            <a:off x="457200" y="1051560"/>
            <a:ext cx="2651760" cy="685800"/>
          </a:xfrm>
          <a:prstGeom prst="rect">
            <a:avLst/>
          </a:prstGeom>
          <a:noFill/>
          <a:ln/>
        </p:spPr>
        <p:txBody>
          <a:bodyPr wrap="square" lIns="0" tIns="0" rIns="0" bIns="0" rtlCol="0" anchor="t"/>
          <a:lstStyle/>
          <a:p>
            <a:pPr indent="0" marL="0">
              <a:buNone/>
            </a:pPr>
            <a:r>
              <a:rPr lang="en-US" sz="4000" b="1" dirty="0">
                <a:solidFill>
                  <a:schemeClr val="tx1"/>
                </a:solidFill>
              </a:rPr>
              <a:t>25%</a:t>
            </a:r>
            <a:endParaRPr lang="en-US" sz="4000" dirty="0"/>
          </a:p>
        </p:txBody>
      </p:sp>
      <p:sp>
        <p:nvSpPr>
          <p:cNvPr id="4" name="Text 2"/>
          <p:cNvSpPr txBox="1"/>
          <p:nvPr/>
        </p:nvSpPr>
        <p:spPr>
          <a:xfrm>
            <a:off x="457200" y="1783080"/>
            <a:ext cx="2560320" cy="502920"/>
          </a:xfrm>
          <a:prstGeom prst="rect">
            <a:avLst/>
          </a:prstGeom>
          <a:noFill/>
          <a:ln/>
        </p:spPr>
        <p:txBody>
          <a:bodyPr wrap="square" lIns="0" tIns="0" rIns="0" bIns="0" rtlCol="0" anchor="t"/>
          <a:lstStyle/>
          <a:p>
            <a:pPr indent="0" marL="0">
              <a:buNone/>
            </a:pPr>
            <a:r>
              <a:rPr lang="en-US" sz="1400" dirty="0">
                <a:solidFill>
                  <a:schemeClr val="tx1"/>
                </a:solidFill>
              </a:rPr>
              <a:t>of normal thrust is left on the weak motor</a:t>
            </a:r>
            <a:endParaRPr lang="en-US" sz="1400" dirty="0"/>
          </a:p>
        </p:txBody>
      </p:sp>
      <p:sp>
        <p:nvSpPr>
          <p:cNvPr id="5" name="Text 3"/>
          <p:cNvSpPr txBox="1"/>
          <p:nvPr/>
        </p:nvSpPr>
        <p:spPr>
          <a:xfrm>
            <a:off x="457200" y="2331720"/>
            <a:ext cx="2560320" cy="457200"/>
          </a:xfrm>
          <a:prstGeom prst="rect">
            <a:avLst/>
          </a:prstGeom>
          <a:noFill/>
          <a:ln/>
        </p:spPr>
        <p:txBody>
          <a:bodyPr wrap="square" lIns="0" tIns="0" rIns="0" bIns="0" rtlCol="0" anchor="t"/>
          <a:lstStyle/>
          <a:p>
            <a:pPr indent="0" marL="0">
              <a:buNone/>
            </a:pPr>
            <a:r>
              <a:rPr lang="en-US" sz="1100" dirty="0">
                <a:solidFill>
                  <a:schemeClr val="tx2"/>
                </a:solidFill>
              </a:rPr>
              <a:t>thrust ∝ RPM², so 0.5² = 0.25</a:t>
            </a:r>
            <a:endParaRPr lang="en-US" sz="1100" dirty="0"/>
          </a:p>
        </p:txBody>
      </p:sp>
      <p:sp>
        <p:nvSpPr>
          <p:cNvPr id="6" name="Text 4"/>
          <p:cNvSpPr txBox="1"/>
          <p:nvPr/>
        </p:nvSpPr>
        <p:spPr>
          <a:xfrm>
            <a:off x="3291840" y="1051560"/>
            <a:ext cx="2651760" cy="685800"/>
          </a:xfrm>
          <a:prstGeom prst="rect">
            <a:avLst/>
          </a:prstGeom>
          <a:noFill/>
          <a:ln/>
        </p:spPr>
        <p:txBody>
          <a:bodyPr wrap="square" lIns="0" tIns="0" rIns="0" bIns="0" rtlCol="0" anchor="t"/>
          <a:lstStyle/>
          <a:p>
            <a:pPr indent="0" marL="0">
              <a:buNone/>
            </a:pPr>
            <a:r>
              <a:rPr lang="en-US" sz="4000" b="1" dirty="0">
                <a:solidFill>
                  <a:schemeClr val="tx1"/>
                </a:solidFill>
              </a:rPr>
              <a:t>4 : 1</a:t>
            </a:r>
            <a:endParaRPr lang="en-US" sz="4000" dirty="0"/>
          </a:p>
        </p:txBody>
      </p:sp>
      <p:sp>
        <p:nvSpPr>
          <p:cNvPr id="7" name="Text 5"/>
          <p:cNvSpPr txBox="1"/>
          <p:nvPr/>
        </p:nvSpPr>
        <p:spPr>
          <a:xfrm>
            <a:off x="3291840" y="1783080"/>
            <a:ext cx="2560320" cy="502920"/>
          </a:xfrm>
          <a:prstGeom prst="rect">
            <a:avLst/>
          </a:prstGeom>
          <a:noFill/>
          <a:ln/>
        </p:spPr>
        <p:txBody>
          <a:bodyPr wrap="square" lIns="0" tIns="0" rIns="0" bIns="0" rtlCol="0" anchor="t"/>
          <a:lstStyle/>
          <a:p>
            <a:pPr indent="0" marL="0">
              <a:buNone/>
            </a:pPr>
            <a:r>
              <a:rPr lang="en-US" sz="1400" dirty="0">
                <a:solidFill>
                  <a:schemeClr val="tx1"/>
                </a:solidFill>
              </a:rPr>
              <a:t>thrust-to-weight needed to stay level and hold heading</a:t>
            </a:r>
            <a:endParaRPr lang="en-US" sz="1400" dirty="0"/>
          </a:p>
        </p:txBody>
      </p:sp>
      <p:sp>
        <p:nvSpPr>
          <p:cNvPr id="8" name="Text 6"/>
          <p:cNvSpPr txBox="1"/>
          <p:nvPr/>
        </p:nvSpPr>
        <p:spPr>
          <a:xfrm>
            <a:off x="3291840" y="2331720"/>
            <a:ext cx="2560320" cy="457200"/>
          </a:xfrm>
          <a:prstGeom prst="rect">
            <a:avLst/>
          </a:prstGeom>
          <a:noFill/>
          <a:ln/>
        </p:spPr>
        <p:txBody>
          <a:bodyPr wrap="square" lIns="0" tIns="0" rIns="0" bIns="0" rtlCol="0" anchor="t"/>
          <a:lstStyle/>
          <a:p>
            <a:pPr indent="0" marL="0">
              <a:buNone/>
            </a:pPr>
            <a:r>
              <a:rPr lang="en-US" sz="1100" dirty="0">
                <a:solidFill>
                  <a:schemeClr val="tx2"/>
                </a:solidFill>
              </a:rPr>
              <a:t>each motor must carry ¼ of the weight</a:t>
            </a:r>
            <a:endParaRPr lang="en-US" sz="1100" dirty="0"/>
          </a:p>
        </p:txBody>
      </p:sp>
      <p:sp>
        <p:nvSpPr>
          <p:cNvPr id="9" name="Text 7"/>
          <p:cNvSpPr txBox="1"/>
          <p:nvPr/>
        </p:nvSpPr>
        <p:spPr>
          <a:xfrm>
            <a:off x="6126480" y="1051560"/>
            <a:ext cx="2651760" cy="685800"/>
          </a:xfrm>
          <a:prstGeom prst="rect">
            <a:avLst/>
          </a:prstGeom>
          <a:noFill/>
          <a:ln/>
        </p:spPr>
        <p:txBody>
          <a:bodyPr wrap="square" lIns="0" tIns="0" rIns="0" bIns="0" rtlCol="0" anchor="t"/>
          <a:lstStyle/>
          <a:p>
            <a:pPr indent="0" marL="0">
              <a:buNone/>
            </a:pPr>
            <a:r>
              <a:rPr lang="en-US" sz="4000" b="1" dirty="0">
                <a:solidFill>
                  <a:schemeClr val="accent1"/>
                </a:solidFill>
              </a:rPr>
              <a:t>1.7–2.2 : 1</a:t>
            </a:r>
            <a:endParaRPr lang="en-US" sz="4000" dirty="0"/>
          </a:p>
        </p:txBody>
      </p:sp>
      <p:sp>
        <p:nvSpPr>
          <p:cNvPr id="10" name="Text 8"/>
          <p:cNvSpPr txBox="1"/>
          <p:nvPr/>
        </p:nvSpPr>
        <p:spPr>
          <a:xfrm>
            <a:off x="6126480" y="1783080"/>
            <a:ext cx="2560320" cy="502920"/>
          </a:xfrm>
          <a:prstGeom prst="rect">
            <a:avLst/>
          </a:prstGeom>
          <a:noFill/>
          <a:ln/>
        </p:spPr>
        <p:txBody>
          <a:bodyPr wrap="square" lIns="0" tIns="0" rIns="0" bIns="0" rtlCol="0" anchor="t"/>
          <a:lstStyle/>
          <a:p>
            <a:pPr indent="0" marL="0">
              <a:buNone/>
            </a:pPr>
            <a:r>
              <a:rPr lang="en-US" sz="1400" dirty="0">
                <a:solidFill>
                  <a:schemeClr val="tx1"/>
                </a:solidFill>
              </a:rPr>
              <a:t>what a Crazyflie 2.1 has (27–29 g)</a:t>
            </a:r>
            <a:endParaRPr lang="en-US" sz="1400" dirty="0"/>
          </a:p>
        </p:txBody>
      </p:sp>
      <p:sp>
        <p:nvSpPr>
          <p:cNvPr id="11" name="Text 9"/>
          <p:cNvSpPr txBox="1"/>
          <p:nvPr/>
        </p:nvSpPr>
        <p:spPr>
          <a:xfrm>
            <a:off x="6126480" y="2331720"/>
            <a:ext cx="2560320" cy="457200"/>
          </a:xfrm>
          <a:prstGeom prst="rect">
            <a:avLst/>
          </a:prstGeom>
          <a:noFill/>
          <a:ln/>
        </p:spPr>
        <p:txBody>
          <a:bodyPr wrap="square" lIns="0" tIns="0" rIns="0" bIns="0" rtlCol="0" anchor="t"/>
          <a:lstStyle/>
          <a:p>
            <a:pPr indent="0" marL="0">
              <a:buNone/>
            </a:pPr>
            <a:r>
              <a:rPr lang="en-US" sz="1100" dirty="0">
                <a:solidFill>
                  <a:schemeClr val="tx2"/>
                </a:solidFill>
              </a:rPr>
              <a:t>12.2 g per motor as rated by Bitcraze,</a:t>
            </a:r>
            <a:endParaRPr lang="en-US" sz="1100" dirty="0"/>
          </a:p>
          <a:p>
            <a:pPr indent="0" marL="0">
              <a:buNone/>
            </a:pPr>
            <a:r>
              <a:rPr lang="en-US" sz="1100" dirty="0">
                <a:solidFill>
                  <a:schemeClr val="tx2"/>
                </a:solidFill>
              </a:rPr>
              <a:t>up to ≈16 g on a full battery (to be measured)</a:t>
            </a:r>
            <a:endParaRPr lang="en-US" sz="1100" dirty="0"/>
          </a:p>
        </p:txBody>
      </p:sp>
      <p:sp>
        <p:nvSpPr>
          <p:cNvPr id="12" name="Shape 10"/>
          <p:cNvSpPr/>
          <p:nvPr/>
        </p:nvSpPr>
        <p:spPr>
          <a:xfrm>
            <a:off x="457200" y="3017520"/>
            <a:ext cx="8229600" cy="1417320"/>
          </a:xfrm>
          <a:prstGeom prst="rect">
            <a:avLst/>
          </a:prstGeom>
          <a:solidFill>
            <a:schemeClr val="bg2"/>
          </a:solidFill>
          <a:ln/>
        </p:spPr>
        <p:txBody>
          <a:bodyPr/>
          <a:p/>
        </p:txBody>
      </p:sp>
      <p:sp>
        <p:nvSpPr>
          <p:cNvPr id="13" name="Text 11"/>
          <p:cNvSpPr txBox="1"/>
          <p:nvPr/>
        </p:nvSpPr>
        <p:spPr>
          <a:xfrm>
            <a:off x="685800" y="3154680"/>
            <a:ext cx="7772400" cy="320040"/>
          </a:xfrm>
          <a:prstGeom prst="rect">
            <a:avLst/>
          </a:prstGeom>
          <a:noFill/>
          <a:ln/>
        </p:spPr>
        <p:txBody>
          <a:bodyPr wrap="square" lIns="0" tIns="0" rIns="0" bIns="0" rtlCol="0" anchor="t"/>
          <a:lstStyle/>
          <a:p>
            <a:pPr indent="0" marL="0">
              <a:buNone/>
            </a:pPr>
            <a:r>
              <a:rPr lang="en-US" sz="1600" b="1" dirty="0">
                <a:solidFill>
                  <a:schemeClr val="tx1"/>
                </a:solidFill>
              </a:rPr>
              <a:t>So the weak motor cannot hold up its corner.</a:t>
            </a:r>
            <a:endParaRPr lang="en-US" sz="1600" dirty="0"/>
          </a:p>
        </p:txBody>
      </p:sp>
      <p:sp>
        <p:nvSpPr>
          <p:cNvPr id="14" name="Text 12"/>
          <p:cNvSpPr txBox="1"/>
          <p:nvPr/>
        </p:nvSpPr>
        <p:spPr>
          <a:xfrm>
            <a:off x="685800" y="3520440"/>
            <a:ext cx="7772400" cy="822960"/>
          </a:xfrm>
          <a:prstGeom prst="rect">
            <a:avLst/>
          </a:prstGeom>
          <a:noFill/>
          <a:ln/>
        </p:spPr>
        <p:txBody>
          <a:bodyPr wrap="square" lIns="0" tIns="0" rIns="0" bIns="0" rtlCol="0" anchor="t"/>
          <a:lstStyle/>
          <a:p>
            <a:pPr indent="0" marL="0">
              <a:buNone/>
            </a:pPr>
            <a:r>
              <a:rPr lang="en-US" sz="1400" dirty="0">
                <a:solidFill>
                  <a:schemeClr val="tx2"/>
                </a:solidFill>
              </a:rPr>
              <a:t>We give up heading control (yaw): the drone spins, while our controller keeps it level and on the path (Mueller &amp; D'Andrea; Sun et al.). It then has 2.5 motors' worth of thrust, so it needs at least 1.8 : 1 to keep flying: a Crazyflie 2.1 is at that limit, and below it the drone lands safely instead.</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Key idea: let it spin, keep it level</a:t>
            </a:r>
            <a:endParaRPr lang="en-US" sz="2800" dirty="0"/>
          </a:p>
        </p:txBody>
      </p:sp>
      <p:sp>
        <p:nvSpPr>
          <p:cNvPr id="3" name="Shape 1"/>
          <p:cNvSpPr/>
          <p:nvPr/>
        </p:nvSpPr>
        <p:spPr>
          <a:xfrm>
            <a:off x="1325880" y="1783080"/>
            <a:ext cx="1828800" cy="1828800"/>
          </a:xfrm>
          <a:prstGeom prst="line">
            <a:avLst/>
          </a:prstGeom>
          <a:noFill/>
          <a:ln w="63500">
            <a:solidFill>
              <a:srgbClr val="9AA5B1"/>
            </a:solidFill>
            <a:prstDash val="solid"/>
          </a:ln>
        </p:spPr>
        <p:txBody>
          <a:bodyPr/>
          <a:p/>
        </p:txBody>
      </p:sp>
      <p:sp>
        <p:nvSpPr>
          <p:cNvPr id="4" name="Shape 2"/>
          <p:cNvSpPr/>
          <p:nvPr/>
        </p:nvSpPr>
        <p:spPr>
          <a:xfrm flipH="1">
            <a:off x="1325880" y="1783080"/>
            <a:ext cx="1828800" cy="1828800"/>
          </a:xfrm>
          <a:prstGeom prst="line">
            <a:avLst/>
          </a:prstGeom>
          <a:noFill/>
          <a:ln w="63500">
            <a:solidFill>
              <a:srgbClr val="9AA5B1"/>
            </a:solidFill>
            <a:prstDash val="solid"/>
          </a:ln>
        </p:spPr>
        <p:txBody>
          <a:bodyPr/>
          <a:p/>
        </p:txBody>
      </p:sp>
      <p:sp>
        <p:nvSpPr>
          <p:cNvPr id="5" name="Shape 3"/>
          <p:cNvSpPr/>
          <p:nvPr/>
        </p:nvSpPr>
        <p:spPr>
          <a:xfrm>
            <a:off x="2039112" y="2496312"/>
            <a:ext cx="402336" cy="402336"/>
          </a:xfrm>
          <a:prstGeom prst="roundRect">
            <a:avLst>
              <a:gd name="adj" fmla="val 13636"/>
            </a:avLst>
          </a:prstGeom>
          <a:solidFill>
            <a:schemeClr val="bg1"/>
          </a:solidFill>
          <a:ln w="15875">
            <a:solidFill>
              <a:srgbClr val="9AA5B1"/>
            </a:solidFill>
            <a:prstDash val="solid"/>
          </a:ln>
        </p:spPr>
        <p:txBody>
          <a:bodyPr/>
          <a:p/>
        </p:txBody>
      </p:sp>
      <p:sp>
        <p:nvSpPr>
          <p:cNvPr id="6" name="Shape 4"/>
          <p:cNvSpPr/>
          <p:nvPr/>
        </p:nvSpPr>
        <p:spPr>
          <a:xfrm>
            <a:off x="850392" y="1307592"/>
            <a:ext cx="950976" cy="950976"/>
          </a:xfrm>
          <a:prstGeom prst="ellipse">
            <a:avLst/>
          </a:prstGeom>
          <a:solidFill>
            <a:srgbClr val="FFFFFF"/>
          </a:solidFill>
          <a:ln w="15875">
            <a:solidFill>
              <a:srgbClr val="9AA5B1"/>
            </a:solidFill>
            <a:prstDash val="solid"/>
          </a:ln>
        </p:spPr>
        <p:txBody>
          <a:bodyPr/>
          <a:p/>
        </p:txBody>
      </p:sp>
      <p:sp>
        <p:nvSpPr>
          <p:cNvPr id="7" name="Text 5"/>
          <p:cNvSpPr txBox="1"/>
          <p:nvPr/>
        </p:nvSpPr>
        <p:spPr>
          <a:xfrm>
            <a:off x="850392" y="1307592"/>
            <a:ext cx="950976" cy="950976"/>
          </a:xfrm>
          <a:prstGeom prst="rect">
            <a:avLst/>
          </a:prstGeom>
          <a:noFill/>
          <a:ln/>
        </p:spPr>
        <p:txBody>
          <a:bodyPr wrap="square" lIns="0" tIns="0" rIns="0" bIns="0" rtlCol="0" anchor="ctr"/>
          <a:lstStyle/>
          <a:p>
            <a:pPr algn="ctr" indent="0" marL="0">
              <a:buNone/>
            </a:pPr>
            <a:r>
              <a:rPr lang="en-US" sz="1300" b="1" dirty="0">
                <a:solidFill>
                  <a:schemeClr val="tx1"/>
                </a:solidFill>
              </a:rPr>
              <a:t>10.4 g</a:t>
            </a:r>
            <a:endParaRPr lang="en-US" sz="1300" dirty="0"/>
          </a:p>
          <a:p>
            <a:pPr algn="ctr" indent="0" marL="0">
              <a:buNone/>
            </a:pPr>
            <a:r>
              <a:rPr lang="en-US" sz="1000" dirty="0">
                <a:solidFill>
                  <a:schemeClr val="tx2"/>
                </a:solidFill>
              </a:rPr>
              <a:t>carries more</a:t>
            </a:r>
            <a:endParaRPr lang="en-US" sz="1300" dirty="0"/>
          </a:p>
        </p:txBody>
      </p:sp>
      <p:sp>
        <p:nvSpPr>
          <p:cNvPr id="8" name="Shape 6"/>
          <p:cNvSpPr/>
          <p:nvPr/>
        </p:nvSpPr>
        <p:spPr>
          <a:xfrm>
            <a:off x="2679192" y="1307592"/>
            <a:ext cx="950976" cy="950976"/>
          </a:xfrm>
          <a:prstGeom prst="ellipse">
            <a:avLst/>
          </a:prstGeom>
          <a:solidFill>
            <a:srgbClr val="FBE3D4"/>
          </a:solidFill>
          <a:ln w="28575">
            <a:solidFill>
              <a:srgbClr val="D9530B"/>
            </a:solidFill>
            <a:prstDash val="solid"/>
          </a:ln>
        </p:spPr>
        <p:txBody>
          <a:bodyPr/>
          <a:p/>
        </p:txBody>
      </p:sp>
      <p:sp>
        <p:nvSpPr>
          <p:cNvPr id="9" name="Text 7"/>
          <p:cNvSpPr txBox="1"/>
          <p:nvPr/>
        </p:nvSpPr>
        <p:spPr>
          <a:xfrm>
            <a:off x="2679192" y="1307592"/>
            <a:ext cx="950976" cy="950976"/>
          </a:xfrm>
          <a:prstGeom prst="rect">
            <a:avLst/>
          </a:prstGeom>
          <a:noFill/>
          <a:ln/>
        </p:spPr>
        <p:txBody>
          <a:bodyPr wrap="square" lIns="0" tIns="0" rIns="0" bIns="0" rtlCol="0" anchor="ctr"/>
          <a:lstStyle/>
          <a:p>
            <a:pPr algn="ctr" indent="0" marL="0">
              <a:buNone/>
            </a:pPr>
            <a:r>
              <a:rPr lang="en-US" sz="1300" b="1" dirty="0">
                <a:solidFill>
                  <a:schemeClr val="tx1"/>
                </a:solidFill>
              </a:rPr>
              <a:t>3.1 g</a:t>
            </a:r>
            <a:endParaRPr lang="en-US" sz="1300" dirty="0"/>
          </a:p>
          <a:p>
            <a:pPr algn="ctr" indent="0" marL="0">
              <a:buNone/>
            </a:pPr>
            <a:r>
              <a:rPr lang="en-US" sz="1000" dirty="0">
                <a:solidFill>
                  <a:schemeClr val="tx2"/>
                </a:solidFill>
              </a:rPr>
              <a:t>weak, at max</a:t>
            </a:r>
            <a:endParaRPr lang="en-US" sz="1300" dirty="0"/>
          </a:p>
        </p:txBody>
      </p:sp>
      <p:sp>
        <p:nvSpPr>
          <p:cNvPr id="10" name="Shape 8"/>
          <p:cNvSpPr/>
          <p:nvPr/>
        </p:nvSpPr>
        <p:spPr>
          <a:xfrm>
            <a:off x="850392" y="3136392"/>
            <a:ext cx="950976" cy="950976"/>
          </a:xfrm>
          <a:prstGeom prst="ellipse">
            <a:avLst/>
          </a:prstGeom>
          <a:solidFill>
            <a:srgbClr val="FFFFFF"/>
          </a:solidFill>
          <a:ln w="15875">
            <a:solidFill>
              <a:srgbClr val="9AA5B1"/>
            </a:solidFill>
            <a:prstDash val="solid"/>
          </a:ln>
        </p:spPr>
        <p:txBody>
          <a:bodyPr/>
          <a:p/>
        </p:txBody>
      </p:sp>
      <p:sp>
        <p:nvSpPr>
          <p:cNvPr id="11" name="Text 9"/>
          <p:cNvSpPr txBox="1"/>
          <p:nvPr/>
        </p:nvSpPr>
        <p:spPr>
          <a:xfrm>
            <a:off x="850392" y="3136392"/>
            <a:ext cx="950976" cy="950976"/>
          </a:xfrm>
          <a:prstGeom prst="rect">
            <a:avLst/>
          </a:prstGeom>
          <a:noFill/>
          <a:ln/>
        </p:spPr>
        <p:txBody>
          <a:bodyPr wrap="square" lIns="0" tIns="0" rIns="0" bIns="0" rtlCol="0" anchor="ctr"/>
          <a:lstStyle/>
          <a:p>
            <a:pPr algn="ctr" indent="0" marL="0">
              <a:buNone/>
            </a:pPr>
            <a:r>
              <a:rPr lang="en-US" sz="1300" b="1" dirty="0">
                <a:solidFill>
                  <a:schemeClr val="tx1"/>
                </a:solidFill>
              </a:rPr>
              <a:t>3.1 g</a:t>
            </a:r>
            <a:endParaRPr lang="en-US" sz="1300" dirty="0"/>
          </a:p>
          <a:p>
            <a:pPr algn="ctr" indent="0" marL="0">
              <a:buNone/>
            </a:pPr>
            <a:r>
              <a:rPr lang="en-US" sz="1000" dirty="0">
                <a:solidFill>
                  <a:schemeClr val="tx2"/>
                </a:solidFill>
              </a:rPr>
              <a:t>matches</a:t>
            </a:r>
            <a:endParaRPr lang="en-US" sz="1300" dirty="0"/>
          </a:p>
        </p:txBody>
      </p:sp>
      <p:sp>
        <p:nvSpPr>
          <p:cNvPr id="12" name="Shape 10"/>
          <p:cNvSpPr/>
          <p:nvPr/>
        </p:nvSpPr>
        <p:spPr>
          <a:xfrm>
            <a:off x="2679192" y="3136392"/>
            <a:ext cx="950976" cy="950976"/>
          </a:xfrm>
          <a:prstGeom prst="ellipse">
            <a:avLst/>
          </a:prstGeom>
          <a:solidFill>
            <a:srgbClr val="FFFFFF"/>
          </a:solidFill>
          <a:ln w="15875">
            <a:solidFill>
              <a:srgbClr val="9AA5B1"/>
            </a:solidFill>
            <a:prstDash val="solid"/>
          </a:ln>
        </p:spPr>
        <p:txBody>
          <a:bodyPr/>
          <a:p/>
        </p:txBody>
      </p:sp>
      <p:sp>
        <p:nvSpPr>
          <p:cNvPr id="13" name="Text 11"/>
          <p:cNvSpPr txBox="1"/>
          <p:nvPr/>
        </p:nvSpPr>
        <p:spPr>
          <a:xfrm>
            <a:off x="2679192" y="3136392"/>
            <a:ext cx="950976" cy="950976"/>
          </a:xfrm>
          <a:prstGeom prst="rect">
            <a:avLst/>
          </a:prstGeom>
          <a:noFill/>
          <a:ln/>
        </p:spPr>
        <p:txBody>
          <a:bodyPr wrap="square" lIns="0" tIns="0" rIns="0" bIns="0" rtlCol="0" anchor="ctr"/>
          <a:lstStyle/>
          <a:p>
            <a:pPr algn="ctr" indent="0" marL="0">
              <a:buNone/>
            </a:pPr>
            <a:r>
              <a:rPr lang="en-US" sz="1300" b="1" dirty="0">
                <a:solidFill>
                  <a:schemeClr val="tx1"/>
                </a:solidFill>
              </a:rPr>
              <a:t>10.4 g</a:t>
            </a:r>
            <a:endParaRPr lang="en-US" sz="1300" dirty="0"/>
          </a:p>
          <a:p>
            <a:pPr algn="ctr" indent="0" marL="0">
              <a:buNone/>
            </a:pPr>
            <a:r>
              <a:rPr lang="en-US" sz="1000" dirty="0">
                <a:solidFill>
                  <a:schemeClr val="tx2"/>
                </a:solidFill>
              </a:rPr>
              <a:t>carries more</a:t>
            </a:r>
            <a:endParaRPr lang="en-US" sz="1300" dirty="0"/>
          </a:p>
        </p:txBody>
      </p:sp>
      <p:sp>
        <p:nvSpPr>
          <p:cNvPr id="14" name="Text 12"/>
          <p:cNvSpPr txBox="1"/>
          <p:nvPr/>
        </p:nvSpPr>
        <p:spPr>
          <a:xfrm>
            <a:off x="457200" y="4251960"/>
            <a:ext cx="3840480" cy="411480"/>
          </a:xfrm>
          <a:prstGeom prst="rect">
            <a:avLst/>
          </a:prstGeom>
          <a:noFill/>
          <a:ln/>
        </p:spPr>
        <p:txBody>
          <a:bodyPr wrap="square" lIns="0" tIns="0" rIns="0" bIns="0" rtlCol="0" anchor="t"/>
          <a:lstStyle/>
          <a:p>
            <a:pPr indent="0" marL="0">
              <a:buNone/>
            </a:pPr>
            <a:r>
              <a:rPr lang="en-US" sz="1100" dirty="0">
                <a:solidFill>
                  <a:schemeClr val="tx2"/>
                </a:solidFill>
              </a:rPr>
              <a:t>Example: Crazyflie 2.1, 27 g.</a:t>
            </a:r>
            <a:endParaRPr lang="en-US" sz="1100" dirty="0"/>
          </a:p>
          <a:p>
            <a:pPr indent="0" marL="0">
              <a:buNone/>
            </a:pPr>
            <a:r>
              <a:rPr lang="en-US" sz="1100" dirty="0">
                <a:solidFill>
                  <a:schemeClr val="tx2"/>
                </a:solidFill>
              </a:rPr>
              <a:t>Hover needs 6.75 g per motor; max is 12.2 g (Bitcraze rating).</a:t>
            </a:r>
            <a:endParaRPr lang="en-US" sz="1100" dirty="0"/>
          </a:p>
        </p:txBody>
      </p:sp>
      <p:sp>
        <p:nvSpPr>
          <p:cNvPr id="15" name="Text 13"/>
          <p:cNvSpPr txBox="1"/>
          <p:nvPr/>
        </p:nvSpPr>
        <p:spPr>
          <a:xfrm>
            <a:off x="4572000" y="1097280"/>
            <a:ext cx="4114800" cy="292608"/>
          </a:xfrm>
          <a:prstGeom prst="rect">
            <a:avLst/>
          </a:prstGeom>
          <a:noFill/>
          <a:ln/>
        </p:spPr>
        <p:txBody>
          <a:bodyPr wrap="square" lIns="0" tIns="0" rIns="0" bIns="0" rtlCol="0" anchor="t"/>
          <a:lstStyle/>
          <a:p>
            <a:pPr indent="0" marL="0">
              <a:buNone/>
            </a:pPr>
            <a:r>
              <a:rPr lang="en-US" sz="1500" b="1" dirty="0">
                <a:solidFill>
                  <a:schemeClr val="tx1"/>
                </a:solidFill>
              </a:rPr>
              <a:t>The weak motor gives its maximum</a:t>
            </a:r>
            <a:endParaRPr lang="en-US" sz="1500" dirty="0"/>
          </a:p>
        </p:txBody>
      </p:sp>
      <p:sp>
        <p:nvSpPr>
          <p:cNvPr id="16" name="Text 14"/>
          <p:cNvSpPr txBox="1"/>
          <p:nvPr/>
        </p:nvSpPr>
        <p:spPr>
          <a:xfrm>
            <a:off x="4572000" y="1399032"/>
            <a:ext cx="4114800" cy="502920"/>
          </a:xfrm>
          <a:prstGeom prst="rect">
            <a:avLst/>
          </a:prstGeom>
          <a:noFill/>
          <a:ln/>
        </p:spPr>
        <p:txBody>
          <a:bodyPr wrap="square" lIns="0" tIns="0" rIns="0" bIns="0" rtlCol="0" anchor="t"/>
          <a:lstStyle/>
          <a:p>
            <a:pPr indent="0" marL="0">
              <a:buNone/>
            </a:pPr>
            <a:r>
              <a:rPr lang="en-US" sz="1300" dirty="0">
                <a:solidFill>
                  <a:schemeClr val="tx2"/>
                </a:solidFill>
              </a:rPr>
              <a:t>about 3.1 g, a quarter of its normal maximum</a:t>
            </a:r>
            <a:endParaRPr lang="en-US" sz="1300" dirty="0"/>
          </a:p>
        </p:txBody>
      </p:sp>
      <p:sp>
        <p:nvSpPr>
          <p:cNvPr id="17" name="Text 15"/>
          <p:cNvSpPr txBox="1"/>
          <p:nvPr/>
        </p:nvSpPr>
        <p:spPr>
          <a:xfrm>
            <a:off x="4572000" y="1920240"/>
            <a:ext cx="4114800" cy="292608"/>
          </a:xfrm>
          <a:prstGeom prst="rect">
            <a:avLst/>
          </a:prstGeom>
          <a:noFill/>
          <a:ln/>
        </p:spPr>
        <p:txBody>
          <a:bodyPr wrap="square" lIns="0" tIns="0" rIns="0" bIns="0" rtlCol="0" anchor="t"/>
          <a:lstStyle/>
          <a:p>
            <a:pPr indent="0" marL="0">
              <a:buNone/>
            </a:pPr>
            <a:r>
              <a:rPr lang="en-US" sz="1500" b="1" dirty="0">
                <a:solidFill>
                  <a:schemeClr val="tx1"/>
                </a:solidFill>
              </a:rPr>
              <a:t>Its diagonal partner matches it</a:t>
            </a:r>
            <a:endParaRPr lang="en-US" sz="1500" dirty="0"/>
          </a:p>
        </p:txBody>
      </p:sp>
      <p:sp>
        <p:nvSpPr>
          <p:cNvPr id="18" name="Text 16"/>
          <p:cNvSpPr txBox="1"/>
          <p:nvPr/>
        </p:nvSpPr>
        <p:spPr>
          <a:xfrm>
            <a:off x="4572000" y="2221992"/>
            <a:ext cx="4114800" cy="502920"/>
          </a:xfrm>
          <a:prstGeom prst="rect">
            <a:avLst/>
          </a:prstGeom>
          <a:noFill/>
          <a:ln/>
        </p:spPr>
        <p:txBody>
          <a:bodyPr wrap="square" lIns="0" tIns="0" rIns="0" bIns="0" rtlCol="0" anchor="t"/>
          <a:lstStyle/>
          <a:p>
            <a:pPr indent="0" marL="0">
              <a:buNone/>
            </a:pPr>
            <a:r>
              <a:rPr lang="en-US" sz="1300" dirty="0">
                <a:solidFill>
                  <a:schemeClr val="tx2"/>
                </a:solidFill>
              </a:rPr>
              <a:t>equal diagonals keep the drone level</a:t>
            </a:r>
            <a:endParaRPr lang="en-US" sz="1300" dirty="0"/>
          </a:p>
        </p:txBody>
      </p:sp>
      <p:sp>
        <p:nvSpPr>
          <p:cNvPr id="19" name="Text 17"/>
          <p:cNvSpPr txBox="1"/>
          <p:nvPr/>
        </p:nvSpPr>
        <p:spPr>
          <a:xfrm>
            <a:off x="4572000" y="2743200"/>
            <a:ext cx="4114800" cy="292608"/>
          </a:xfrm>
          <a:prstGeom prst="rect">
            <a:avLst/>
          </a:prstGeom>
          <a:noFill/>
          <a:ln/>
        </p:spPr>
        <p:txBody>
          <a:bodyPr wrap="square" lIns="0" tIns="0" rIns="0" bIns="0" rtlCol="0" anchor="t"/>
          <a:lstStyle/>
          <a:p>
            <a:pPr indent="0" marL="0">
              <a:buNone/>
            </a:pPr>
            <a:r>
              <a:rPr lang="en-US" sz="1500" b="1" dirty="0">
                <a:solidFill>
                  <a:schemeClr val="tx1"/>
                </a:solidFill>
              </a:rPr>
              <a:t>The other two carry the rest</a:t>
            </a:r>
            <a:endParaRPr lang="en-US" sz="1500" dirty="0"/>
          </a:p>
        </p:txBody>
      </p:sp>
      <p:sp>
        <p:nvSpPr>
          <p:cNvPr id="20" name="Text 18"/>
          <p:cNvSpPr txBox="1"/>
          <p:nvPr/>
        </p:nvSpPr>
        <p:spPr>
          <a:xfrm>
            <a:off x="4572000" y="3044952"/>
            <a:ext cx="4114800" cy="502920"/>
          </a:xfrm>
          <a:prstGeom prst="rect">
            <a:avLst/>
          </a:prstGeom>
          <a:noFill/>
          <a:ln/>
        </p:spPr>
        <p:txBody>
          <a:bodyPr wrap="square" lIns="0" tIns="0" rIns="0" bIns="0" rtlCol="0" anchor="t"/>
          <a:lstStyle/>
          <a:p>
            <a:pPr indent="0" marL="0">
              <a:buNone/>
            </a:pPr>
            <a:r>
              <a:rPr lang="en-US" sz="1300" dirty="0">
                <a:solidFill>
                  <a:schemeClr val="tx2"/>
                </a:solidFill>
              </a:rPr>
              <a:t>10.4 g each: 86% of their 12.2 g limit, little left to steer</a:t>
            </a:r>
            <a:endParaRPr lang="en-US" sz="1300" dirty="0"/>
          </a:p>
        </p:txBody>
      </p:sp>
      <p:sp>
        <p:nvSpPr>
          <p:cNvPr id="21" name="Text 19"/>
          <p:cNvSpPr txBox="1"/>
          <p:nvPr/>
        </p:nvSpPr>
        <p:spPr>
          <a:xfrm>
            <a:off x="4572000" y="3566160"/>
            <a:ext cx="4114800" cy="292608"/>
          </a:xfrm>
          <a:prstGeom prst="rect">
            <a:avLst/>
          </a:prstGeom>
          <a:noFill/>
          <a:ln/>
        </p:spPr>
        <p:txBody>
          <a:bodyPr wrap="square" lIns="0" tIns="0" rIns="0" bIns="0" rtlCol="0" anchor="t"/>
          <a:lstStyle/>
          <a:p>
            <a:pPr indent="0" marL="0">
              <a:buNone/>
            </a:pPr>
            <a:r>
              <a:rPr lang="en-US" sz="1500" b="1" dirty="0">
                <a:solidFill>
                  <a:schemeClr val="tx1"/>
                </a:solidFill>
              </a:rPr>
              <a:t>Heading is given up</a:t>
            </a:r>
            <a:endParaRPr lang="en-US" sz="1500" dirty="0"/>
          </a:p>
        </p:txBody>
      </p:sp>
      <p:sp>
        <p:nvSpPr>
          <p:cNvPr id="22" name="Text 20"/>
          <p:cNvSpPr txBox="1"/>
          <p:nvPr/>
        </p:nvSpPr>
        <p:spPr>
          <a:xfrm>
            <a:off x="4572000" y="3867912"/>
            <a:ext cx="4114800" cy="502920"/>
          </a:xfrm>
          <a:prstGeom prst="rect">
            <a:avLst/>
          </a:prstGeom>
          <a:noFill/>
          <a:ln/>
        </p:spPr>
        <p:txBody>
          <a:bodyPr wrap="square" lIns="0" tIns="0" rIns="0" bIns="0" rtlCol="0" anchor="t"/>
          <a:lstStyle/>
          <a:p>
            <a:pPr indent="0" marL="0">
              <a:buNone/>
            </a:pPr>
            <a:r>
              <a:rPr lang="en-US" sz="1300" dirty="0">
                <a:solidFill>
                  <a:schemeClr val="tx2"/>
                </a:solidFill>
              </a:rPr>
              <a:t>the spin directions no longer cancel, so the drone spins; we control only where its thrust points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Architecture: ground station and drone</a:t>
            </a:r>
            <a:endParaRPr lang="en-US" sz="2800" dirty="0"/>
          </a:p>
        </p:txBody>
      </p:sp>
      <p:sp>
        <p:nvSpPr>
          <p:cNvPr id="3" name="Shape 1"/>
          <p:cNvSpPr/>
          <p:nvPr/>
        </p:nvSpPr>
        <p:spPr>
          <a:xfrm>
            <a:off x="457200" y="1005840"/>
            <a:ext cx="3383280" cy="3063240"/>
          </a:xfrm>
          <a:prstGeom prst="rect">
            <a:avLst/>
          </a:prstGeom>
          <a:solidFill>
            <a:schemeClr val="bg2"/>
          </a:solidFill>
          <a:ln/>
        </p:spPr>
      </p:sp>
      <p:sp>
        <p:nvSpPr>
          <p:cNvPr id="4" name="Shape 2"/>
          <p:cNvSpPr/>
          <p:nvPr/>
        </p:nvSpPr>
        <p:spPr>
          <a:xfrm>
            <a:off x="5029200" y="1005840"/>
            <a:ext cx="3657600" cy="3063240"/>
          </a:xfrm>
          <a:prstGeom prst="rect">
            <a:avLst/>
          </a:prstGeom>
          <a:solidFill>
            <a:schemeClr val="bg2"/>
          </a:solidFill>
          <a:ln/>
        </p:spPr>
      </p:sp>
      <p:sp>
        <p:nvSpPr>
          <p:cNvPr id="5" name="Text 3"/>
          <p:cNvSpPr txBox="1"/>
          <p:nvPr/>
        </p:nvSpPr>
        <p:spPr>
          <a:xfrm>
            <a:off x="640080" y="1097280"/>
            <a:ext cx="3108960" cy="274320"/>
          </a:xfrm>
          <a:prstGeom prst="rect">
            <a:avLst/>
          </a:prstGeom>
          <a:noFill/>
          <a:ln/>
        </p:spPr>
        <p:txBody>
          <a:bodyPr wrap="square" lIns="0" tIns="0" rIns="0" bIns="0" rtlCol="0" anchor="t"/>
          <a:lstStyle/>
          <a:p>
            <a:pPr indent="0" marL="0">
              <a:buNone/>
            </a:pPr>
            <a:r>
              <a:rPr lang="en-US" sz="1100" b="1" dirty="0">
                <a:solidFill>
                  <a:schemeClr val="tx2"/>
                </a:solidFill>
              </a:rPr>
              <a:t>GROUND STATION · laptop, Python</a:t>
            </a:r>
            <a:endParaRPr lang="en-US" sz="1100" dirty="0"/>
          </a:p>
        </p:txBody>
      </p:sp>
      <p:sp>
        <p:nvSpPr>
          <p:cNvPr id="6" name="Text 4"/>
          <p:cNvSpPr txBox="1"/>
          <p:nvPr/>
        </p:nvSpPr>
        <p:spPr>
          <a:xfrm>
            <a:off x="5212080" y="1097280"/>
            <a:ext cx="3291840" cy="274320"/>
          </a:xfrm>
          <a:prstGeom prst="rect">
            <a:avLst/>
          </a:prstGeom>
          <a:noFill/>
          <a:ln/>
        </p:spPr>
        <p:txBody>
          <a:bodyPr wrap="square" lIns="0" tIns="0" rIns="0" bIns="0" rtlCol="0" anchor="t"/>
          <a:lstStyle/>
          <a:p>
            <a:pPr indent="0" marL="0">
              <a:buNone/>
            </a:pPr>
            <a:r>
              <a:rPr lang="en-US" sz="1100" b="1" dirty="0">
                <a:solidFill>
                  <a:schemeClr val="tx2"/>
                </a:solidFill>
              </a:rPr>
              <a:t>DRONE · onboard (Crazyflie firmware), C</a:t>
            </a:r>
            <a:endParaRPr lang="en-US" sz="1100" dirty="0"/>
          </a:p>
        </p:txBody>
      </p:sp>
      <p:sp>
        <p:nvSpPr>
          <p:cNvPr id="7" name="Shape 5"/>
          <p:cNvSpPr/>
          <p:nvPr/>
        </p:nvSpPr>
        <p:spPr>
          <a:xfrm>
            <a:off x="640080" y="1463040"/>
            <a:ext cx="3017520" cy="640080"/>
          </a:xfrm>
          <a:prstGeom prst="rect">
            <a:avLst/>
          </a:prstGeom>
          <a:solidFill>
            <a:schemeClr val="bg1"/>
          </a:solidFill>
          <a:ln w="19050">
            <a:solidFill>
              <a:srgbClr val="D9530B"/>
            </a:solidFill>
            <a:prstDash val="solid"/>
          </a:ln>
        </p:spPr>
      </p:sp>
      <p:sp>
        <p:nvSpPr>
          <p:cNvPr id="8" name="Text 6"/>
          <p:cNvSpPr txBox="1"/>
          <p:nvPr/>
        </p:nvSpPr>
        <p:spPr>
          <a:xfrm>
            <a:off x="777240" y="1536192"/>
            <a:ext cx="2743200" cy="548640"/>
          </a:xfrm>
          <a:prstGeom prst="rect">
            <a:avLst/>
          </a:prstGeom>
          <a:noFill/>
          <a:ln/>
        </p:spPr>
        <p:txBody>
          <a:bodyPr wrap="square" lIns="0" tIns="0" rIns="0" bIns="0" rtlCol="0" anchor="t"/>
          <a:lstStyle/>
          <a:p>
            <a:pPr indent="0" marL="0">
              <a:buNone/>
            </a:pPr>
            <a:r>
              <a:rPr lang="en-US" sz="1400" b="1" dirty="0">
                <a:solidFill>
                  <a:schemeClr val="tx1"/>
                </a:solidFill>
              </a:rPr>
              <a:t>Mission</a:t>
            </a:r>
            <a:endParaRPr lang="en-US" sz="1400" dirty="0"/>
          </a:p>
          <a:p>
            <a:pPr indent="0" marL="0">
              <a:buNone/>
            </a:pPr>
            <a:r>
              <a:rPr lang="en-US" sz="1100" dirty="0">
                <a:solidFill>
                  <a:schemeClr val="tx2"/>
                </a:solidFill>
              </a:rPr>
              <a:t>the rectangle path, step by step</a:t>
            </a:r>
            <a:endParaRPr lang="en-US" sz="1400" dirty="0"/>
          </a:p>
        </p:txBody>
      </p:sp>
      <p:sp>
        <p:nvSpPr>
          <p:cNvPr id="9" name="Shape 7"/>
          <p:cNvSpPr/>
          <p:nvPr/>
        </p:nvSpPr>
        <p:spPr>
          <a:xfrm>
            <a:off x="2148840" y="2103120"/>
            <a:ext cx="0" cy="228600"/>
          </a:xfrm>
          <a:prstGeom prst="line">
            <a:avLst/>
          </a:prstGeom>
          <a:noFill/>
          <a:ln w="19050">
            <a:solidFill>
              <a:srgbClr val="9AA5B1"/>
            </a:solidFill>
            <a:prstDash val="solid"/>
            <a:tailEnd type="triangle"/>
          </a:ln>
        </p:spPr>
      </p:sp>
      <p:sp>
        <p:nvSpPr>
          <p:cNvPr id="10" name="Shape 8"/>
          <p:cNvSpPr/>
          <p:nvPr/>
        </p:nvSpPr>
        <p:spPr>
          <a:xfrm>
            <a:off x="640080" y="2331720"/>
            <a:ext cx="3017520" cy="640080"/>
          </a:xfrm>
          <a:prstGeom prst="rect">
            <a:avLst/>
          </a:prstGeom>
          <a:solidFill>
            <a:schemeClr val="bg1"/>
          </a:solidFill>
          <a:ln w="19050">
            <a:solidFill>
              <a:srgbClr val="D9530B"/>
            </a:solidFill>
            <a:prstDash val="solid"/>
          </a:ln>
        </p:spPr>
      </p:sp>
      <p:sp>
        <p:nvSpPr>
          <p:cNvPr id="11" name="Text 9"/>
          <p:cNvSpPr txBox="1"/>
          <p:nvPr/>
        </p:nvSpPr>
        <p:spPr>
          <a:xfrm>
            <a:off x="777240" y="2404872"/>
            <a:ext cx="2743200" cy="548640"/>
          </a:xfrm>
          <a:prstGeom prst="rect">
            <a:avLst/>
          </a:prstGeom>
          <a:noFill/>
          <a:ln/>
        </p:spPr>
        <p:txBody>
          <a:bodyPr wrap="square" lIns="0" tIns="0" rIns="0" bIns="0" rtlCol="0" anchor="t"/>
          <a:lstStyle/>
          <a:p>
            <a:pPr indent="0" marL="0">
              <a:buNone/>
            </a:pPr>
            <a:r>
              <a:rPr lang="en-US" sz="1400" b="1" dirty="0">
                <a:solidFill>
                  <a:schemeClr val="tx1"/>
                </a:solidFill>
              </a:rPr>
              <a:t>Position MPC</a:t>
            </a:r>
            <a:endParaRPr lang="en-US" sz="1400" dirty="0"/>
          </a:p>
          <a:p>
            <a:pPr indent="0" marL="0">
              <a:buNone/>
            </a:pPr>
            <a:r>
              <a:rPr lang="en-US" sz="1100" dirty="0">
                <a:solidFill>
                  <a:schemeClr val="tx2"/>
                </a:solidFill>
              </a:rPr>
              <a:t>plans the motion, 50–100 times a second</a:t>
            </a:r>
            <a:endParaRPr lang="en-US" sz="1400" dirty="0"/>
          </a:p>
        </p:txBody>
      </p:sp>
      <p:sp>
        <p:nvSpPr>
          <p:cNvPr id="12" name="Shape 10"/>
          <p:cNvSpPr/>
          <p:nvPr/>
        </p:nvSpPr>
        <p:spPr>
          <a:xfrm>
            <a:off x="2148840" y="2971800"/>
            <a:ext cx="0" cy="228600"/>
          </a:xfrm>
          <a:prstGeom prst="line">
            <a:avLst/>
          </a:prstGeom>
          <a:noFill/>
          <a:ln w="19050">
            <a:solidFill>
              <a:srgbClr val="9AA5B1"/>
            </a:solidFill>
            <a:prstDash val="solid"/>
            <a:tailEnd type="triangle"/>
          </a:ln>
        </p:spPr>
      </p:sp>
      <p:sp>
        <p:nvSpPr>
          <p:cNvPr id="13" name="Shape 11"/>
          <p:cNvSpPr/>
          <p:nvPr/>
        </p:nvSpPr>
        <p:spPr>
          <a:xfrm>
            <a:off x="640080" y="3200400"/>
            <a:ext cx="3017520" cy="640080"/>
          </a:xfrm>
          <a:prstGeom prst="rect">
            <a:avLst/>
          </a:prstGeom>
          <a:solidFill>
            <a:schemeClr val="bg1"/>
          </a:solidFill>
          <a:ln w="19050">
            <a:solidFill>
              <a:srgbClr val="D9530B"/>
            </a:solidFill>
            <a:prstDash val="solid"/>
          </a:ln>
        </p:spPr>
      </p:sp>
      <p:sp>
        <p:nvSpPr>
          <p:cNvPr id="14" name="Text 12"/>
          <p:cNvSpPr txBox="1"/>
          <p:nvPr/>
        </p:nvSpPr>
        <p:spPr>
          <a:xfrm>
            <a:off x="777240" y="3273552"/>
            <a:ext cx="2743200" cy="548640"/>
          </a:xfrm>
          <a:prstGeom prst="rect">
            <a:avLst/>
          </a:prstGeom>
          <a:noFill/>
          <a:ln/>
        </p:spPr>
        <p:txBody>
          <a:bodyPr wrap="square" lIns="0" tIns="0" rIns="0" bIns="0" rtlCol="0" anchor="t"/>
          <a:lstStyle/>
          <a:p>
            <a:pPr indent="0" marL="0">
              <a:buNone/>
            </a:pPr>
            <a:r>
              <a:rPr lang="en-US" sz="1400" b="1" dirty="0">
                <a:solidFill>
                  <a:schemeClr val="tx1"/>
                </a:solidFill>
              </a:rPr>
              <a:t>Health check · logging</a:t>
            </a:r>
            <a:endParaRPr lang="en-US" sz="1400" dirty="0"/>
          </a:p>
          <a:p>
            <a:pPr indent="0" marL="0">
              <a:buNone/>
            </a:pPr>
            <a:r>
              <a:rPr lang="en-US" sz="1100" dirty="0">
                <a:solidFill>
                  <a:schemeClr val="tx2"/>
                </a:solidFill>
              </a:rPr>
              <a:t>decide: continue or land</a:t>
            </a:r>
            <a:endParaRPr lang="en-US" sz="1400" dirty="0"/>
          </a:p>
        </p:txBody>
      </p:sp>
      <p:sp>
        <p:nvSpPr>
          <p:cNvPr id="15" name="Shape 13"/>
          <p:cNvSpPr/>
          <p:nvPr/>
        </p:nvSpPr>
        <p:spPr>
          <a:xfrm>
            <a:off x="5212080" y="1463040"/>
            <a:ext cx="3291840" cy="640080"/>
          </a:xfrm>
          <a:prstGeom prst="rect">
            <a:avLst/>
          </a:prstGeom>
          <a:solidFill>
            <a:schemeClr val="bg1"/>
          </a:solidFill>
          <a:ln w="19050">
            <a:solidFill>
              <a:srgbClr val="D9530B"/>
            </a:solidFill>
            <a:prstDash val="solid"/>
          </a:ln>
        </p:spPr>
      </p:sp>
      <p:sp>
        <p:nvSpPr>
          <p:cNvPr id="16" name="Text 14"/>
          <p:cNvSpPr txBox="1"/>
          <p:nvPr/>
        </p:nvSpPr>
        <p:spPr>
          <a:xfrm>
            <a:off x="5349240" y="1536192"/>
            <a:ext cx="3017520" cy="548640"/>
          </a:xfrm>
          <a:prstGeom prst="rect">
            <a:avLst/>
          </a:prstGeom>
          <a:noFill/>
          <a:ln/>
        </p:spPr>
        <p:txBody>
          <a:bodyPr wrap="square" lIns="0" tIns="0" rIns="0" bIns="0" rtlCol="0" anchor="t"/>
          <a:lstStyle/>
          <a:p>
            <a:pPr indent="0" marL="0">
              <a:buNone/>
            </a:pPr>
            <a:r>
              <a:rPr lang="en-US" sz="1400" b="1" dirty="0">
                <a:solidFill>
                  <a:schemeClr val="tx1"/>
                </a:solidFill>
              </a:rPr>
              <a:t>INDI attitude control</a:t>
            </a:r>
            <a:endParaRPr lang="en-US" sz="1400" dirty="0"/>
          </a:p>
          <a:p>
            <a:pPr indent="0" marL="0">
              <a:buNone/>
            </a:pPr>
            <a:r>
              <a:rPr lang="en-US" sz="1100" dirty="0">
                <a:solidFill>
                  <a:schemeClr val="tx2"/>
                </a:solidFill>
              </a:rPr>
              <a:t>keeps the tilt right, 500 times a second</a:t>
            </a:r>
            <a:endParaRPr lang="en-US" sz="1400" dirty="0"/>
          </a:p>
        </p:txBody>
      </p:sp>
      <p:sp>
        <p:nvSpPr>
          <p:cNvPr id="17" name="Shape 15"/>
          <p:cNvSpPr/>
          <p:nvPr/>
        </p:nvSpPr>
        <p:spPr>
          <a:xfrm>
            <a:off x="5212080" y="2331720"/>
            <a:ext cx="3291840" cy="640080"/>
          </a:xfrm>
          <a:prstGeom prst="rect">
            <a:avLst/>
          </a:prstGeom>
          <a:solidFill>
            <a:schemeClr val="bg1"/>
          </a:solidFill>
          <a:ln w="19050">
            <a:solidFill>
              <a:srgbClr val="D9530B"/>
            </a:solidFill>
            <a:prstDash val="solid"/>
          </a:ln>
        </p:spPr>
      </p:sp>
      <p:sp>
        <p:nvSpPr>
          <p:cNvPr id="18" name="Text 16"/>
          <p:cNvSpPr txBox="1"/>
          <p:nvPr/>
        </p:nvSpPr>
        <p:spPr>
          <a:xfrm>
            <a:off x="5349240" y="2404872"/>
            <a:ext cx="3017520" cy="548640"/>
          </a:xfrm>
          <a:prstGeom prst="rect">
            <a:avLst/>
          </a:prstGeom>
          <a:noFill/>
          <a:ln/>
        </p:spPr>
        <p:txBody>
          <a:bodyPr wrap="square" lIns="0" tIns="0" rIns="0" bIns="0" rtlCol="0" anchor="t"/>
          <a:lstStyle/>
          <a:p>
            <a:pPr indent="0" marL="0">
              <a:buNone/>
            </a:pPr>
            <a:r>
              <a:rPr lang="en-US" sz="1400" b="1" dirty="0">
                <a:solidFill>
                  <a:schemeClr val="tx1"/>
                </a:solidFill>
              </a:rPr>
              <a:t>WLS motor allocation</a:t>
            </a:r>
            <a:endParaRPr lang="en-US" sz="1400" dirty="0"/>
          </a:p>
          <a:p>
            <a:pPr indent="0" marL="0">
              <a:buNone/>
            </a:pPr>
            <a:r>
              <a:rPr lang="en-US" sz="1100" dirty="0">
                <a:solidFill>
                  <a:schemeClr val="tx2"/>
                </a:solidFill>
              </a:rPr>
              <a:t>shares the work across the 4 motors</a:t>
            </a:r>
            <a:endParaRPr lang="en-US" sz="1400" dirty="0"/>
          </a:p>
        </p:txBody>
      </p:sp>
      <p:sp>
        <p:nvSpPr>
          <p:cNvPr id="19" name="Shape 17"/>
          <p:cNvSpPr/>
          <p:nvPr/>
        </p:nvSpPr>
        <p:spPr>
          <a:xfrm>
            <a:off x="6858000" y="2103120"/>
            <a:ext cx="0" cy="228600"/>
          </a:xfrm>
          <a:prstGeom prst="line">
            <a:avLst/>
          </a:prstGeom>
          <a:noFill/>
          <a:ln w="19050">
            <a:solidFill>
              <a:srgbClr val="9AA5B1"/>
            </a:solidFill>
            <a:prstDash val="solid"/>
            <a:tailEnd type="triangle"/>
          </a:ln>
        </p:spPr>
      </p:sp>
      <p:sp>
        <p:nvSpPr>
          <p:cNvPr id="20" name="Shape 18"/>
          <p:cNvSpPr/>
          <p:nvPr/>
        </p:nvSpPr>
        <p:spPr>
          <a:xfrm>
            <a:off x="5989320" y="2971800"/>
            <a:ext cx="0" cy="228600"/>
          </a:xfrm>
          <a:prstGeom prst="line">
            <a:avLst/>
          </a:prstGeom>
          <a:noFill/>
          <a:ln w="19050">
            <a:solidFill>
              <a:srgbClr val="9AA5B1"/>
            </a:solidFill>
            <a:prstDash val="solid"/>
            <a:tailEnd type="triangle"/>
          </a:ln>
        </p:spPr>
      </p:sp>
      <p:sp>
        <p:nvSpPr>
          <p:cNvPr id="21" name="Shape 19"/>
          <p:cNvSpPr/>
          <p:nvPr/>
        </p:nvSpPr>
        <p:spPr>
          <a:xfrm>
            <a:off x="5212080" y="3200400"/>
            <a:ext cx="1554480" cy="640080"/>
          </a:xfrm>
          <a:prstGeom prst="rect">
            <a:avLst/>
          </a:prstGeom>
          <a:solidFill>
            <a:schemeClr val="bg1"/>
          </a:solidFill>
          <a:ln w="12700">
            <a:solidFill>
              <a:srgbClr val="9AA5B1"/>
            </a:solidFill>
            <a:prstDash val="solid"/>
          </a:ln>
        </p:spPr>
      </p:sp>
      <p:sp>
        <p:nvSpPr>
          <p:cNvPr id="22" name="Text 20"/>
          <p:cNvSpPr txBox="1"/>
          <p:nvPr/>
        </p:nvSpPr>
        <p:spPr>
          <a:xfrm>
            <a:off x="5303520" y="3273552"/>
            <a:ext cx="1371600" cy="548640"/>
          </a:xfrm>
          <a:prstGeom prst="rect">
            <a:avLst/>
          </a:prstGeom>
          <a:noFill/>
          <a:ln/>
        </p:spPr>
        <p:txBody>
          <a:bodyPr wrap="square" lIns="0" tIns="0" rIns="0" bIns="0" rtlCol="0" anchor="t"/>
          <a:lstStyle/>
          <a:p>
            <a:pPr indent="0" marL="0">
              <a:buNone/>
            </a:pPr>
            <a:r>
              <a:rPr lang="en-US" sz="1400" b="1" dirty="0">
                <a:solidFill>
                  <a:schemeClr val="tx1"/>
                </a:solidFill>
              </a:rPr>
              <a:t>4 motors</a:t>
            </a:r>
            <a:endParaRPr lang="en-US" sz="1400" dirty="0"/>
          </a:p>
          <a:p>
            <a:pPr indent="0" marL="0">
              <a:buNone/>
            </a:pPr>
            <a:r>
              <a:rPr lang="en-US" sz="1100" dirty="0">
                <a:solidFill>
                  <a:schemeClr val="tx2"/>
                </a:solidFill>
              </a:rPr>
              <a:t>speeds set by WLS</a:t>
            </a:r>
            <a:endParaRPr lang="en-US" sz="1400" dirty="0"/>
          </a:p>
        </p:txBody>
      </p:sp>
      <p:sp>
        <p:nvSpPr>
          <p:cNvPr id="23" name="Shape 21"/>
          <p:cNvSpPr/>
          <p:nvPr/>
        </p:nvSpPr>
        <p:spPr>
          <a:xfrm>
            <a:off x="6949440" y="3200400"/>
            <a:ext cx="1554480" cy="640080"/>
          </a:xfrm>
          <a:prstGeom prst="rect">
            <a:avLst/>
          </a:prstGeom>
          <a:solidFill>
            <a:schemeClr val="bg1"/>
          </a:solidFill>
          <a:ln w="12700">
            <a:solidFill>
              <a:srgbClr val="9AA5B1"/>
            </a:solidFill>
            <a:prstDash val="solid"/>
          </a:ln>
        </p:spPr>
      </p:sp>
      <p:sp>
        <p:nvSpPr>
          <p:cNvPr id="24" name="Text 22"/>
          <p:cNvSpPr txBox="1"/>
          <p:nvPr/>
        </p:nvSpPr>
        <p:spPr>
          <a:xfrm>
            <a:off x="7040880" y="3273552"/>
            <a:ext cx="1417320" cy="548640"/>
          </a:xfrm>
          <a:prstGeom prst="rect">
            <a:avLst/>
          </a:prstGeom>
          <a:noFill/>
          <a:ln/>
        </p:spPr>
        <p:txBody>
          <a:bodyPr wrap="square" lIns="0" tIns="0" rIns="0" bIns="0" rtlCol="0" anchor="t"/>
          <a:lstStyle/>
          <a:p>
            <a:pPr indent="0" marL="0">
              <a:buNone/>
            </a:pPr>
            <a:r>
              <a:rPr lang="en-US" sz="1300" b="1" dirty="0">
                <a:solidFill>
                  <a:schemeClr val="tx1"/>
                </a:solidFill>
              </a:rPr>
              <a:t>State estimator</a:t>
            </a:r>
            <a:endParaRPr lang="en-US" sz="1400" dirty="0"/>
          </a:p>
          <a:p>
            <a:pPr indent="0" marL="0">
              <a:buNone/>
            </a:pPr>
            <a:r>
              <a:rPr lang="en-US" sz="1100" dirty="0">
                <a:solidFill>
                  <a:schemeClr val="tx2"/>
                </a:solidFill>
              </a:rPr>
              <a:t>IMU + positioning</a:t>
            </a:r>
            <a:endParaRPr lang="en-US" sz="1400" dirty="0"/>
          </a:p>
        </p:txBody>
      </p:sp>
      <p:sp>
        <p:nvSpPr>
          <p:cNvPr id="25" name="Shape 23"/>
          <p:cNvSpPr/>
          <p:nvPr/>
        </p:nvSpPr>
        <p:spPr>
          <a:xfrm>
            <a:off x="3840480" y="1783080"/>
            <a:ext cx="1188720" cy="0"/>
          </a:xfrm>
          <a:prstGeom prst="line">
            <a:avLst/>
          </a:prstGeom>
          <a:noFill/>
          <a:ln w="19050">
            <a:solidFill>
              <a:srgbClr val="9AA5B1"/>
            </a:solidFill>
            <a:prstDash val="solid"/>
            <a:tailEnd type="triangle"/>
          </a:ln>
        </p:spPr>
      </p:sp>
      <p:sp>
        <p:nvSpPr>
          <p:cNvPr id="26" name="Text 24"/>
          <p:cNvSpPr txBox="1"/>
          <p:nvPr/>
        </p:nvSpPr>
        <p:spPr>
          <a:xfrm>
            <a:off x="3886200" y="1508760"/>
            <a:ext cx="1097280" cy="228600"/>
          </a:xfrm>
          <a:prstGeom prst="rect">
            <a:avLst/>
          </a:prstGeom>
          <a:noFill/>
          <a:ln/>
        </p:spPr>
        <p:txBody>
          <a:bodyPr wrap="square" lIns="0" tIns="0" rIns="0" bIns="0" rtlCol="0" anchor="t"/>
          <a:lstStyle/>
          <a:p>
            <a:pPr algn="ctr" indent="0" marL="0">
              <a:buNone/>
            </a:pPr>
            <a:r>
              <a:rPr lang="en-US" sz="1000" dirty="0">
                <a:solidFill>
                  <a:schemeClr val="tx2"/>
                </a:solidFill>
              </a:rPr>
              <a:t>setpoints, radio</a:t>
            </a:r>
            <a:endParaRPr lang="en-US" sz="1000" dirty="0"/>
          </a:p>
        </p:txBody>
      </p:sp>
      <p:sp>
        <p:nvSpPr>
          <p:cNvPr id="27" name="Shape 25"/>
          <p:cNvSpPr/>
          <p:nvPr/>
        </p:nvSpPr>
        <p:spPr>
          <a:xfrm>
            <a:off x="3840480" y="2651760"/>
            <a:ext cx="1188720" cy="0"/>
          </a:xfrm>
          <a:prstGeom prst="line">
            <a:avLst/>
          </a:prstGeom>
          <a:noFill/>
          <a:ln w="19050">
            <a:solidFill>
              <a:srgbClr val="9AA5B1"/>
            </a:solidFill>
            <a:prstDash val="solid"/>
            <a:headEnd type="triangle"/>
          </a:ln>
        </p:spPr>
      </p:sp>
      <p:sp>
        <p:nvSpPr>
          <p:cNvPr id="28" name="Text 26"/>
          <p:cNvSpPr txBox="1"/>
          <p:nvPr/>
        </p:nvSpPr>
        <p:spPr>
          <a:xfrm>
            <a:off x="3886200" y="2377440"/>
            <a:ext cx="1097280" cy="228600"/>
          </a:xfrm>
          <a:prstGeom prst="rect">
            <a:avLst/>
          </a:prstGeom>
          <a:noFill/>
          <a:ln/>
        </p:spPr>
        <p:txBody>
          <a:bodyPr wrap="square" lIns="0" tIns="0" rIns="0" bIns="0" rtlCol="0" anchor="t"/>
          <a:lstStyle/>
          <a:p>
            <a:pPr algn="ctr" indent="0" marL="0">
              <a:buNone/>
            </a:pPr>
            <a:r>
              <a:rPr lang="en-US" sz="1000" dirty="0">
                <a:solidFill>
                  <a:schemeClr val="tx2"/>
                </a:solidFill>
              </a:rPr>
              <a:t>telemetry</a:t>
            </a:r>
            <a:endParaRPr lang="en-US" sz="1000" dirty="0"/>
          </a:p>
        </p:txBody>
      </p:sp>
      <p:sp>
        <p:nvSpPr>
          <p:cNvPr id="29" name="Shape 27"/>
          <p:cNvSpPr/>
          <p:nvPr/>
        </p:nvSpPr>
        <p:spPr>
          <a:xfrm>
            <a:off x="3840480" y="3520440"/>
            <a:ext cx="1188720" cy="0"/>
          </a:xfrm>
          <a:prstGeom prst="line">
            <a:avLst/>
          </a:prstGeom>
          <a:noFill/>
          <a:ln w="25400">
            <a:solidFill>
              <a:srgbClr val="D9530B"/>
            </a:solidFill>
            <a:prstDash val="solid"/>
            <a:tailEnd type="triangle"/>
          </a:ln>
        </p:spPr>
      </p:sp>
      <p:sp>
        <p:nvSpPr>
          <p:cNvPr id="30" name="Text 28"/>
          <p:cNvSpPr txBox="1"/>
          <p:nvPr/>
        </p:nvSpPr>
        <p:spPr>
          <a:xfrm>
            <a:off x="3886200" y="3246120"/>
            <a:ext cx="1097280" cy="228600"/>
          </a:xfrm>
          <a:prstGeom prst="rect">
            <a:avLst/>
          </a:prstGeom>
          <a:noFill/>
          <a:ln/>
        </p:spPr>
        <p:txBody>
          <a:bodyPr wrap="square" lIns="0" tIns="0" rIns="0" bIns="0" rtlCol="0" anchor="t"/>
          <a:lstStyle/>
          <a:p>
            <a:pPr algn="ctr" indent="0" marL="0">
              <a:buNone/>
            </a:pPr>
            <a:r>
              <a:rPr lang="en-US" sz="1000" b="1" dirty="0">
                <a:solidFill>
                  <a:schemeClr val="accent1"/>
                </a:solidFill>
              </a:rPr>
              <a:t>fault message</a:t>
            </a:r>
            <a:endParaRPr lang="en-US" sz="1000" dirty="0"/>
          </a:p>
        </p:txBody>
      </p:sp>
      <p:sp>
        <p:nvSpPr>
          <p:cNvPr id="31" name="Text 29"/>
          <p:cNvSpPr txBox="1"/>
          <p:nvPr/>
        </p:nvSpPr>
        <p:spPr>
          <a:xfrm>
            <a:off x="457200" y="4206240"/>
            <a:ext cx="8229600" cy="411480"/>
          </a:xfrm>
          <a:prstGeom prst="rect">
            <a:avLst/>
          </a:prstGeom>
          <a:noFill/>
          <a:ln/>
        </p:spPr>
        <p:txBody>
          <a:bodyPr wrap="square" lIns="0" tIns="0" rIns="0" bIns="0" rtlCol="0" anchor="t"/>
          <a:lstStyle/>
          <a:p>
            <a:pPr indent="0" marL="0">
              <a:buNone/>
            </a:pPr>
            <a:r>
              <a:rPr lang="en-US" sz="1200" dirty="0">
                <a:solidFill>
                  <a:schemeClr val="tx2"/>
                </a:solidFill>
              </a:rPr>
              <a:t>Orange outline = code we write or change. The fast loop stays on the drone: radio delay (~10 ms) is too slow for 500 Hz stabilisation.</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Three control layers</a:t>
            </a:r>
            <a:endParaRPr lang="en-US" sz="2800" dirty="0"/>
          </a:p>
        </p:txBody>
      </p:sp>
      <p:sp>
        <p:nvSpPr>
          <p:cNvPr id="3" name="Shape 1"/>
          <p:cNvSpPr/>
          <p:nvPr/>
        </p:nvSpPr>
        <p:spPr>
          <a:xfrm>
            <a:off x="457200" y="1051560"/>
            <a:ext cx="2606040" cy="3246120"/>
          </a:xfrm>
          <a:prstGeom prst="rect">
            <a:avLst/>
          </a:prstGeom>
          <a:solidFill>
            <a:schemeClr val="bg2"/>
          </a:solidFill>
          <a:ln/>
        </p:spPr>
      </p:sp>
      <p:sp>
        <p:nvSpPr>
          <p:cNvPr id="4" name="Text 2"/>
          <p:cNvSpPr txBox="1"/>
          <p:nvPr/>
        </p:nvSpPr>
        <p:spPr>
          <a:xfrm>
            <a:off x="640080" y="1188720"/>
            <a:ext cx="2286000" cy="320040"/>
          </a:xfrm>
          <a:prstGeom prst="rect">
            <a:avLst/>
          </a:prstGeom>
          <a:noFill/>
          <a:ln/>
        </p:spPr>
        <p:txBody>
          <a:bodyPr wrap="square" lIns="0" tIns="0" rIns="0" bIns="0" rtlCol="0" anchor="t"/>
          <a:lstStyle/>
          <a:p>
            <a:pPr indent="0" marL="0">
              <a:buNone/>
            </a:pPr>
            <a:r>
              <a:rPr lang="en-US" sz="1600" b="1" dirty="0">
                <a:solidFill>
                  <a:schemeClr val="tx1"/>
                </a:solidFill>
              </a:rPr>
              <a:t>1 · Position MPC</a:t>
            </a:r>
            <a:endParaRPr lang="en-US" sz="1600" dirty="0"/>
          </a:p>
        </p:txBody>
      </p:sp>
      <p:sp>
        <p:nvSpPr>
          <p:cNvPr id="5" name="Text 3"/>
          <p:cNvSpPr txBox="1"/>
          <p:nvPr/>
        </p:nvSpPr>
        <p:spPr>
          <a:xfrm>
            <a:off x="640080" y="1499616"/>
            <a:ext cx="2331720" cy="228600"/>
          </a:xfrm>
          <a:prstGeom prst="rect">
            <a:avLst/>
          </a:prstGeom>
          <a:noFill/>
          <a:ln/>
        </p:spPr>
        <p:txBody>
          <a:bodyPr wrap="square" lIns="0" tIns="0" rIns="0" bIns="0" rtlCol="0" anchor="t"/>
          <a:lstStyle/>
          <a:p>
            <a:pPr indent="0" marL="0">
              <a:buNone/>
            </a:pPr>
            <a:r>
              <a:rPr lang="en-US" sz="1050" i="1" dirty="0">
                <a:solidFill>
                  <a:schemeClr val="tx2"/>
                </a:solidFill>
              </a:rPr>
              <a:t>Model Predictive Control</a:t>
            </a:r>
            <a:endParaRPr lang="en-US" sz="1050" dirty="0"/>
          </a:p>
        </p:txBody>
      </p:sp>
      <p:sp>
        <p:nvSpPr>
          <p:cNvPr id="6" name="Text 4"/>
          <p:cNvSpPr txBox="1"/>
          <p:nvPr/>
        </p:nvSpPr>
        <p:spPr>
          <a:xfrm>
            <a:off x="640080" y="1755648"/>
            <a:ext cx="2286000" cy="228600"/>
          </a:xfrm>
          <a:prstGeom prst="rect">
            <a:avLst/>
          </a:prstGeom>
          <a:noFill/>
          <a:ln/>
        </p:spPr>
        <p:txBody>
          <a:bodyPr wrap="square" lIns="0" tIns="0" rIns="0" bIns="0" rtlCol="0" anchor="t"/>
          <a:lstStyle/>
          <a:p>
            <a:pPr indent="0" marL="0">
              <a:buNone/>
            </a:pPr>
            <a:r>
              <a:rPr lang="en-US" sz="1100" b="1" dirty="0">
                <a:solidFill>
                  <a:schemeClr val="accent1"/>
                </a:solidFill>
              </a:rPr>
              <a:t>Laptop · 50–100 times a second</a:t>
            </a:r>
            <a:endParaRPr lang="en-US" sz="1100" dirty="0"/>
          </a:p>
        </p:txBody>
      </p:sp>
      <p:sp>
        <p:nvSpPr>
          <p:cNvPr id="7" name="Text 5"/>
          <p:cNvSpPr txBox="1"/>
          <p:nvPr/>
        </p:nvSpPr>
        <p:spPr>
          <a:xfrm>
            <a:off x="640080" y="2029968"/>
            <a:ext cx="2286000" cy="914400"/>
          </a:xfrm>
          <a:prstGeom prst="rect">
            <a:avLst/>
          </a:prstGeom>
          <a:noFill/>
          <a:ln/>
        </p:spPr>
        <p:txBody>
          <a:bodyPr wrap="square" lIns="0" tIns="0" rIns="0" bIns="0" rtlCol="0" anchor="t"/>
          <a:lstStyle/>
          <a:p>
            <a:pPr indent="0" marL="0">
              <a:buNone/>
            </a:pPr>
            <a:r>
              <a:rPr lang="en-US" sz="1300" dirty="0">
                <a:solidFill>
                  <a:schemeClr val="tx1"/>
                </a:solidFill>
              </a:rPr>
              <a:t>Plans the next second of motion along the rectangle and keeps every command within thrust and tilt limits.</a:t>
            </a:r>
            <a:endParaRPr lang="en-US" sz="1300" dirty="0"/>
          </a:p>
        </p:txBody>
      </p:sp>
      <p:sp>
        <p:nvSpPr>
          <p:cNvPr id="8" name="Text 6"/>
          <p:cNvSpPr txBox="1"/>
          <p:nvPr/>
        </p:nvSpPr>
        <p:spPr>
          <a:xfrm>
            <a:off x="640080" y="2990088"/>
            <a:ext cx="2286000" cy="228600"/>
          </a:xfrm>
          <a:prstGeom prst="rect">
            <a:avLst/>
          </a:prstGeom>
          <a:noFill/>
          <a:ln/>
        </p:spPr>
        <p:txBody>
          <a:bodyPr wrap="square" lIns="0" tIns="0" rIns="0" bIns="0" rtlCol="0" anchor="t"/>
          <a:lstStyle/>
          <a:p>
            <a:pPr indent="0" marL="0">
              <a:buNone/>
            </a:pPr>
            <a:r>
              <a:rPr lang="en-US" sz="1200" b="1" dirty="0">
                <a:solidFill>
                  <a:schemeClr val="tx2"/>
                </a:solidFill>
              </a:rPr>
              <a:t>Why we need it</a:t>
            </a:r>
            <a:endParaRPr lang="en-US" sz="1200" dirty="0"/>
          </a:p>
        </p:txBody>
      </p:sp>
      <p:sp>
        <p:nvSpPr>
          <p:cNvPr id="9" name="Text 7"/>
          <p:cNvSpPr txBox="1"/>
          <p:nvPr/>
        </p:nvSpPr>
        <p:spPr>
          <a:xfrm>
            <a:off x="640080" y="3218688"/>
            <a:ext cx="2286000" cy="1005840"/>
          </a:xfrm>
          <a:prstGeom prst="rect">
            <a:avLst/>
          </a:prstGeom>
          <a:noFill/>
          <a:ln/>
        </p:spPr>
        <p:txBody>
          <a:bodyPr wrap="square" lIns="0" tIns="0" rIns="0" bIns="0" rtlCol="0" anchor="t"/>
          <a:lstStyle/>
          <a:p>
            <a:pPr indent="0" marL="0">
              <a:buNone/>
            </a:pPr>
            <a:r>
              <a:rPr lang="en-US" sz="1200" dirty="0">
                <a:solidFill>
                  <a:schemeClr val="tx2"/>
                </a:solidFill>
              </a:rPr>
              <a:t>After the fault, limits are the whole problem. It also estimates steady wind and leans into it.</a:t>
            </a:r>
            <a:endParaRPr lang="en-US" sz="1200" dirty="0"/>
          </a:p>
        </p:txBody>
      </p:sp>
      <p:sp>
        <p:nvSpPr>
          <p:cNvPr id="10" name="Shape 8"/>
          <p:cNvSpPr/>
          <p:nvPr/>
        </p:nvSpPr>
        <p:spPr>
          <a:xfrm>
            <a:off x="3291840" y="1051560"/>
            <a:ext cx="2606040" cy="3246120"/>
          </a:xfrm>
          <a:prstGeom prst="rect">
            <a:avLst/>
          </a:prstGeom>
          <a:solidFill>
            <a:schemeClr val="bg2"/>
          </a:solidFill>
          <a:ln/>
        </p:spPr>
      </p:sp>
      <p:sp>
        <p:nvSpPr>
          <p:cNvPr id="11" name="Text 9"/>
          <p:cNvSpPr txBox="1"/>
          <p:nvPr/>
        </p:nvSpPr>
        <p:spPr>
          <a:xfrm>
            <a:off x="3474720" y="1188720"/>
            <a:ext cx="2286000" cy="320040"/>
          </a:xfrm>
          <a:prstGeom prst="rect">
            <a:avLst/>
          </a:prstGeom>
          <a:noFill/>
          <a:ln/>
        </p:spPr>
        <p:txBody>
          <a:bodyPr wrap="square" lIns="0" tIns="0" rIns="0" bIns="0" rtlCol="0" anchor="t"/>
          <a:lstStyle/>
          <a:p>
            <a:pPr indent="0" marL="0">
              <a:buNone/>
            </a:pPr>
            <a:r>
              <a:rPr lang="en-US" sz="1600" b="1" dirty="0">
                <a:solidFill>
                  <a:schemeClr val="tx1"/>
                </a:solidFill>
              </a:rPr>
              <a:t>2 · INDI attitude control</a:t>
            </a:r>
            <a:endParaRPr lang="en-US" sz="1600" dirty="0"/>
          </a:p>
        </p:txBody>
      </p:sp>
      <p:sp>
        <p:nvSpPr>
          <p:cNvPr id="12" name="Text 10"/>
          <p:cNvSpPr txBox="1"/>
          <p:nvPr/>
        </p:nvSpPr>
        <p:spPr>
          <a:xfrm>
            <a:off x="3474720" y="1499616"/>
            <a:ext cx="2331720" cy="228600"/>
          </a:xfrm>
          <a:prstGeom prst="rect">
            <a:avLst/>
          </a:prstGeom>
          <a:noFill/>
          <a:ln/>
        </p:spPr>
        <p:txBody>
          <a:bodyPr wrap="square" lIns="0" tIns="0" rIns="0" bIns="0" rtlCol="0" anchor="t"/>
          <a:lstStyle/>
          <a:p>
            <a:pPr indent="0" marL="0">
              <a:buNone/>
            </a:pPr>
            <a:r>
              <a:rPr lang="en-US" sz="1050" i="1" dirty="0">
                <a:solidFill>
                  <a:schemeClr val="tx2"/>
                </a:solidFill>
              </a:rPr>
              <a:t>Incremental Nonlinear Dynamic Inversion</a:t>
            </a:r>
            <a:endParaRPr lang="en-US" sz="1050" dirty="0"/>
          </a:p>
        </p:txBody>
      </p:sp>
      <p:sp>
        <p:nvSpPr>
          <p:cNvPr id="13" name="Text 11"/>
          <p:cNvSpPr txBox="1"/>
          <p:nvPr/>
        </p:nvSpPr>
        <p:spPr>
          <a:xfrm>
            <a:off x="3474720" y="1755648"/>
            <a:ext cx="2286000" cy="228600"/>
          </a:xfrm>
          <a:prstGeom prst="rect">
            <a:avLst/>
          </a:prstGeom>
          <a:noFill/>
          <a:ln/>
        </p:spPr>
        <p:txBody>
          <a:bodyPr wrap="square" lIns="0" tIns="0" rIns="0" bIns="0" rtlCol="0" anchor="t"/>
          <a:lstStyle/>
          <a:p>
            <a:pPr indent="0" marL="0">
              <a:buNone/>
            </a:pPr>
            <a:r>
              <a:rPr lang="en-US" sz="1100" b="1" dirty="0">
                <a:solidFill>
                  <a:schemeClr val="accent1"/>
                </a:solidFill>
              </a:rPr>
              <a:t>Drone · 500 times a second</a:t>
            </a:r>
            <a:endParaRPr lang="en-US" sz="1100" dirty="0"/>
          </a:p>
        </p:txBody>
      </p:sp>
      <p:sp>
        <p:nvSpPr>
          <p:cNvPr id="14" name="Text 12"/>
          <p:cNvSpPr txBox="1"/>
          <p:nvPr/>
        </p:nvSpPr>
        <p:spPr>
          <a:xfrm>
            <a:off x="3474720" y="2029968"/>
            <a:ext cx="2286000" cy="914400"/>
          </a:xfrm>
          <a:prstGeom prst="rect">
            <a:avLst/>
          </a:prstGeom>
          <a:noFill/>
          <a:ln/>
        </p:spPr>
        <p:txBody>
          <a:bodyPr wrap="square" lIns="0" tIns="0" rIns="0" bIns="0" rtlCol="0" anchor="t"/>
          <a:lstStyle/>
          <a:p>
            <a:pPr indent="0" marL="0">
              <a:buNone/>
            </a:pPr>
            <a:r>
              <a:rPr lang="en-US" sz="1300" dirty="0">
                <a:solidFill>
                  <a:schemeClr val="tx1"/>
                </a:solidFill>
              </a:rPr>
              <a:t>Measures how the rotation is actually changing and corrects the difference, step by step.</a:t>
            </a:r>
            <a:endParaRPr lang="en-US" sz="1300" dirty="0"/>
          </a:p>
        </p:txBody>
      </p:sp>
      <p:sp>
        <p:nvSpPr>
          <p:cNvPr id="15" name="Text 13"/>
          <p:cNvSpPr txBox="1"/>
          <p:nvPr/>
        </p:nvSpPr>
        <p:spPr>
          <a:xfrm>
            <a:off x="3474720" y="2990088"/>
            <a:ext cx="2286000" cy="228600"/>
          </a:xfrm>
          <a:prstGeom prst="rect">
            <a:avLst/>
          </a:prstGeom>
          <a:noFill/>
          <a:ln/>
        </p:spPr>
        <p:txBody>
          <a:bodyPr wrap="square" lIns="0" tIns="0" rIns="0" bIns="0" rtlCol="0" anchor="t"/>
          <a:lstStyle/>
          <a:p>
            <a:pPr indent="0" marL="0">
              <a:buNone/>
            </a:pPr>
            <a:r>
              <a:rPr lang="en-US" sz="1200" b="1" dirty="0">
                <a:solidFill>
                  <a:schemeClr val="tx2"/>
                </a:solidFill>
              </a:rPr>
              <a:t>Why we need it</a:t>
            </a:r>
            <a:endParaRPr lang="en-US" sz="1200" dirty="0"/>
          </a:p>
        </p:txBody>
      </p:sp>
      <p:sp>
        <p:nvSpPr>
          <p:cNvPr id="16" name="Text 14"/>
          <p:cNvSpPr txBox="1"/>
          <p:nvPr/>
        </p:nvSpPr>
        <p:spPr>
          <a:xfrm>
            <a:off x="3474720" y="3218688"/>
            <a:ext cx="2286000" cy="1005840"/>
          </a:xfrm>
          <a:prstGeom prst="rect">
            <a:avLst/>
          </a:prstGeom>
          <a:noFill/>
          <a:ln/>
        </p:spPr>
        <p:txBody>
          <a:bodyPr wrap="square" lIns="0" tIns="0" rIns="0" bIns="0" rtlCol="0" anchor="t"/>
          <a:lstStyle/>
          <a:p>
            <a:pPr indent="0" marL="0">
              <a:buNone/>
            </a:pPr>
            <a:r>
              <a:rPr lang="en-US" sz="1200" dirty="0">
                <a:solidFill>
                  <a:schemeClr val="tx2"/>
                </a:solidFill>
              </a:rPr>
              <a:t>The weak motor and wind gusts show up as measured disturbances and get cancelled, without an exact model.</a:t>
            </a:r>
            <a:endParaRPr lang="en-US" sz="1200" dirty="0"/>
          </a:p>
        </p:txBody>
      </p:sp>
      <p:sp>
        <p:nvSpPr>
          <p:cNvPr id="17" name="Shape 15"/>
          <p:cNvSpPr/>
          <p:nvPr/>
        </p:nvSpPr>
        <p:spPr>
          <a:xfrm>
            <a:off x="6126480" y="1051560"/>
            <a:ext cx="2606040" cy="3246120"/>
          </a:xfrm>
          <a:prstGeom prst="rect">
            <a:avLst/>
          </a:prstGeom>
          <a:solidFill>
            <a:schemeClr val="bg2"/>
          </a:solidFill>
          <a:ln/>
        </p:spPr>
      </p:sp>
      <p:sp>
        <p:nvSpPr>
          <p:cNvPr id="18" name="Text 16"/>
          <p:cNvSpPr txBox="1"/>
          <p:nvPr/>
        </p:nvSpPr>
        <p:spPr>
          <a:xfrm>
            <a:off x="6309360" y="1188720"/>
            <a:ext cx="2286000" cy="320040"/>
          </a:xfrm>
          <a:prstGeom prst="rect">
            <a:avLst/>
          </a:prstGeom>
          <a:noFill/>
          <a:ln/>
        </p:spPr>
        <p:txBody>
          <a:bodyPr wrap="square" lIns="0" tIns="0" rIns="0" bIns="0" rtlCol="0" anchor="t"/>
          <a:lstStyle/>
          <a:p>
            <a:pPr indent="0" marL="0">
              <a:buNone/>
            </a:pPr>
            <a:r>
              <a:rPr lang="en-US" sz="1600" b="1" dirty="0">
                <a:solidFill>
                  <a:schemeClr val="tx1"/>
                </a:solidFill>
              </a:rPr>
              <a:t>3 · WLS motor allocation</a:t>
            </a:r>
            <a:endParaRPr lang="en-US" sz="1600" dirty="0"/>
          </a:p>
        </p:txBody>
      </p:sp>
      <p:sp>
        <p:nvSpPr>
          <p:cNvPr id="19" name="Text 17"/>
          <p:cNvSpPr txBox="1"/>
          <p:nvPr/>
        </p:nvSpPr>
        <p:spPr>
          <a:xfrm>
            <a:off x="6309360" y="1499616"/>
            <a:ext cx="2331720" cy="228600"/>
          </a:xfrm>
          <a:prstGeom prst="rect">
            <a:avLst/>
          </a:prstGeom>
          <a:noFill/>
          <a:ln/>
        </p:spPr>
        <p:txBody>
          <a:bodyPr wrap="square" lIns="0" tIns="0" rIns="0" bIns="0" rtlCol="0" anchor="t"/>
          <a:lstStyle/>
          <a:p>
            <a:pPr indent="0" marL="0">
              <a:buNone/>
            </a:pPr>
            <a:r>
              <a:rPr lang="en-US" sz="1050" i="1" dirty="0">
                <a:solidFill>
                  <a:schemeClr val="tx2"/>
                </a:solidFill>
              </a:rPr>
              <a:t>Weighted Least Squares</a:t>
            </a:r>
            <a:endParaRPr lang="en-US" sz="1050" dirty="0"/>
          </a:p>
        </p:txBody>
      </p:sp>
      <p:sp>
        <p:nvSpPr>
          <p:cNvPr id="20" name="Text 18"/>
          <p:cNvSpPr txBox="1"/>
          <p:nvPr/>
        </p:nvSpPr>
        <p:spPr>
          <a:xfrm>
            <a:off x="6309360" y="1755648"/>
            <a:ext cx="2286000" cy="228600"/>
          </a:xfrm>
          <a:prstGeom prst="rect">
            <a:avLst/>
          </a:prstGeom>
          <a:noFill/>
          <a:ln/>
        </p:spPr>
        <p:txBody>
          <a:bodyPr wrap="square" lIns="0" tIns="0" rIns="0" bIns="0" rtlCol="0" anchor="t"/>
          <a:lstStyle/>
          <a:p>
            <a:pPr indent="0" marL="0">
              <a:buNone/>
            </a:pPr>
            <a:r>
              <a:rPr lang="en-US" sz="1100" b="1" dirty="0">
                <a:solidFill>
                  <a:schemeClr val="accent1"/>
                </a:solidFill>
              </a:rPr>
              <a:t>Drone · 500 times a second</a:t>
            </a:r>
            <a:endParaRPr lang="en-US" sz="1100" dirty="0"/>
          </a:p>
        </p:txBody>
      </p:sp>
      <p:sp>
        <p:nvSpPr>
          <p:cNvPr id="21" name="Text 19"/>
          <p:cNvSpPr txBox="1"/>
          <p:nvPr/>
        </p:nvSpPr>
        <p:spPr>
          <a:xfrm>
            <a:off x="6309360" y="2029968"/>
            <a:ext cx="2286000" cy="914400"/>
          </a:xfrm>
          <a:prstGeom prst="rect">
            <a:avLst/>
          </a:prstGeom>
          <a:noFill/>
          <a:ln/>
        </p:spPr>
        <p:txBody>
          <a:bodyPr wrap="square" lIns="0" tIns="0" rIns="0" bIns="0" rtlCol="0" anchor="t"/>
          <a:lstStyle/>
          <a:p>
            <a:pPr indent="0" marL="0">
              <a:buNone/>
            </a:pPr>
            <a:r>
              <a:rPr lang="en-US" sz="1300" dirty="0">
                <a:solidFill>
                  <a:schemeClr val="tx1"/>
                </a:solidFill>
              </a:rPr>
              <a:t>Splits lift and turning effort across the 4 motors, each within its own limit. Priority: level, then lift, then heading.</a:t>
            </a:r>
            <a:endParaRPr lang="en-US" sz="1300" dirty="0"/>
          </a:p>
        </p:txBody>
      </p:sp>
      <p:sp>
        <p:nvSpPr>
          <p:cNvPr id="22" name="Text 20"/>
          <p:cNvSpPr txBox="1"/>
          <p:nvPr/>
        </p:nvSpPr>
        <p:spPr>
          <a:xfrm>
            <a:off x="6309360" y="2990088"/>
            <a:ext cx="2286000" cy="228600"/>
          </a:xfrm>
          <a:prstGeom prst="rect">
            <a:avLst/>
          </a:prstGeom>
          <a:noFill/>
          <a:ln/>
        </p:spPr>
        <p:txBody>
          <a:bodyPr wrap="square" lIns="0" tIns="0" rIns="0" bIns="0" rtlCol="0" anchor="t"/>
          <a:lstStyle/>
          <a:p>
            <a:pPr indent="0" marL="0">
              <a:buNone/>
            </a:pPr>
            <a:r>
              <a:rPr lang="en-US" sz="1200" b="1" dirty="0">
                <a:solidFill>
                  <a:schemeClr val="tx2"/>
                </a:solidFill>
              </a:rPr>
              <a:t>Why we need it</a:t>
            </a:r>
            <a:endParaRPr lang="en-US" sz="1200" dirty="0"/>
          </a:p>
        </p:txBody>
      </p:sp>
      <p:sp>
        <p:nvSpPr>
          <p:cNvPr id="23" name="Text 21"/>
          <p:cNvSpPr txBox="1"/>
          <p:nvPr/>
        </p:nvSpPr>
        <p:spPr>
          <a:xfrm>
            <a:off x="6309360" y="3218688"/>
            <a:ext cx="2286000" cy="1005840"/>
          </a:xfrm>
          <a:prstGeom prst="rect">
            <a:avLst/>
          </a:prstGeom>
          <a:noFill/>
          <a:ln/>
        </p:spPr>
        <p:txBody>
          <a:bodyPr wrap="square" lIns="0" tIns="0" rIns="0" bIns="0" rtlCol="0" anchor="t"/>
          <a:lstStyle/>
          <a:p>
            <a:pPr indent="0" marL="0">
              <a:buNone/>
            </a:pPr>
            <a:r>
              <a:rPr lang="en-US" sz="1200" dirty="0">
                <a:solidFill>
                  <a:schemeClr val="tx2"/>
                </a:solidFill>
              </a:rPr>
              <a:t>The stock mixer assumes all 4 motors are equally strong.</a:t>
            </a:r>
            <a:endParaRPr lang="en-US" sz="1200" dirty="0"/>
          </a:p>
        </p:txBody>
      </p:sp>
      <p:sp>
        <p:nvSpPr>
          <p:cNvPr id="24" name="Text 22"/>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1200" dirty="0">
                <a:solidFill>
                  <a:schemeClr val="tx2"/>
                </a:solidFill>
              </a:rPr>
              <a:t>Each layer feeds the next: MPC → INDI → WLS → motors.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What changes when the fault message arrives</a:t>
            </a:r>
            <a:endParaRPr lang="en-US" sz="2800" dirty="0"/>
          </a:p>
        </p:txBody>
      </p:sp>
      <p:sp>
        <p:nvSpPr>
          <p:cNvPr id="3" name="Shape 1"/>
          <p:cNvSpPr/>
          <p:nvPr/>
        </p:nvSpPr>
        <p:spPr>
          <a:xfrm>
            <a:off x="457200" y="1051560"/>
            <a:ext cx="2560320" cy="731520"/>
          </a:xfrm>
          <a:prstGeom prst="rect">
            <a:avLst/>
          </a:prstGeom>
          <a:solidFill>
            <a:schemeClr val="bg2"/>
          </a:solidFill>
          <a:ln w="15875">
            <a:solidFill>
              <a:srgbClr val="9AA5B1"/>
            </a:solidFill>
            <a:prstDash val="solid"/>
          </a:ln>
        </p:spPr>
      </p:sp>
      <p:sp>
        <p:nvSpPr>
          <p:cNvPr id="4" name="Text 2"/>
          <p:cNvSpPr txBox="1"/>
          <p:nvPr/>
        </p:nvSpPr>
        <p:spPr>
          <a:xfrm>
            <a:off x="594360" y="1097280"/>
            <a:ext cx="2286000" cy="640080"/>
          </a:xfrm>
          <a:prstGeom prst="rect">
            <a:avLst/>
          </a:prstGeom>
          <a:noFill/>
          <a:ln/>
        </p:spPr>
        <p:txBody>
          <a:bodyPr wrap="square" lIns="0" tIns="0" rIns="0" bIns="0" rtlCol="0" anchor="ctr"/>
          <a:lstStyle/>
          <a:p>
            <a:pPr indent="0" marL="0">
              <a:buNone/>
            </a:pPr>
            <a:r>
              <a:rPr lang="en-US" sz="1300" dirty="0">
                <a:solidFill>
                  <a:schemeClr val="tx1"/>
                </a:solidFill>
              </a:rPr>
              <a:t>Evaluator caps motor k at 50% RPM</a:t>
            </a:r>
            <a:endParaRPr lang="en-US" sz="1300" dirty="0"/>
          </a:p>
        </p:txBody>
      </p:sp>
      <p:sp>
        <p:nvSpPr>
          <p:cNvPr id="5" name="Shape 3"/>
          <p:cNvSpPr/>
          <p:nvPr/>
        </p:nvSpPr>
        <p:spPr>
          <a:xfrm>
            <a:off x="3017520" y="1417320"/>
            <a:ext cx="274320" cy="0"/>
          </a:xfrm>
          <a:prstGeom prst="line">
            <a:avLst/>
          </a:prstGeom>
          <a:noFill/>
          <a:ln w="19050">
            <a:solidFill>
              <a:srgbClr val="9AA5B1"/>
            </a:solidFill>
            <a:prstDash val="solid"/>
            <a:tailEnd type="triangle"/>
          </a:ln>
        </p:spPr>
      </p:sp>
      <p:sp>
        <p:nvSpPr>
          <p:cNvPr id="6" name="Shape 4"/>
          <p:cNvSpPr/>
          <p:nvPr/>
        </p:nvSpPr>
        <p:spPr>
          <a:xfrm>
            <a:off x="3291840" y="1051560"/>
            <a:ext cx="2560320" cy="731520"/>
          </a:xfrm>
          <a:prstGeom prst="rect">
            <a:avLst/>
          </a:prstGeom>
          <a:solidFill>
            <a:schemeClr val="bg1"/>
          </a:solidFill>
          <a:ln w="15875">
            <a:solidFill>
              <a:srgbClr val="D9530B"/>
            </a:solidFill>
            <a:prstDash val="solid"/>
          </a:ln>
        </p:spPr>
      </p:sp>
      <p:sp>
        <p:nvSpPr>
          <p:cNvPr id="7" name="Text 5"/>
          <p:cNvSpPr txBox="1"/>
          <p:nvPr/>
        </p:nvSpPr>
        <p:spPr>
          <a:xfrm>
            <a:off x="3429000" y="1097280"/>
            <a:ext cx="2286000" cy="640080"/>
          </a:xfrm>
          <a:prstGeom prst="rect">
            <a:avLst/>
          </a:prstGeom>
          <a:noFill/>
          <a:ln/>
        </p:spPr>
        <p:txBody>
          <a:bodyPr wrap="square" lIns="0" tIns="0" rIns="0" bIns="0" rtlCol="0" anchor="ctr"/>
          <a:lstStyle/>
          <a:p>
            <a:pPr indent="0" marL="0">
              <a:buNone/>
            </a:pPr>
            <a:r>
              <a:rPr lang="en-US" sz="1300" dirty="0">
                <a:solidFill>
                  <a:schemeClr val="tx1"/>
                </a:solidFill>
              </a:rPr>
              <a:t>Laptop sends “motor k at 50%” over the radio link</a:t>
            </a:r>
            <a:endParaRPr lang="en-US" sz="1300" dirty="0"/>
          </a:p>
        </p:txBody>
      </p:sp>
      <p:sp>
        <p:nvSpPr>
          <p:cNvPr id="8" name="Shape 6"/>
          <p:cNvSpPr/>
          <p:nvPr/>
        </p:nvSpPr>
        <p:spPr>
          <a:xfrm>
            <a:off x="5852160" y="1417320"/>
            <a:ext cx="274320" cy="0"/>
          </a:xfrm>
          <a:prstGeom prst="line">
            <a:avLst/>
          </a:prstGeom>
          <a:noFill/>
          <a:ln w="19050">
            <a:solidFill>
              <a:srgbClr val="9AA5B1"/>
            </a:solidFill>
            <a:prstDash val="solid"/>
            <a:tailEnd type="triangle"/>
          </a:ln>
        </p:spPr>
      </p:sp>
      <p:sp>
        <p:nvSpPr>
          <p:cNvPr id="9" name="Shape 7"/>
          <p:cNvSpPr/>
          <p:nvPr/>
        </p:nvSpPr>
        <p:spPr>
          <a:xfrm>
            <a:off x="6126480" y="1051560"/>
            <a:ext cx="2560320" cy="731520"/>
          </a:xfrm>
          <a:prstGeom prst="rect">
            <a:avLst/>
          </a:prstGeom>
          <a:solidFill>
            <a:schemeClr val="bg1"/>
          </a:solidFill>
          <a:ln w="15875">
            <a:solidFill>
              <a:srgbClr val="D9530B"/>
            </a:solidFill>
            <a:prstDash val="solid"/>
          </a:ln>
        </p:spPr>
      </p:sp>
      <p:sp>
        <p:nvSpPr>
          <p:cNvPr id="10" name="Text 8"/>
          <p:cNvSpPr txBox="1"/>
          <p:nvPr/>
        </p:nvSpPr>
        <p:spPr>
          <a:xfrm>
            <a:off x="6263640" y="1097280"/>
            <a:ext cx="2286000" cy="640080"/>
          </a:xfrm>
          <a:prstGeom prst="rect">
            <a:avLst/>
          </a:prstGeom>
          <a:noFill/>
          <a:ln/>
        </p:spPr>
        <p:txBody>
          <a:bodyPr wrap="square" lIns="0" tIns="0" rIns="0" bIns="0" rtlCol="0" anchor="ctr"/>
          <a:lstStyle/>
          <a:p>
            <a:pPr indent="0" marL="0">
              <a:buNone/>
            </a:pPr>
            <a:r>
              <a:rPr lang="en-US" sz="1300" dirty="0">
                <a:solidFill>
                  <a:schemeClr val="tx1"/>
                </a:solidFill>
              </a:rPr>
              <a:t>Controller switches to fault mode, ramping over ~0.2 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8229600" cy="914400"/>
        </p:xfrm>
        <a:graphic>
          <a:graphicData uri="http://schemas.openxmlformats.org/drawingml/2006/table">
            <a:tbl>
              <a:tblPr/>
              <a:tblGrid>
                <a:gridCol w="2011680"/>
                <a:gridCol w="2651760"/>
                <a:gridCol w="3566160"/>
              </a:tblGrid>
              <a:tr h="384048">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What changes</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Normal flight</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c>
                  <a:txBody>
                    <a:bodyPr/>
                    <a:lstStyle/>
                    <a:p>
                      <a:pPr indent="0" marL="0">
                        <a:buNone/>
                      </a:pPr>
                      <a:r>
                        <a:rPr lang="en-US" sz="1300" b="1" dirty="0">
                          <a:solidFill>
                            <a:srgbClr val="1F2933"/>
                          </a:solidFill>
                          <a:latin typeface="Calibri" pitchFamily="34" charset="0"/>
                          <a:ea typeface="Calibri" pitchFamily="34" charset="-122"/>
                          <a:cs typeface="Calibri" pitchFamily="34" charset="-120"/>
                        </a:rPr>
                        <a:t>After the fault</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Motor k limit</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100% of max thrust</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300" b="1" dirty="0">
                          <a:solidFill>
                            <a:srgbClr val="D9530B"/>
                          </a:solidFill>
                          <a:latin typeface="Calibri" pitchFamily="34" charset="0"/>
                          <a:ea typeface="Calibri" pitchFamily="34" charset="-122"/>
                          <a:cs typeface="Calibri" pitchFamily="34" charset="-120"/>
                        </a:rPr>
                        <a:t>25% of max thrust</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Heading (yaw)</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Held</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300" b="1" dirty="0">
                          <a:solidFill>
                            <a:srgbClr val="D9530B"/>
                          </a:solidFill>
                          <a:latin typeface="Calibri" pitchFamily="34" charset="0"/>
                          <a:ea typeface="Calibri" pitchFamily="34" charset="-122"/>
                          <a:cs typeface="Calibri" pitchFamily="34" charset="-120"/>
                        </a:rPr>
                        <a:t>Released: control thrust direction only</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Allocation priority</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Level, lift, heading</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300" b="1" dirty="0">
                          <a:solidFill>
                            <a:srgbClr val="D9530B"/>
                          </a:solidFill>
                          <a:latin typeface="Calibri" pitchFamily="34" charset="0"/>
                          <a:ea typeface="Calibri" pitchFamily="34" charset="-122"/>
                          <a:cs typeface="Calibri" pitchFamily="34" charset="-120"/>
                        </a:rPr>
                        <a:t>Level, lift (heading weight ≈ 0)</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84048">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MPC limits</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300" dirty="0">
                          <a:solidFill>
                            <a:srgbClr val="1F2933"/>
                          </a:solidFill>
                          <a:latin typeface="Calibri" pitchFamily="34" charset="0"/>
                          <a:ea typeface="Calibri" pitchFamily="34" charset="-122"/>
                          <a:cs typeface="Calibri" pitchFamily="34" charset="-120"/>
                        </a:rPr>
                        <a:t>Full thrust, normal tilt and speed</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300" b="1" dirty="0">
                          <a:solidFill>
                            <a:srgbClr val="D9530B"/>
                          </a:solidFill>
                          <a:latin typeface="Calibri" pitchFamily="34" charset="0"/>
                          <a:ea typeface="Calibri" pitchFamily="34" charset="-122"/>
                          <a:cs typeface="Calibri" pitchFamily="34" charset="-120"/>
                        </a:rPr>
                        <a:t>Thrust ≈ 2.5 of 4 motors; lower tilt and speed</a:t>
                      </a:r>
                      <a:endParaRPr lang="en-US" sz="13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bl>
          </a:graphicData>
        </a:graphic>
      </p:graphicFrame>
      <p:sp>
        <p:nvSpPr>
          <p:cNvPr id="12" name="Text 9"/>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200" dirty="0">
                <a:solidFill>
                  <a:schemeClr val="tx2"/>
                </a:solidFill>
              </a:rPr>
              <a:t>In tests, one laptop command applies the cap and sends the message together. 50% RPM = 25% thrust, calibrated on a thrust stand.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After the fault: step by step</a:t>
            </a:r>
            <a:endParaRPr lang="en-US" sz="2800" dirty="0"/>
          </a:p>
        </p:txBody>
      </p:sp>
      <p:sp>
        <p:nvSpPr>
          <p:cNvPr id="3" name="Shape 1"/>
          <p:cNvSpPr/>
          <p:nvPr/>
        </p:nvSpPr>
        <p:spPr>
          <a:xfrm>
            <a:off x="457200" y="1005840"/>
            <a:ext cx="1828800" cy="822960"/>
          </a:xfrm>
          <a:prstGeom prst="rect">
            <a:avLst/>
          </a:prstGeom>
          <a:solidFill>
            <a:srgbClr val="FBE3D4"/>
          </a:solidFill>
          <a:ln w="15875">
            <a:solidFill>
              <a:srgbClr val="D9530B"/>
            </a:solidFill>
            <a:prstDash val="solid"/>
          </a:ln>
        </p:spPr>
      </p:sp>
      <p:sp>
        <p:nvSpPr>
          <p:cNvPr id="4" name="Text 2"/>
          <p:cNvSpPr txBox="1"/>
          <p:nvPr/>
        </p:nvSpPr>
        <p:spPr>
          <a:xfrm>
            <a:off x="566928" y="1078992"/>
            <a:ext cx="1609344" cy="713232"/>
          </a:xfrm>
          <a:prstGeom prst="rect">
            <a:avLst/>
          </a:prstGeom>
          <a:noFill/>
          <a:ln/>
        </p:spPr>
        <p:txBody>
          <a:bodyPr wrap="square" lIns="0" tIns="0" rIns="0" bIns="0" rtlCol="0" anchor="t"/>
          <a:lstStyle/>
          <a:p>
            <a:pPr indent="0" marL="0">
              <a:buNone/>
            </a:pPr>
            <a:r>
              <a:rPr lang="en-US" sz="1300" b="1" dirty="0">
                <a:solidFill>
                  <a:schemeClr val="tx1"/>
                </a:solidFill>
              </a:rPr>
              <a:t>1 · Fault applied</a:t>
            </a:r>
            <a:endParaRPr lang="en-US" sz="1400" dirty="0"/>
          </a:p>
          <a:p>
            <a:pPr indent="0" marL="0">
              <a:buNone/>
            </a:pPr>
            <a:r>
              <a:rPr lang="en-US" sz="1100" dirty="0">
                <a:solidFill>
                  <a:schemeClr val="tx2"/>
                </a:solidFill>
              </a:rPr>
              <a:t>motor k capped at 50% RPM (25% thrust)</a:t>
            </a:r>
            <a:endParaRPr lang="en-US" sz="1400" dirty="0"/>
          </a:p>
        </p:txBody>
      </p:sp>
      <p:sp>
        <p:nvSpPr>
          <p:cNvPr id="5" name="Shape 3"/>
          <p:cNvSpPr/>
          <p:nvPr/>
        </p:nvSpPr>
        <p:spPr>
          <a:xfrm>
            <a:off x="2286000" y="1417320"/>
            <a:ext cx="301752" cy="0"/>
          </a:xfrm>
          <a:prstGeom prst="line">
            <a:avLst/>
          </a:prstGeom>
          <a:noFill/>
          <a:ln w="19050">
            <a:solidFill>
              <a:srgbClr val="9AA5B1"/>
            </a:solidFill>
            <a:prstDash val="solid"/>
            <a:tailEnd type="triangle"/>
          </a:ln>
        </p:spPr>
      </p:sp>
      <p:sp>
        <p:nvSpPr>
          <p:cNvPr id="6" name="Shape 4"/>
          <p:cNvSpPr/>
          <p:nvPr/>
        </p:nvSpPr>
        <p:spPr>
          <a:xfrm>
            <a:off x="2587752" y="1005840"/>
            <a:ext cx="1828800" cy="822960"/>
          </a:xfrm>
          <a:prstGeom prst="rect">
            <a:avLst/>
          </a:prstGeom>
          <a:solidFill>
            <a:schemeClr val="bg1"/>
          </a:solidFill>
          <a:ln w="15875">
            <a:solidFill>
              <a:srgbClr val="9AA5B1"/>
            </a:solidFill>
            <a:prstDash val="solid"/>
          </a:ln>
        </p:spPr>
      </p:sp>
      <p:sp>
        <p:nvSpPr>
          <p:cNvPr id="7" name="Text 5"/>
          <p:cNvSpPr txBox="1"/>
          <p:nvPr/>
        </p:nvSpPr>
        <p:spPr>
          <a:xfrm>
            <a:off x="2697480" y="1078992"/>
            <a:ext cx="1609344" cy="713232"/>
          </a:xfrm>
          <a:prstGeom prst="rect">
            <a:avLst/>
          </a:prstGeom>
          <a:noFill/>
          <a:ln/>
        </p:spPr>
        <p:txBody>
          <a:bodyPr wrap="square" lIns="0" tIns="0" rIns="0" bIns="0" rtlCol="0" anchor="t"/>
          <a:lstStyle/>
          <a:p>
            <a:pPr indent="0" marL="0">
              <a:buNone/>
            </a:pPr>
            <a:r>
              <a:rPr lang="en-US" sz="1300" b="1" dirty="0">
                <a:solidFill>
                  <a:schemeClr val="tx1"/>
                </a:solidFill>
              </a:rPr>
              <a:t>2 · Message received</a:t>
            </a:r>
            <a:endParaRPr lang="en-US" sz="1400" dirty="0"/>
          </a:p>
          <a:p>
            <a:pPr indent="0" marL="0">
              <a:buNone/>
            </a:pPr>
            <a:r>
              <a:rPr lang="en-US" sz="1100" dirty="0">
                <a:solidFill>
                  <a:schemeClr val="tx2"/>
                </a:solidFill>
              </a:rPr>
              <a:t>laptop → drone: “motor k at 50%”</a:t>
            </a:r>
            <a:endParaRPr lang="en-US" sz="1400" dirty="0"/>
          </a:p>
        </p:txBody>
      </p:sp>
      <p:sp>
        <p:nvSpPr>
          <p:cNvPr id="8" name="Shape 6"/>
          <p:cNvSpPr/>
          <p:nvPr/>
        </p:nvSpPr>
        <p:spPr>
          <a:xfrm>
            <a:off x="4416552" y="1417320"/>
            <a:ext cx="301752" cy="0"/>
          </a:xfrm>
          <a:prstGeom prst="line">
            <a:avLst/>
          </a:prstGeom>
          <a:noFill/>
          <a:ln w="19050">
            <a:solidFill>
              <a:srgbClr val="9AA5B1"/>
            </a:solidFill>
            <a:prstDash val="solid"/>
            <a:tailEnd type="triangle"/>
          </a:ln>
        </p:spPr>
      </p:sp>
      <p:sp>
        <p:nvSpPr>
          <p:cNvPr id="9" name="Shape 7"/>
          <p:cNvSpPr/>
          <p:nvPr/>
        </p:nvSpPr>
        <p:spPr>
          <a:xfrm>
            <a:off x="4718304" y="1005840"/>
            <a:ext cx="1828800" cy="822960"/>
          </a:xfrm>
          <a:prstGeom prst="rect">
            <a:avLst/>
          </a:prstGeom>
          <a:solidFill>
            <a:schemeClr val="bg1"/>
          </a:solidFill>
          <a:ln w="19050">
            <a:solidFill>
              <a:srgbClr val="D9530B"/>
            </a:solidFill>
            <a:prstDash val="solid"/>
          </a:ln>
        </p:spPr>
      </p:sp>
      <p:sp>
        <p:nvSpPr>
          <p:cNvPr id="10" name="Text 8"/>
          <p:cNvSpPr txBox="1"/>
          <p:nvPr/>
        </p:nvSpPr>
        <p:spPr>
          <a:xfrm>
            <a:off x="4828032" y="1078992"/>
            <a:ext cx="1609344" cy="713232"/>
          </a:xfrm>
          <a:prstGeom prst="rect">
            <a:avLst/>
          </a:prstGeom>
          <a:noFill/>
          <a:ln/>
        </p:spPr>
        <p:txBody>
          <a:bodyPr wrap="square" lIns="0" tIns="0" rIns="0" bIns="0" rtlCol="0" anchor="t"/>
          <a:lstStyle/>
          <a:p>
            <a:pPr indent="0" marL="0">
              <a:buNone/>
            </a:pPr>
            <a:r>
              <a:rPr lang="en-US" sz="1300" b="1" dirty="0">
                <a:solidFill>
                  <a:schemeClr val="tx1"/>
                </a:solidFill>
              </a:rPr>
              <a:t>3 · Switch to fault mode</a:t>
            </a:r>
            <a:endParaRPr lang="en-US" sz="1400" dirty="0"/>
          </a:p>
          <a:p>
            <a:pPr indent="0" marL="0">
              <a:buNone/>
            </a:pPr>
            <a:r>
              <a:rPr lang="en-US" sz="1100" dirty="0">
                <a:solidFill>
                  <a:schemeClr val="tx2"/>
                </a:solidFill>
              </a:rPr>
              <a:t>k limit 25% · yaw released · MPC limits tightened</a:t>
            </a:r>
            <a:endParaRPr lang="en-US" sz="1400" dirty="0"/>
          </a:p>
        </p:txBody>
      </p:sp>
      <p:sp>
        <p:nvSpPr>
          <p:cNvPr id="11" name="Shape 9"/>
          <p:cNvSpPr/>
          <p:nvPr/>
        </p:nvSpPr>
        <p:spPr>
          <a:xfrm>
            <a:off x="6547104" y="1417320"/>
            <a:ext cx="301752" cy="0"/>
          </a:xfrm>
          <a:prstGeom prst="line">
            <a:avLst/>
          </a:prstGeom>
          <a:noFill/>
          <a:ln w="19050">
            <a:solidFill>
              <a:srgbClr val="9AA5B1"/>
            </a:solidFill>
            <a:prstDash val="solid"/>
            <a:tailEnd type="triangle"/>
          </a:ln>
        </p:spPr>
      </p:sp>
      <p:sp>
        <p:nvSpPr>
          <p:cNvPr id="12" name="Shape 10"/>
          <p:cNvSpPr/>
          <p:nvPr/>
        </p:nvSpPr>
        <p:spPr>
          <a:xfrm>
            <a:off x="6848856" y="1005840"/>
            <a:ext cx="1828800" cy="822960"/>
          </a:xfrm>
          <a:prstGeom prst="rect">
            <a:avLst/>
          </a:prstGeom>
          <a:solidFill>
            <a:schemeClr val="bg1"/>
          </a:solidFill>
          <a:ln w="19050">
            <a:solidFill>
              <a:srgbClr val="D9530B"/>
            </a:solidFill>
            <a:prstDash val="solid"/>
          </a:ln>
        </p:spPr>
      </p:sp>
      <p:sp>
        <p:nvSpPr>
          <p:cNvPr id="13" name="Text 11"/>
          <p:cNvSpPr txBox="1"/>
          <p:nvPr/>
        </p:nvSpPr>
        <p:spPr>
          <a:xfrm>
            <a:off x="6958584" y="1078992"/>
            <a:ext cx="1609344" cy="713232"/>
          </a:xfrm>
          <a:prstGeom prst="rect">
            <a:avLst/>
          </a:prstGeom>
          <a:noFill/>
          <a:ln/>
        </p:spPr>
        <p:txBody>
          <a:bodyPr wrap="square" lIns="0" tIns="0" rIns="0" bIns="0" rtlCol="0" anchor="t"/>
          <a:lstStyle/>
          <a:p>
            <a:pPr indent="0" marL="0">
              <a:buNone/>
            </a:pPr>
            <a:r>
              <a:rPr lang="en-US" sz="1300" b="1" dirty="0">
                <a:solidFill>
                  <a:schemeClr val="tx1"/>
                </a:solidFill>
              </a:rPr>
              <a:t>4 · Spin, stay level</a:t>
            </a:r>
            <a:endParaRPr lang="en-US" sz="1400" dirty="0"/>
          </a:p>
          <a:p>
            <a:pPr indent="0" marL="0">
              <a:buNone/>
            </a:pPr>
            <a:r>
              <a:rPr lang="en-US" sz="1100" dirty="0">
                <a:solidFill>
                  <a:schemeClr val="tx2"/>
                </a:solidFill>
              </a:rPr>
              <a:t>INDI + WLS hold the tilt; heading drifts</a:t>
            </a:r>
            <a:endParaRPr lang="en-US" sz="1400" dirty="0"/>
          </a:p>
        </p:txBody>
      </p:sp>
      <p:sp>
        <p:nvSpPr>
          <p:cNvPr id="14" name="Shape 12"/>
          <p:cNvSpPr/>
          <p:nvPr/>
        </p:nvSpPr>
        <p:spPr>
          <a:xfrm>
            <a:off x="7763256" y="1828800"/>
            <a:ext cx="0" cy="365760"/>
          </a:xfrm>
          <a:prstGeom prst="line">
            <a:avLst/>
          </a:prstGeom>
          <a:noFill/>
          <a:ln w="19050">
            <a:solidFill>
              <a:srgbClr val="9AA5B1"/>
            </a:solidFill>
            <a:prstDash val="solid"/>
            <a:tailEnd type="triangle"/>
          </a:ln>
        </p:spPr>
      </p:sp>
      <p:sp>
        <p:nvSpPr>
          <p:cNvPr id="15" name="Shape 13"/>
          <p:cNvSpPr/>
          <p:nvPr/>
        </p:nvSpPr>
        <p:spPr>
          <a:xfrm>
            <a:off x="6848856" y="2194560"/>
            <a:ext cx="1828800" cy="822960"/>
          </a:xfrm>
          <a:prstGeom prst="rect">
            <a:avLst/>
          </a:prstGeom>
          <a:solidFill>
            <a:schemeClr val="bg1"/>
          </a:solidFill>
          <a:ln w="15875">
            <a:solidFill>
              <a:srgbClr val="9AA5B1"/>
            </a:solidFill>
            <a:prstDash val="solid"/>
          </a:ln>
        </p:spPr>
      </p:sp>
      <p:sp>
        <p:nvSpPr>
          <p:cNvPr id="16" name="Text 14"/>
          <p:cNvSpPr txBox="1"/>
          <p:nvPr/>
        </p:nvSpPr>
        <p:spPr>
          <a:xfrm>
            <a:off x="6958584" y="2267712"/>
            <a:ext cx="1609344" cy="713232"/>
          </a:xfrm>
          <a:prstGeom prst="rect">
            <a:avLst/>
          </a:prstGeom>
          <a:noFill/>
          <a:ln/>
        </p:spPr>
        <p:txBody>
          <a:bodyPr wrap="square" lIns="0" tIns="0" rIns="0" bIns="0" rtlCol="0" anchor="t"/>
          <a:lstStyle/>
          <a:p>
            <a:pPr indent="0" marL="0">
              <a:buNone/>
            </a:pPr>
            <a:r>
              <a:rPr lang="en-US" sz="1300" b="1" dirty="0">
                <a:solidFill>
                  <a:schemeClr val="tx1"/>
                </a:solidFill>
              </a:rPr>
              <a:t>5 · Settle</a:t>
            </a:r>
            <a:endParaRPr lang="en-US" sz="1400" dirty="0"/>
          </a:p>
          <a:p>
            <a:pPr indent="0" marL="0">
              <a:buNone/>
            </a:pPr>
            <a:r>
              <a:rPr lang="en-US" sz="1100" dirty="0">
                <a:solidFill>
                  <a:schemeClr val="tx2"/>
                </a:solidFill>
              </a:rPr>
              <a:t>hold position for 2–3 s</a:t>
            </a:r>
            <a:endParaRPr lang="en-US" sz="1400" dirty="0"/>
          </a:p>
        </p:txBody>
      </p:sp>
      <p:sp>
        <p:nvSpPr>
          <p:cNvPr id="17" name="Shape 15"/>
          <p:cNvSpPr/>
          <p:nvPr/>
        </p:nvSpPr>
        <p:spPr>
          <a:xfrm>
            <a:off x="3749040" y="2011680"/>
            <a:ext cx="2377440" cy="1188720"/>
          </a:xfrm>
          <a:prstGeom prst="diamond">
            <a:avLst/>
          </a:prstGeom>
          <a:solidFill>
            <a:schemeClr val="bg2"/>
          </a:solidFill>
          <a:ln w="19050">
            <a:solidFill>
              <a:srgbClr val="D9530B"/>
            </a:solidFill>
            <a:prstDash val="solid"/>
          </a:ln>
        </p:spPr>
      </p:sp>
      <p:sp>
        <p:nvSpPr>
          <p:cNvPr id="18" name="Text 16"/>
          <p:cNvSpPr txBox="1"/>
          <p:nvPr/>
        </p:nvSpPr>
        <p:spPr>
          <a:xfrm>
            <a:off x="4069080" y="2331720"/>
            <a:ext cx="1737360" cy="548640"/>
          </a:xfrm>
          <a:prstGeom prst="rect">
            <a:avLst/>
          </a:prstGeom>
          <a:noFill/>
          <a:ln/>
        </p:spPr>
        <p:txBody>
          <a:bodyPr wrap="square" lIns="0" tIns="0" rIns="0" bIns="0" rtlCol="0" anchor="ctr"/>
          <a:lstStyle/>
          <a:p>
            <a:pPr algn="ctr" indent="0" marL="0">
              <a:buNone/>
            </a:pPr>
            <a:r>
              <a:rPr lang="en-US" sz="1300" b="1" dirty="0">
                <a:solidFill>
                  <a:schemeClr val="tx1"/>
                </a:solidFill>
              </a:rPr>
              <a:t>6 · Health check</a:t>
            </a:r>
            <a:endParaRPr lang="en-US" sz="1400" dirty="0"/>
          </a:p>
          <a:p>
            <a:pPr algn="ctr" indent="0" marL="0">
              <a:buNone/>
            </a:pPr>
            <a:r>
              <a:rPr lang="en-US" sz="1050" dirty="0">
                <a:solidFill>
                  <a:schemeClr val="tx2"/>
                </a:solidFill>
              </a:rPr>
              <a:t>tilt · position · battery · wind</a:t>
            </a:r>
            <a:endParaRPr lang="en-US" sz="1400" dirty="0"/>
          </a:p>
        </p:txBody>
      </p:sp>
      <p:sp>
        <p:nvSpPr>
          <p:cNvPr id="19" name="Shape 17"/>
          <p:cNvSpPr/>
          <p:nvPr/>
        </p:nvSpPr>
        <p:spPr>
          <a:xfrm>
            <a:off x="6126480" y="2606040"/>
            <a:ext cx="722376" cy="0"/>
          </a:xfrm>
          <a:prstGeom prst="line">
            <a:avLst/>
          </a:prstGeom>
          <a:noFill/>
          <a:ln w="19050">
            <a:solidFill>
              <a:srgbClr val="9AA5B1"/>
            </a:solidFill>
            <a:prstDash val="solid"/>
            <a:headEnd type="triangle"/>
          </a:ln>
        </p:spPr>
      </p:sp>
      <p:sp>
        <p:nvSpPr>
          <p:cNvPr id="20" name="Shape 18"/>
          <p:cNvSpPr/>
          <p:nvPr/>
        </p:nvSpPr>
        <p:spPr>
          <a:xfrm>
            <a:off x="3108960" y="2606040"/>
            <a:ext cx="640080" cy="0"/>
          </a:xfrm>
          <a:prstGeom prst="line">
            <a:avLst/>
          </a:prstGeom>
          <a:noFill/>
          <a:ln w="19050">
            <a:solidFill>
              <a:srgbClr val="9AA5B1"/>
            </a:solidFill>
            <a:prstDash val="solid"/>
            <a:headEnd type="triangle"/>
          </a:ln>
        </p:spPr>
      </p:sp>
      <p:sp>
        <p:nvSpPr>
          <p:cNvPr id="21" name="Text 19"/>
          <p:cNvSpPr txBox="1"/>
          <p:nvPr/>
        </p:nvSpPr>
        <p:spPr>
          <a:xfrm>
            <a:off x="3127248" y="2331720"/>
            <a:ext cx="603504" cy="228600"/>
          </a:xfrm>
          <a:prstGeom prst="rect">
            <a:avLst/>
          </a:prstGeom>
          <a:noFill/>
          <a:ln/>
        </p:spPr>
        <p:txBody>
          <a:bodyPr wrap="square" lIns="0" tIns="0" rIns="0" bIns="0" rtlCol="0" anchor="t"/>
          <a:lstStyle/>
          <a:p>
            <a:pPr algn="ctr" indent="0" marL="0">
              <a:buNone/>
            </a:pPr>
            <a:r>
              <a:rPr lang="en-US" sz="1100" b="1" dirty="0">
                <a:solidFill>
                  <a:schemeClr val="tx2"/>
                </a:solidFill>
              </a:rPr>
              <a:t>all OK</a:t>
            </a:r>
            <a:endParaRPr lang="en-US" sz="1100" dirty="0"/>
          </a:p>
        </p:txBody>
      </p:sp>
      <p:sp>
        <p:nvSpPr>
          <p:cNvPr id="22" name="Shape 20"/>
          <p:cNvSpPr/>
          <p:nvPr/>
        </p:nvSpPr>
        <p:spPr>
          <a:xfrm>
            <a:off x="457200" y="2194560"/>
            <a:ext cx="2651760" cy="822960"/>
          </a:xfrm>
          <a:prstGeom prst="rect">
            <a:avLst/>
          </a:prstGeom>
          <a:solidFill>
            <a:schemeClr val="bg1"/>
          </a:solidFill>
          <a:ln w="19050">
            <a:solidFill>
              <a:srgbClr val="D9530B"/>
            </a:solidFill>
            <a:prstDash val="solid"/>
          </a:ln>
        </p:spPr>
      </p:sp>
      <p:sp>
        <p:nvSpPr>
          <p:cNvPr id="23" name="Text 21"/>
          <p:cNvSpPr txBox="1"/>
          <p:nvPr/>
        </p:nvSpPr>
        <p:spPr>
          <a:xfrm>
            <a:off x="566928" y="2267712"/>
            <a:ext cx="2432304" cy="713232"/>
          </a:xfrm>
          <a:prstGeom prst="rect">
            <a:avLst/>
          </a:prstGeom>
          <a:noFill/>
          <a:ln/>
        </p:spPr>
        <p:txBody>
          <a:bodyPr wrap="square" lIns="0" tIns="0" rIns="0" bIns="0" rtlCol="0" anchor="t"/>
          <a:lstStyle/>
          <a:p>
            <a:pPr indent="0" marL="0">
              <a:buNone/>
            </a:pPr>
            <a:r>
              <a:rPr lang="en-US" sz="1300" b="1" dirty="0">
                <a:solidFill>
                  <a:schemeClr val="tx1"/>
                </a:solidFill>
              </a:rPr>
              <a:t>Continue the rectangle</a:t>
            </a:r>
            <a:endParaRPr lang="en-US" sz="1400" dirty="0"/>
          </a:p>
          <a:p>
            <a:pPr indent="0" marL="0">
              <a:buNone/>
            </a:pPr>
            <a:r>
              <a:rPr lang="en-US" sz="1100" dirty="0">
                <a:solidFill>
                  <a:schemeClr val="tx2"/>
                </a:solidFill>
              </a:rPr>
              <a:t>at half speed, then land at A (our goal)</a:t>
            </a:r>
            <a:endParaRPr lang="en-US" sz="1400" dirty="0"/>
          </a:p>
        </p:txBody>
      </p:sp>
      <p:sp>
        <p:nvSpPr>
          <p:cNvPr id="24" name="Shape 22"/>
          <p:cNvSpPr/>
          <p:nvPr/>
        </p:nvSpPr>
        <p:spPr>
          <a:xfrm>
            <a:off x="4937760" y="3200400"/>
            <a:ext cx="0" cy="365760"/>
          </a:xfrm>
          <a:prstGeom prst="line">
            <a:avLst/>
          </a:prstGeom>
          <a:noFill/>
          <a:ln w="19050">
            <a:solidFill>
              <a:srgbClr val="9AA5B1"/>
            </a:solidFill>
            <a:prstDash val="solid"/>
            <a:tailEnd type="triangle"/>
          </a:ln>
        </p:spPr>
      </p:sp>
      <p:sp>
        <p:nvSpPr>
          <p:cNvPr id="25" name="Text 23"/>
          <p:cNvSpPr txBox="1"/>
          <p:nvPr/>
        </p:nvSpPr>
        <p:spPr>
          <a:xfrm>
            <a:off x="5029200" y="3246120"/>
            <a:ext cx="1188720" cy="228600"/>
          </a:xfrm>
          <a:prstGeom prst="rect">
            <a:avLst/>
          </a:prstGeom>
          <a:noFill/>
          <a:ln/>
        </p:spPr>
        <p:txBody>
          <a:bodyPr wrap="square" lIns="0" tIns="0" rIns="0" bIns="0" rtlCol="0" anchor="t"/>
          <a:lstStyle/>
          <a:p>
            <a:pPr indent="0" marL="0">
              <a:buNone/>
            </a:pPr>
            <a:r>
              <a:rPr lang="en-US" sz="1100" b="1" dirty="0">
                <a:solidFill>
                  <a:schemeClr val="tx2"/>
                </a:solidFill>
              </a:rPr>
              <a:t>any check fails</a:t>
            </a:r>
            <a:endParaRPr lang="en-US" sz="1100" dirty="0"/>
          </a:p>
        </p:txBody>
      </p:sp>
      <p:sp>
        <p:nvSpPr>
          <p:cNvPr id="26" name="Shape 24"/>
          <p:cNvSpPr/>
          <p:nvPr/>
        </p:nvSpPr>
        <p:spPr>
          <a:xfrm>
            <a:off x="3931920" y="3566160"/>
            <a:ext cx="2011680" cy="731520"/>
          </a:xfrm>
          <a:prstGeom prst="rect">
            <a:avLst/>
          </a:prstGeom>
          <a:solidFill>
            <a:schemeClr val="bg1"/>
          </a:solidFill>
          <a:ln w="15875">
            <a:solidFill>
              <a:srgbClr val="9AA5B1"/>
            </a:solidFill>
            <a:prstDash val="solid"/>
          </a:ln>
        </p:spPr>
      </p:sp>
      <p:sp>
        <p:nvSpPr>
          <p:cNvPr id="27" name="Text 25"/>
          <p:cNvSpPr txBox="1"/>
          <p:nvPr/>
        </p:nvSpPr>
        <p:spPr>
          <a:xfrm>
            <a:off x="4041648" y="3639312"/>
            <a:ext cx="1792224" cy="621792"/>
          </a:xfrm>
          <a:prstGeom prst="rect">
            <a:avLst/>
          </a:prstGeom>
          <a:noFill/>
          <a:ln/>
        </p:spPr>
        <p:txBody>
          <a:bodyPr wrap="square" lIns="0" tIns="0" rIns="0" bIns="0" rtlCol="0" anchor="t"/>
          <a:lstStyle/>
          <a:p>
            <a:pPr indent="0" marL="0">
              <a:buNone/>
            </a:pPr>
            <a:r>
              <a:rPr lang="en-US" sz="1300" b="1" dirty="0">
                <a:solidFill>
                  <a:schemeClr val="tx1"/>
                </a:solidFill>
              </a:rPr>
              <a:t>Land where it is</a:t>
            </a:r>
            <a:endParaRPr lang="en-US" sz="1400" dirty="0"/>
          </a:p>
          <a:p>
            <a:pPr indent="0" marL="0">
              <a:buNone/>
            </a:pPr>
            <a:r>
              <a:rPr lang="en-US" sz="1100" dirty="0">
                <a:solidFill>
                  <a:schemeClr val="tx2"/>
                </a:solidFill>
              </a:rPr>
              <a:t>slow, controlled descent</a:t>
            </a:r>
            <a:endParaRPr lang="en-US" sz="1400" dirty="0"/>
          </a:p>
        </p:txBody>
      </p:sp>
      <p:sp>
        <p:nvSpPr>
          <p:cNvPr id="28" name="Shape 26"/>
          <p:cNvSpPr/>
          <p:nvPr/>
        </p:nvSpPr>
        <p:spPr>
          <a:xfrm>
            <a:off x="6263640" y="3566160"/>
            <a:ext cx="2414016" cy="731520"/>
          </a:xfrm>
          <a:prstGeom prst="rect">
            <a:avLst/>
          </a:prstGeom>
          <a:solidFill>
            <a:schemeClr val="bg1"/>
          </a:solidFill>
          <a:ln w="15875">
            <a:solidFill>
              <a:srgbClr val="9AA5B1"/>
            </a:solidFill>
            <a:prstDash val="dash"/>
          </a:ln>
        </p:spPr>
      </p:sp>
      <p:sp>
        <p:nvSpPr>
          <p:cNvPr id="29" name="Text 27"/>
          <p:cNvSpPr txBox="1"/>
          <p:nvPr/>
        </p:nvSpPr>
        <p:spPr>
          <a:xfrm>
            <a:off x="6373368" y="3639312"/>
            <a:ext cx="2194560" cy="621792"/>
          </a:xfrm>
          <a:prstGeom prst="rect">
            <a:avLst/>
          </a:prstGeom>
          <a:noFill/>
          <a:ln/>
        </p:spPr>
        <p:txBody>
          <a:bodyPr wrap="square" lIns="0" tIns="0" rIns="0" bIns="0" rtlCol="0" anchor="t"/>
          <a:lstStyle/>
          <a:p>
            <a:pPr indent="0" marL="0">
              <a:buNone/>
            </a:pPr>
            <a:r>
              <a:rPr lang="en-US" sz="1200" b="1" dirty="0">
                <a:solidFill>
                  <a:schemeClr val="tx1"/>
                </a:solidFill>
              </a:rPr>
              <a:t>At any time: sudden drop</a:t>
            </a:r>
            <a:endParaRPr lang="en-US" sz="1400" dirty="0"/>
          </a:p>
          <a:p>
            <a:pPr indent="0" marL="0">
              <a:buNone/>
            </a:pPr>
            <a:r>
              <a:rPr lang="en-US" sz="1100" dirty="0">
                <a:solidFill>
                  <a:schemeClr val="tx2"/>
                </a:solidFill>
              </a:rPr>
              <a:t>level + full thrust; too low or flipped → cut motors</a:t>
            </a:r>
            <a:endParaRPr lang="en-US" sz="1400" dirty="0"/>
          </a:p>
        </p:txBody>
      </p:sp>
      <p:sp>
        <p:nvSpPr>
          <p:cNvPr id="30" name="Text 28"/>
          <p:cNvSpPr txBox="1"/>
          <p:nvPr/>
        </p:nvSpPr>
        <p:spPr>
          <a:xfrm>
            <a:off x="457200" y="3611880"/>
            <a:ext cx="3108960" cy="640080"/>
          </a:xfrm>
          <a:prstGeom prst="rect">
            <a:avLst/>
          </a:prstGeom>
          <a:noFill/>
          <a:ln/>
        </p:spPr>
        <p:txBody>
          <a:bodyPr wrap="square" lIns="0" tIns="0" rIns="0" bIns="0" rtlCol="0" anchor="t"/>
          <a:lstStyle/>
          <a:p>
            <a:pPr indent="0" marL="0">
              <a:buNone/>
            </a:pPr>
            <a:r>
              <a:rPr lang="en-US" sz="1200" dirty="0">
                <a:solidFill>
                  <a:schemeClr val="tx2"/>
                </a:solidFill>
              </a:rPr>
              <a:t>Both endings meet the brief. Finishing the rectangle is our goal.</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Demo mission: one rectangle</a:t>
            </a:r>
            <a:endParaRPr lang="en-US" sz="2800" dirty="0"/>
          </a:p>
        </p:txBody>
      </p:sp>
      <p:sp>
        <p:nvSpPr>
          <p:cNvPr id="3" name="Shape 1"/>
          <p:cNvSpPr/>
          <p:nvPr/>
        </p:nvSpPr>
        <p:spPr>
          <a:xfrm>
            <a:off x="822960" y="3611880"/>
            <a:ext cx="2926080" cy="0"/>
          </a:xfrm>
          <a:prstGeom prst="line">
            <a:avLst/>
          </a:prstGeom>
          <a:noFill/>
          <a:ln w="25400">
            <a:solidFill>
              <a:srgbClr val="1F2933"/>
            </a:solidFill>
            <a:prstDash val="solid"/>
            <a:tailEnd type="triangle"/>
          </a:ln>
        </p:spPr>
      </p:sp>
      <p:sp>
        <p:nvSpPr>
          <p:cNvPr id="4" name="Shape 2"/>
          <p:cNvSpPr/>
          <p:nvPr/>
        </p:nvSpPr>
        <p:spPr>
          <a:xfrm>
            <a:off x="3749040" y="1417320"/>
            <a:ext cx="0" cy="2194560"/>
          </a:xfrm>
          <a:prstGeom prst="line">
            <a:avLst/>
          </a:prstGeom>
          <a:noFill/>
          <a:ln w="25400">
            <a:solidFill>
              <a:srgbClr val="1F2933"/>
            </a:solidFill>
            <a:prstDash val="solid"/>
            <a:headEnd type="triangle"/>
          </a:ln>
        </p:spPr>
      </p:sp>
      <p:sp>
        <p:nvSpPr>
          <p:cNvPr id="5" name="Shape 3"/>
          <p:cNvSpPr/>
          <p:nvPr/>
        </p:nvSpPr>
        <p:spPr>
          <a:xfrm>
            <a:off x="822960" y="1417320"/>
            <a:ext cx="2926080" cy="0"/>
          </a:xfrm>
          <a:prstGeom prst="line">
            <a:avLst/>
          </a:prstGeom>
          <a:noFill/>
          <a:ln w="25400">
            <a:solidFill>
              <a:srgbClr val="1F2933"/>
            </a:solidFill>
            <a:prstDash val="solid"/>
            <a:headEnd type="triangle"/>
          </a:ln>
        </p:spPr>
      </p:sp>
      <p:sp>
        <p:nvSpPr>
          <p:cNvPr id="6" name="Shape 4"/>
          <p:cNvSpPr/>
          <p:nvPr/>
        </p:nvSpPr>
        <p:spPr>
          <a:xfrm>
            <a:off x="822960" y="1417320"/>
            <a:ext cx="0" cy="2194560"/>
          </a:xfrm>
          <a:prstGeom prst="line">
            <a:avLst/>
          </a:prstGeom>
          <a:noFill/>
          <a:ln w="25400">
            <a:solidFill>
              <a:srgbClr val="1F2933"/>
            </a:solidFill>
            <a:prstDash val="solid"/>
            <a:tailEnd type="triangle"/>
          </a:ln>
        </p:spPr>
      </p:sp>
      <p:sp>
        <p:nvSpPr>
          <p:cNvPr id="7" name="Text 5"/>
          <p:cNvSpPr txBox="1"/>
          <p:nvPr/>
        </p:nvSpPr>
        <p:spPr>
          <a:xfrm>
            <a:off x="502920" y="3566160"/>
            <a:ext cx="274320" cy="274320"/>
          </a:xfrm>
          <a:prstGeom prst="rect">
            <a:avLst/>
          </a:prstGeom>
          <a:noFill/>
          <a:ln/>
        </p:spPr>
        <p:txBody>
          <a:bodyPr wrap="square" lIns="0" tIns="0" rIns="0" bIns="0" rtlCol="0" anchor="t"/>
          <a:lstStyle/>
          <a:p>
            <a:pPr indent="0" marL="0">
              <a:buNone/>
            </a:pPr>
            <a:r>
              <a:rPr lang="en-US" sz="1600" b="1" dirty="0">
                <a:solidFill>
                  <a:schemeClr val="tx1"/>
                </a:solidFill>
              </a:rPr>
              <a:t>A</a:t>
            </a:r>
            <a:endParaRPr lang="en-US" sz="1600" dirty="0"/>
          </a:p>
        </p:txBody>
      </p:sp>
      <p:sp>
        <p:nvSpPr>
          <p:cNvPr id="8" name="Text 6"/>
          <p:cNvSpPr txBox="1"/>
          <p:nvPr/>
        </p:nvSpPr>
        <p:spPr>
          <a:xfrm>
            <a:off x="3840480" y="3566160"/>
            <a:ext cx="274320" cy="274320"/>
          </a:xfrm>
          <a:prstGeom prst="rect">
            <a:avLst/>
          </a:prstGeom>
          <a:noFill/>
          <a:ln/>
        </p:spPr>
        <p:txBody>
          <a:bodyPr wrap="square" lIns="0" tIns="0" rIns="0" bIns="0" rtlCol="0" anchor="t"/>
          <a:lstStyle/>
          <a:p>
            <a:pPr indent="0" marL="0">
              <a:buNone/>
            </a:pPr>
            <a:r>
              <a:rPr lang="en-US" sz="1600" b="1" dirty="0">
                <a:solidFill>
                  <a:schemeClr val="tx1"/>
                </a:solidFill>
              </a:rPr>
              <a:t>B</a:t>
            </a:r>
            <a:endParaRPr lang="en-US" sz="1600" dirty="0"/>
          </a:p>
        </p:txBody>
      </p:sp>
      <p:sp>
        <p:nvSpPr>
          <p:cNvPr id="9" name="Text 7"/>
          <p:cNvSpPr txBox="1"/>
          <p:nvPr/>
        </p:nvSpPr>
        <p:spPr>
          <a:xfrm>
            <a:off x="3840480" y="1188720"/>
            <a:ext cx="274320" cy="274320"/>
          </a:xfrm>
          <a:prstGeom prst="rect">
            <a:avLst/>
          </a:prstGeom>
          <a:noFill/>
          <a:ln/>
        </p:spPr>
        <p:txBody>
          <a:bodyPr wrap="square" lIns="0" tIns="0" rIns="0" bIns="0" rtlCol="0" anchor="t"/>
          <a:lstStyle/>
          <a:p>
            <a:pPr indent="0" marL="0">
              <a:buNone/>
            </a:pPr>
            <a:r>
              <a:rPr lang="en-US" sz="1600" b="1" dirty="0">
                <a:solidFill>
                  <a:schemeClr val="tx1"/>
                </a:solidFill>
              </a:rPr>
              <a:t>C</a:t>
            </a:r>
            <a:endParaRPr lang="en-US" sz="1600" dirty="0"/>
          </a:p>
        </p:txBody>
      </p:sp>
      <p:sp>
        <p:nvSpPr>
          <p:cNvPr id="10" name="Text 8"/>
          <p:cNvSpPr txBox="1"/>
          <p:nvPr/>
        </p:nvSpPr>
        <p:spPr>
          <a:xfrm>
            <a:off x="502920" y="1188720"/>
            <a:ext cx="274320" cy="274320"/>
          </a:xfrm>
          <a:prstGeom prst="rect">
            <a:avLst/>
          </a:prstGeom>
          <a:noFill/>
          <a:ln/>
        </p:spPr>
        <p:txBody>
          <a:bodyPr wrap="square" lIns="0" tIns="0" rIns="0" bIns="0" rtlCol="0" anchor="t"/>
          <a:lstStyle/>
          <a:p>
            <a:pPr indent="0" marL="0">
              <a:buNone/>
            </a:pPr>
            <a:r>
              <a:rPr lang="en-US" sz="1600" b="1" dirty="0">
                <a:solidFill>
                  <a:schemeClr val="tx1"/>
                </a:solidFill>
              </a:rPr>
              <a:t>D</a:t>
            </a:r>
            <a:endParaRPr lang="en-US" sz="1600" dirty="0"/>
          </a:p>
        </p:txBody>
      </p:sp>
      <p:sp>
        <p:nvSpPr>
          <p:cNvPr id="11" name="Shape 9"/>
          <p:cNvSpPr/>
          <p:nvPr/>
        </p:nvSpPr>
        <p:spPr>
          <a:xfrm>
            <a:off x="3630168" y="2395728"/>
            <a:ext cx="237744" cy="237744"/>
          </a:xfrm>
          <a:prstGeom prst="ellipse">
            <a:avLst/>
          </a:prstGeom>
          <a:solidFill>
            <a:schemeClr val="accent1"/>
          </a:solidFill>
          <a:ln/>
        </p:spPr>
      </p:sp>
      <p:sp>
        <p:nvSpPr>
          <p:cNvPr id="12" name="Text 10"/>
          <p:cNvSpPr txBox="1"/>
          <p:nvPr/>
        </p:nvSpPr>
        <p:spPr>
          <a:xfrm>
            <a:off x="2834640" y="2395728"/>
            <a:ext cx="731520" cy="237744"/>
          </a:xfrm>
          <a:prstGeom prst="rect">
            <a:avLst/>
          </a:prstGeom>
          <a:noFill/>
          <a:ln/>
        </p:spPr>
        <p:txBody>
          <a:bodyPr wrap="square" lIns="0" tIns="0" rIns="0" bIns="0" rtlCol="0" anchor="t"/>
          <a:lstStyle/>
          <a:p>
            <a:pPr algn="r" indent="0" marL="0">
              <a:buNone/>
            </a:pPr>
            <a:r>
              <a:rPr lang="en-US" sz="1200" b="1" dirty="0">
                <a:solidFill>
                  <a:schemeClr val="accent1"/>
                </a:solidFill>
              </a:rPr>
              <a:t>fault</a:t>
            </a:r>
            <a:endParaRPr lang="en-US" sz="1200" dirty="0"/>
          </a:p>
        </p:txBody>
      </p:sp>
      <p:sp>
        <p:nvSpPr>
          <p:cNvPr id="13" name="Text 11"/>
          <p:cNvSpPr txBox="1"/>
          <p:nvPr/>
        </p:nvSpPr>
        <p:spPr>
          <a:xfrm>
            <a:off x="822960" y="3767328"/>
            <a:ext cx="2743200" cy="228600"/>
          </a:xfrm>
          <a:prstGeom prst="rect">
            <a:avLst/>
          </a:prstGeom>
          <a:noFill/>
          <a:ln/>
        </p:spPr>
        <p:txBody>
          <a:bodyPr wrap="square" lIns="0" tIns="0" rIns="0" bIns="0" rtlCol="0" anchor="t"/>
          <a:lstStyle/>
          <a:p>
            <a:pPr indent="0" marL="0">
              <a:buNone/>
            </a:pPr>
            <a:r>
              <a:rPr lang="en-US" sz="1100" dirty="0">
                <a:solidFill>
                  <a:schemeClr val="tx2"/>
                </a:solidFill>
              </a:rPr>
              <a:t>take-off and landing at A</a:t>
            </a:r>
            <a:endParaRPr lang="en-US" sz="1100" dirty="0"/>
          </a:p>
        </p:txBody>
      </p:sp>
      <p:sp>
        <p:nvSpPr>
          <p:cNvPr id="14" name="Text 12"/>
          <p:cNvSpPr txBox="1"/>
          <p:nvPr/>
        </p:nvSpPr>
        <p:spPr>
          <a:xfrm>
            <a:off x="457200" y="4114800"/>
            <a:ext cx="3840480" cy="548640"/>
          </a:xfrm>
          <a:prstGeom prst="rect">
            <a:avLst/>
          </a:prstGeom>
          <a:noFill/>
          <a:ln/>
        </p:spPr>
        <p:txBody>
          <a:bodyPr wrap="square" lIns="0" tIns="0" rIns="0" bIns="0" rtlCol="0" anchor="t"/>
          <a:lstStyle/>
          <a:p>
            <a:pPr indent="0" marL="0">
              <a:buNone/>
            </a:pPr>
            <a:r>
              <a:rPr lang="en-US" sz="1100" dirty="0">
                <a:solidFill>
                  <a:schemeClr val="tx2"/>
                </a:solidFill>
              </a:rPr>
              <a:t>Size set by the positioning system: about 2 m sides with Flow deck, larger with Loco anchors. Height 0.5–1 m.</a:t>
            </a:r>
            <a:endParaRPr lang="en-US" sz="1100" dirty="0"/>
          </a:p>
        </p:txBody>
      </p:sp>
      <p:sp>
        <p:nvSpPr>
          <p:cNvPr id="15" name="Text 13"/>
          <p:cNvSpPr txBox="1"/>
          <p:nvPr/>
        </p:nvSpPr>
        <p:spPr>
          <a:xfrm>
            <a:off x="4572000" y="1051560"/>
            <a:ext cx="320040" cy="54864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16" name="Text 14"/>
          <p:cNvSpPr txBox="1"/>
          <p:nvPr/>
        </p:nvSpPr>
        <p:spPr>
          <a:xfrm>
            <a:off x="4937760" y="1069848"/>
            <a:ext cx="3749040" cy="640080"/>
          </a:xfrm>
          <a:prstGeom prst="rect">
            <a:avLst/>
          </a:prstGeom>
          <a:noFill/>
          <a:ln/>
        </p:spPr>
        <p:txBody>
          <a:bodyPr wrap="square" lIns="0" tIns="0" rIns="0" bIns="0" rtlCol="0" anchor="t"/>
          <a:lstStyle/>
          <a:p>
            <a:pPr indent="0" marL="0">
              <a:buNone/>
            </a:pPr>
            <a:r>
              <a:rPr lang="en-US" sz="1400" b="1" dirty="0">
                <a:solidFill>
                  <a:schemeClr val="tx1"/>
                </a:solidFill>
              </a:rPr>
              <a:t>Baseline flight</a:t>
            </a:r>
            <a:endParaRPr lang="en-US" sz="1400" dirty="0"/>
          </a:p>
          <a:p>
            <a:pPr indent="0" marL="0">
              <a:buNone/>
            </a:pPr>
            <a:r>
              <a:rPr lang="en-US" sz="1300" dirty="0">
                <a:solidFill>
                  <a:schemeClr val="tx2"/>
                </a:solidFill>
              </a:rPr>
              <a:t>A → B → C → D → A, all motors healthy</a:t>
            </a:r>
            <a:endParaRPr lang="en-US" sz="1400" dirty="0"/>
          </a:p>
        </p:txBody>
      </p:sp>
      <p:sp>
        <p:nvSpPr>
          <p:cNvPr id="17" name="Text 15"/>
          <p:cNvSpPr txBox="1"/>
          <p:nvPr/>
        </p:nvSpPr>
        <p:spPr>
          <a:xfrm>
            <a:off x="4572000" y="1737360"/>
            <a:ext cx="320040" cy="54864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18" name="Text 16"/>
          <p:cNvSpPr txBox="1"/>
          <p:nvPr/>
        </p:nvSpPr>
        <p:spPr>
          <a:xfrm>
            <a:off x="4937760" y="1755648"/>
            <a:ext cx="3749040" cy="640080"/>
          </a:xfrm>
          <a:prstGeom prst="rect">
            <a:avLst/>
          </a:prstGeom>
          <a:noFill/>
          <a:ln/>
        </p:spPr>
        <p:txBody>
          <a:bodyPr wrap="square" lIns="0" tIns="0" rIns="0" bIns="0" rtlCol="0" anchor="t"/>
          <a:lstStyle/>
          <a:p>
            <a:pPr indent="0" marL="0">
              <a:buNone/>
            </a:pPr>
            <a:r>
              <a:rPr lang="en-US" sz="1400" b="1" dirty="0">
                <a:solidFill>
                  <a:schemeClr val="tx1"/>
                </a:solidFill>
              </a:rPr>
              <a:t>Fault flight</a:t>
            </a:r>
            <a:endParaRPr lang="en-US" sz="1400" dirty="0"/>
          </a:p>
          <a:p>
            <a:pPr indent="0" marL="0">
              <a:buNone/>
            </a:pPr>
            <a:r>
              <a:rPr lang="en-US" sz="1300" dirty="0">
                <a:solidFill>
                  <a:schemeClr val="tx2"/>
                </a:solidFill>
              </a:rPr>
              <a:t>same path; fault applied on B → C</a:t>
            </a:r>
            <a:endParaRPr lang="en-US" sz="1400" dirty="0"/>
          </a:p>
        </p:txBody>
      </p:sp>
      <p:sp>
        <p:nvSpPr>
          <p:cNvPr id="19" name="Text 17"/>
          <p:cNvSpPr txBox="1"/>
          <p:nvPr/>
        </p:nvSpPr>
        <p:spPr>
          <a:xfrm>
            <a:off x="4572000" y="2423160"/>
            <a:ext cx="320040" cy="54864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20" name="Text 18"/>
          <p:cNvSpPr txBox="1"/>
          <p:nvPr/>
        </p:nvSpPr>
        <p:spPr>
          <a:xfrm>
            <a:off x="4937760" y="2441448"/>
            <a:ext cx="3749040" cy="640080"/>
          </a:xfrm>
          <a:prstGeom prst="rect">
            <a:avLst/>
          </a:prstGeom>
          <a:noFill/>
          <a:ln/>
        </p:spPr>
        <p:txBody>
          <a:bodyPr wrap="square" lIns="0" tIns="0" rIns="0" bIns="0" rtlCol="0" anchor="t"/>
          <a:lstStyle/>
          <a:p>
            <a:pPr indent="0" marL="0">
              <a:buNone/>
            </a:pPr>
            <a:r>
              <a:rPr lang="en-US" sz="1400" b="1" dirty="0">
                <a:solidFill>
                  <a:schemeClr val="tx1"/>
                </a:solidFill>
              </a:rPr>
              <a:t>Settle</a:t>
            </a:r>
            <a:endParaRPr lang="en-US" sz="1400" dirty="0"/>
          </a:p>
          <a:p>
            <a:pPr indent="0" marL="0">
              <a:buNone/>
            </a:pPr>
            <a:r>
              <a:rPr lang="en-US" sz="1300" dirty="0">
                <a:solidFill>
                  <a:schemeClr val="tx2"/>
                </a:solidFill>
              </a:rPr>
              <a:t>hold position for 2–3 s</a:t>
            </a:r>
            <a:endParaRPr lang="en-US" sz="1400" dirty="0"/>
          </a:p>
        </p:txBody>
      </p:sp>
      <p:sp>
        <p:nvSpPr>
          <p:cNvPr id="21" name="Text 19"/>
          <p:cNvSpPr txBox="1"/>
          <p:nvPr/>
        </p:nvSpPr>
        <p:spPr>
          <a:xfrm>
            <a:off x="4572000" y="3108960"/>
            <a:ext cx="320040" cy="548640"/>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22" name="Text 20"/>
          <p:cNvSpPr txBox="1"/>
          <p:nvPr/>
        </p:nvSpPr>
        <p:spPr>
          <a:xfrm>
            <a:off x="4937760" y="3127248"/>
            <a:ext cx="3749040" cy="640080"/>
          </a:xfrm>
          <a:prstGeom prst="rect">
            <a:avLst/>
          </a:prstGeom>
          <a:noFill/>
          <a:ln/>
        </p:spPr>
        <p:txBody>
          <a:bodyPr wrap="square" lIns="0" tIns="0" rIns="0" bIns="0" rtlCol="0" anchor="t"/>
          <a:lstStyle/>
          <a:p>
            <a:pPr indent="0" marL="0">
              <a:buNone/>
            </a:pPr>
            <a:r>
              <a:rPr lang="en-US" sz="1400" b="1" dirty="0">
                <a:solidFill>
                  <a:schemeClr val="tx1"/>
                </a:solidFill>
              </a:rPr>
              <a:t>Health check</a:t>
            </a:r>
            <a:endParaRPr lang="en-US" sz="1400" dirty="0"/>
          </a:p>
          <a:p>
            <a:pPr indent="0" marL="0">
              <a:buNone/>
            </a:pPr>
            <a:r>
              <a:rPr lang="en-US" sz="1300" dirty="0">
                <a:solidFill>
                  <a:schemeClr val="tx2"/>
                </a:solidFill>
              </a:rPr>
              <a:t>tilt, position error, battery, wind</a:t>
            </a:r>
            <a:endParaRPr lang="en-US" sz="1400" dirty="0"/>
          </a:p>
        </p:txBody>
      </p:sp>
      <p:sp>
        <p:nvSpPr>
          <p:cNvPr id="23" name="Text 21"/>
          <p:cNvSpPr txBox="1"/>
          <p:nvPr/>
        </p:nvSpPr>
        <p:spPr>
          <a:xfrm>
            <a:off x="4572000" y="3794760"/>
            <a:ext cx="320040" cy="548640"/>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24" name="Text 22"/>
          <p:cNvSpPr txBox="1"/>
          <p:nvPr/>
        </p:nvSpPr>
        <p:spPr>
          <a:xfrm>
            <a:off x="4937760" y="3813048"/>
            <a:ext cx="3749040" cy="640080"/>
          </a:xfrm>
          <a:prstGeom prst="rect">
            <a:avLst/>
          </a:prstGeom>
          <a:noFill/>
          <a:ln/>
        </p:spPr>
        <p:txBody>
          <a:bodyPr wrap="square" lIns="0" tIns="0" rIns="0" bIns="0" rtlCol="0" anchor="t"/>
          <a:lstStyle/>
          <a:p>
            <a:pPr indent="0" marL="0">
              <a:buNone/>
            </a:pPr>
            <a:r>
              <a:rPr lang="en-US" sz="1400" b="1" dirty="0">
                <a:solidFill>
                  <a:schemeClr val="tx1"/>
                </a:solidFill>
              </a:rPr>
              <a:t>Decide</a:t>
            </a:r>
            <a:endParaRPr lang="en-US" sz="1400" dirty="0"/>
          </a:p>
          <a:p>
            <a:pPr indent="0" marL="0">
              <a:buNone/>
            </a:pPr>
            <a:r>
              <a:rPr lang="en-US" sz="1300" dirty="0">
                <a:solidFill>
                  <a:schemeClr val="tx2"/>
                </a:solidFill>
              </a:rPr>
              <a:t>pass: finish at half speed, land at A · fail: land where it is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Flying outdoors, and extreme cases</a:t>
            </a:r>
            <a:endParaRPr lang="en-US" sz="2800" dirty="0"/>
          </a:p>
        </p:txBody>
      </p:sp>
      <p:sp>
        <p:nvSpPr>
          <p:cNvPr id="3" name="Shape 1"/>
          <p:cNvSpPr/>
          <p:nvPr/>
        </p:nvSpPr>
        <p:spPr>
          <a:xfrm>
            <a:off x="457200" y="1051560"/>
            <a:ext cx="3977640" cy="3017520"/>
          </a:xfrm>
          <a:prstGeom prst="rect">
            <a:avLst/>
          </a:prstGeom>
          <a:solidFill>
            <a:schemeClr val="bg2"/>
          </a:solidFill>
          <a:ln/>
        </p:spPr>
      </p:sp>
      <p:sp>
        <p:nvSpPr>
          <p:cNvPr id="4" name="Shape 2"/>
          <p:cNvSpPr/>
          <p:nvPr/>
        </p:nvSpPr>
        <p:spPr>
          <a:xfrm>
            <a:off x="4709160" y="1051560"/>
            <a:ext cx="3977640" cy="3017520"/>
          </a:xfrm>
          <a:prstGeom prst="rect">
            <a:avLst/>
          </a:prstGeom>
          <a:solidFill>
            <a:schemeClr val="bg1"/>
          </a:solidFill>
          <a:ln w="19050">
            <a:solidFill>
              <a:srgbClr val="D9530B"/>
            </a:solidFill>
            <a:prstDash val="solid"/>
          </a:ln>
        </p:spPr>
      </p:sp>
      <p:sp>
        <p:nvSpPr>
          <p:cNvPr id="5" name="Text 3"/>
          <p:cNvSpPr txBox="1"/>
          <p:nvPr/>
        </p:nvSpPr>
        <p:spPr>
          <a:xfrm>
            <a:off x="640080" y="1188720"/>
            <a:ext cx="3657600" cy="320040"/>
          </a:xfrm>
          <a:prstGeom prst="rect">
            <a:avLst/>
          </a:prstGeom>
          <a:noFill/>
          <a:ln/>
        </p:spPr>
        <p:txBody>
          <a:bodyPr wrap="square" lIns="0" tIns="0" rIns="0" bIns="0" rtlCol="0" anchor="t"/>
          <a:lstStyle/>
          <a:p>
            <a:pPr indent="0" marL="0">
              <a:buNone/>
            </a:pPr>
            <a:r>
              <a:rPr lang="en-US" sz="1600" b="1" dirty="0">
                <a:solidFill>
                  <a:schemeClr val="tx1"/>
                </a:solidFill>
              </a:rPr>
              <a:t>Football ground</a:t>
            </a:r>
            <a:endParaRPr lang="en-US" sz="1600" dirty="0"/>
          </a:p>
        </p:txBody>
      </p:sp>
      <p:sp>
        <p:nvSpPr>
          <p:cNvPr id="6" name="Text 4"/>
          <p:cNvSpPr txBox="1"/>
          <p:nvPr/>
        </p:nvSpPr>
        <p:spPr>
          <a:xfrm>
            <a:off x="640080" y="160020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Position: our drone has no GPS and Lighthouse fails in sunlight, so we use Loco UWB anchors around the path (Flow deck as fallback)</a:t>
            </a:r>
            <a:endParaRPr lang="en-US" sz="1300" dirty="0"/>
          </a:p>
          <a:p>
            <a:pPr marL="342900" indent="-342900">
              <a:spcAft>
                <a:spcPts val="600"/>
              </a:spcAft>
              <a:buSzPct val="100000"/>
              <a:buChar char="•"/>
            </a:pPr>
            <a:r>
              <a:rPr lang="en-US" sz="1300" dirty="0">
                <a:solidFill>
                  <a:schemeClr val="tx1"/>
                </a:solidFill>
              </a:rPr>
              <a:t>Wind: INDI cancels gusts; MPC estimates steady wind and leans into it</a:t>
            </a:r>
            <a:endParaRPr lang="en-US" sz="1300" dirty="0"/>
          </a:p>
          <a:p>
            <a:pPr marL="342900" indent="-342900">
              <a:spcAft>
                <a:spcPts val="600"/>
              </a:spcAft>
              <a:buSzPct val="100000"/>
              <a:buChar char="•"/>
            </a:pPr>
            <a:r>
              <a:rPr lang="en-US" sz="1300" dirty="0">
                <a:solidFill>
                  <a:schemeClr val="tx1"/>
                </a:solidFill>
              </a:rPr>
              <a:t>Fly in calm hours, at low height, over soft grass, from a flat take-off pad</a:t>
            </a:r>
            <a:endParaRPr lang="en-US" sz="1300" dirty="0"/>
          </a:p>
        </p:txBody>
      </p:sp>
      <p:sp>
        <p:nvSpPr>
          <p:cNvPr id="7" name="Text 5"/>
          <p:cNvSpPr txBox="1"/>
          <p:nvPr/>
        </p:nvSpPr>
        <p:spPr>
          <a:xfrm>
            <a:off x="4892040" y="1188720"/>
            <a:ext cx="3657600" cy="320040"/>
          </a:xfrm>
          <a:prstGeom prst="rect">
            <a:avLst/>
          </a:prstGeom>
          <a:noFill/>
          <a:ln/>
        </p:spPr>
        <p:txBody>
          <a:bodyPr wrap="square" lIns="0" tIns="0" rIns="0" bIns="0" rtlCol="0" anchor="t"/>
          <a:lstStyle/>
          <a:p>
            <a:pPr indent="0" marL="0">
              <a:buNone/>
            </a:pPr>
            <a:r>
              <a:rPr lang="en-US" sz="1600" b="1" dirty="0">
                <a:solidFill>
                  <a:schemeClr val="tx1"/>
                </a:solidFill>
              </a:rPr>
              <a:t>Extreme cases (in progress)</a:t>
            </a:r>
            <a:endParaRPr lang="en-US" sz="1600" dirty="0"/>
          </a:p>
        </p:txBody>
      </p:sp>
      <p:sp>
        <p:nvSpPr>
          <p:cNvPr id="8" name="Text 6"/>
          <p:cNvSpPr txBox="1"/>
          <p:nvPr/>
        </p:nvSpPr>
        <p:spPr>
          <a:xfrm>
            <a:off x="4892040" y="1527048"/>
            <a:ext cx="3657600" cy="274320"/>
          </a:xfrm>
          <a:prstGeom prst="rect">
            <a:avLst/>
          </a:prstGeom>
          <a:noFill/>
          <a:ln/>
        </p:spPr>
        <p:txBody>
          <a:bodyPr wrap="square" lIns="0" tIns="0" rIns="0" bIns="0" rtlCol="0" anchor="t"/>
          <a:lstStyle/>
          <a:p>
            <a:pPr indent="0" marL="0">
              <a:buNone/>
            </a:pPr>
            <a:r>
              <a:rPr lang="en-US" sz="1200" dirty="0">
                <a:solidFill>
                  <a:schemeClr val="tx2"/>
                </a:solidFill>
              </a:rPr>
              <a:t>Example: a sudden drop after completing a lap</a:t>
            </a:r>
            <a:endParaRPr lang="en-US" sz="1200" dirty="0"/>
          </a:p>
        </p:txBody>
      </p:sp>
      <p:sp>
        <p:nvSpPr>
          <p:cNvPr id="9" name="Text 7"/>
          <p:cNvSpPr txBox="1"/>
          <p:nvPr/>
        </p:nvSpPr>
        <p:spPr>
          <a:xfrm>
            <a:off x="4892040" y="1874520"/>
            <a:ext cx="3657600" cy="25146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Detect: fast height loss or near-zero g from the accelerometer and height estimate</a:t>
            </a:r>
            <a:endParaRPr lang="en-US" sz="1300" dirty="0"/>
          </a:p>
          <a:p>
            <a:pPr marL="342900" indent="-342900">
              <a:spcAft>
                <a:spcPts val="600"/>
              </a:spcAft>
              <a:buSzPct val="100000"/>
              <a:buChar char="•"/>
            </a:pPr>
            <a:r>
              <a:rPr lang="en-US" sz="1300" dirty="0">
                <a:solidFill>
                  <a:schemeClr val="tx1"/>
                </a:solidFill>
              </a:rPr>
              <a:t>Respond: level the drone and use all available thrust to stop the fall</a:t>
            </a:r>
            <a:endParaRPr lang="en-US" sz="1300" dirty="0"/>
          </a:p>
          <a:p>
            <a:pPr marL="342900" indent="-342900">
              <a:spcAft>
                <a:spcPts val="600"/>
              </a:spcAft>
              <a:buSzPct val="100000"/>
              <a:buChar char="•"/>
            </a:pPr>
            <a:r>
              <a:rPr lang="en-US" sz="1300" dirty="0">
                <a:solidFill>
                  <a:schemeClr val="tx1"/>
                </a:solidFill>
              </a:rPr>
              <a:t>If too low or upside down: cut motors before impact (firmware tumble check)</a:t>
            </a:r>
            <a:endParaRPr lang="en-US" sz="1300" dirty="0"/>
          </a:p>
          <a:p>
            <a:pPr marL="342900" indent="-342900">
              <a:spcAft>
                <a:spcPts val="600"/>
              </a:spcAft>
              <a:buSzPct val="100000"/>
              <a:buChar char="•"/>
            </a:pPr>
            <a:r>
              <a:rPr lang="en-US" sz="1300" dirty="0">
                <a:solidFill>
                  <a:schemeClr val="tx1"/>
                </a:solidFill>
              </a:rPr>
              <a:t>Laptop kill switch available at all times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How we will build and test it</a:t>
            </a:r>
            <a:endParaRPr lang="en-US" sz="2800" dirty="0"/>
          </a:p>
        </p:txBody>
      </p:sp>
      <p:sp>
        <p:nvSpPr>
          <p:cNvPr id="3" name="Shape 1"/>
          <p:cNvSpPr/>
          <p:nvPr/>
        </p:nvSpPr>
        <p:spPr>
          <a:xfrm>
            <a:off x="457200" y="1097280"/>
            <a:ext cx="1463040" cy="1737360"/>
          </a:xfrm>
          <a:prstGeom prst="rect">
            <a:avLst/>
          </a:prstGeom>
          <a:solidFill>
            <a:schemeClr val="bg2"/>
          </a:solidFill>
          <a:ln/>
        </p:spPr>
        <p:txBody>
          <a:bodyPr/>
          <a:p/>
        </p:txBody>
      </p:sp>
      <p:sp>
        <p:nvSpPr>
          <p:cNvPr id="4" name="Text 2"/>
          <p:cNvSpPr txBox="1"/>
          <p:nvPr/>
        </p:nvSpPr>
        <p:spPr>
          <a:xfrm>
            <a:off x="594360" y="1188720"/>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5" name="Text 3"/>
          <p:cNvSpPr txBox="1"/>
          <p:nvPr/>
        </p:nvSpPr>
        <p:spPr>
          <a:xfrm>
            <a:off x="594360" y="1572768"/>
            <a:ext cx="1234440" cy="457200"/>
          </a:xfrm>
          <a:prstGeom prst="rect">
            <a:avLst/>
          </a:prstGeom>
          <a:noFill/>
          <a:ln/>
        </p:spPr>
        <p:txBody>
          <a:bodyPr wrap="square" lIns="0" tIns="0" rIns="0" bIns="0" rtlCol="0" anchor="t"/>
          <a:lstStyle/>
          <a:p>
            <a:pPr indent="0" marL="0">
              <a:buNone/>
            </a:pPr>
            <a:r>
              <a:rPr lang="en-US" sz="1300" b="1" dirty="0">
                <a:solidFill>
                  <a:schemeClr val="tx1"/>
                </a:solidFill>
              </a:rPr>
              <a:t>Python simulation</a:t>
            </a:r>
            <a:endParaRPr lang="en-US" sz="1300" dirty="0"/>
          </a:p>
        </p:txBody>
      </p:sp>
      <p:sp>
        <p:nvSpPr>
          <p:cNvPr id="6" name="Text 4"/>
          <p:cNvSpPr txBox="1"/>
          <p:nvPr/>
        </p:nvSpPr>
        <p:spPr>
          <a:xfrm>
            <a:off x="594360" y="2029968"/>
            <a:ext cx="1234440" cy="777240"/>
          </a:xfrm>
          <a:prstGeom prst="rect">
            <a:avLst/>
          </a:prstGeom>
          <a:noFill/>
          <a:ln/>
        </p:spPr>
        <p:txBody>
          <a:bodyPr wrap="square" lIns="0" tIns="0" rIns="0" bIns="0" rtlCol="0" anchor="t"/>
          <a:lstStyle/>
          <a:p>
            <a:pPr indent="0" marL="0">
              <a:buNone/>
            </a:pPr>
            <a:r>
              <a:rPr lang="en-US" sz="1100" dirty="0">
                <a:solidFill>
                  <a:schemeClr val="tx2"/>
                </a:solidFill>
              </a:rPr>
              <a:t>Our Python simulator: prove the algorithm with one motor capped</a:t>
            </a:r>
            <a:endParaRPr lang="en-US" sz="1100" dirty="0"/>
          </a:p>
        </p:txBody>
      </p:sp>
      <p:sp>
        <p:nvSpPr>
          <p:cNvPr id="7" name="Shape 5"/>
          <p:cNvSpPr/>
          <p:nvPr/>
        </p:nvSpPr>
        <p:spPr>
          <a:xfrm>
            <a:off x="1920240" y="1965960"/>
            <a:ext cx="228600" cy="0"/>
          </a:xfrm>
          <a:prstGeom prst="line">
            <a:avLst/>
          </a:prstGeom>
          <a:noFill/>
          <a:ln w="19050">
            <a:solidFill>
              <a:srgbClr val="9AA5B1"/>
            </a:solidFill>
            <a:prstDash val="solid"/>
            <a:tailEnd type="triangle"/>
          </a:ln>
        </p:spPr>
        <p:txBody>
          <a:bodyPr/>
          <a:p/>
        </p:txBody>
      </p:sp>
      <p:sp>
        <p:nvSpPr>
          <p:cNvPr id="8" name="Shape 6"/>
          <p:cNvSpPr/>
          <p:nvPr/>
        </p:nvSpPr>
        <p:spPr>
          <a:xfrm>
            <a:off x="2148840" y="1097280"/>
            <a:ext cx="1463040" cy="1737360"/>
          </a:xfrm>
          <a:prstGeom prst="rect">
            <a:avLst/>
          </a:prstGeom>
          <a:solidFill>
            <a:schemeClr val="bg2"/>
          </a:solidFill>
          <a:ln/>
        </p:spPr>
        <p:txBody>
          <a:bodyPr/>
          <a:p/>
        </p:txBody>
      </p:sp>
      <p:sp>
        <p:nvSpPr>
          <p:cNvPr id="9" name="Text 7"/>
          <p:cNvSpPr txBox="1"/>
          <p:nvPr/>
        </p:nvSpPr>
        <p:spPr>
          <a:xfrm>
            <a:off x="2286000" y="1188720"/>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10" name="Text 8"/>
          <p:cNvSpPr txBox="1"/>
          <p:nvPr/>
        </p:nvSpPr>
        <p:spPr>
          <a:xfrm>
            <a:off x="2286000" y="1572768"/>
            <a:ext cx="1234440" cy="457200"/>
          </a:xfrm>
          <a:prstGeom prst="rect">
            <a:avLst/>
          </a:prstGeom>
          <a:noFill/>
          <a:ln/>
        </p:spPr>
        <p:txBody>
          <a:bodyPr wrap="square" lIns="0" tIns="0" rIns="0" bIns="0" rtlCol="0" anchor="t"/>
          <a:lstStyle/>
          <a:p>
            <a:pPr indent="0" marL="0">
              <a:buNone/>
            </a:pPr>
            <a:r>
              <a:rPr lang="en-US" sz="1300" b="1" dirty="0">
                <a:solidFill>
                  <a:schemeClr val="tx1"/>
                </a:solidFill>
              </a:rPr>
              <a:t>Firmware simulation</a:t>
            </a:r>
            <a:endParaRPr lang="en-US" sz="1300" dirty="0"/>
          </a:p>
        </p:txBody>
      </p:sp>
      <p:sp>
        <p:nvSpPr>
          <p:cNvPr id="11" name="Text 9"/>
          <p:cNvSpPr txBox="1"/>
          <p:nvPr/>
        </p:nvSpPr>
        <p:spPr>
          <a:xfrm>
            <a:off x="2286000" y="2029968"/>
            <a:ext cx="1234440" cy="777240"/>
          </a:xfrm>
          <a:prstGeom prst="rect">
            <a:avLst/>
          </a:prstGeom>
          <a:noFill/>
          <a:ln/>
        </p:spPr>
        <p:txBody>
          <a:bodyPr wrap="square" lIns="0" tIns="0" rIns="0" bIns="0" rtlCol="0" anchor="t"/>
          <a:lstStyle/>
          <a:p>
            <a:pPr indent="0" marL="0">
              <a:buNone/>
            </a:pPr>
            <a:r>
              <a:rPr lang="en-US" sz="1100" dirty="0">
                <a:solidFill>
                  <a:schemeClr val="tx2"/>
                </a:solidFill>
              </a:rPr>
              <a:t>CrazySim: run our real C code before flying</a:t>
            </a:r>
            <a:endParaRPr lang="en-US" sz="1100" dirty="0"/>
          </a:p>
        </p:txBody>
      </p:sp>
      <p:sp>
        <p:nvSpPr>
          <p:cNvPr id="12" name="Shape 10"/>
          <p:cNvSpPr/>
          <p:nvPr/>
        </p:nvSpPr>
        <p:spPr>
          <a:xfrm>
            <a:off x="3611880" y="1965960"/>
            <a:ext cx="228600" cy="0"/>
          </a:xfrm>
          <a:prstGeom prst="line">
            <a:avLst/>
          </a:prstGeom>
          <a:noFill/>
          <a:ln w="19050">
            <a:solidFill>
              <a:srgbClr val="9AA5B1"/>
            </a:solidFill>
            <a:prstDash val="solid"/>
            <a:tailEnd type="triangle"/>
          </a:ln>
        </p:spPr>
        <p:txBody>
          <a:bodyPr/>
          <a:p/>
        </p:txBody>
      </p:sp>
      <p:sp>
        <p:nvSpPr>
          <p:cNvPr id="13" name="Shape 11"/>
          <p:cNvSpPr/>
          <p:nvPr/>
        </p:nvSpPr>
        <p:spPr>
          <a:xfrm>
            <a:off x="3840480" y="1097280"/>
            <a:ext cx="1463040" cy="1737360"/>
          </a:xfrm>
          <a:prstGeom prst="rect">
            <a:avLst/>
          </a:prstGeom>
          <a:solidFill>
            <a:schemeClr val="bg2"/>
          </a:solidFill>
          <a:ln/>
        </p:spPr>
        <p:txBody>
          <a:bodyPr/>
          <a:p/>
        </p:txBody>
      </p:sp>
      <p:sp>
        <p:nvSpPr>
          <p:cNvPr id="14" name="Text 12"/>
          <p:cNvSpPr txBox="1"/>
          <p:nvPr/>
        </p:nvSpPr>
        <p:spPr>
          <a:xfrm>
            <a:off x="3977640" y="1188720"/>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15" name="Text 13"/>
          <p:cNvSpPr txBox="1"/>
          <p:nvPr/>
        </p:nvSpPr>
        <p:spPr>
          <a:xfrm>
            <a:off x="3977640" y="1572768"/>
            <a:ext cx="1234440" cy="457200"/>
          </a:xfrm>
          <a:prstGeom prst="rect">
            <a:avLst/>
          </a:prstGeom>
          <a:noFill/>
          <a:ln/>
        </p:spPr>
        <p:txBody>
          <a:bodyPr wrap="square" lIns="0" tIns="0" rIns="0" bIns="0" rtlCol="0" anchor="t"/>
          <a:lstStyle/>
          <a:p>
            <a:pPr indent="0" marL="0">
              <a:buNone/>
            </a:pPr>
            <a:r>
              <a:rPr lang="en-US" sz="1300" b="1" dirty="0">
                <a:solidFill>
                  <a:schemeClr val="tx1"/>
                </a:solidFill>
              </a:rPr>
              <a:t>Baseline flights</a:t>
            </a:r>
            <a:endParaRPr lang="en-US" sz="1300" dirty="0"/>
          </a:p>
        </p:txBody>
      </p:sp>
      <p:sp>
        <p:nvSpPr>
          <p:cNvPr id="16" name="Text 14"/>
          <p:cNvSpPr txBox="1"/>
          <p:nvPr/>
        </p:nvSpPr>
        <p:spPr>
          <a:xfrm>
            <a:off x="3977640" y="2029968"/>
            <a:ext cx="1234440" cy="777240"/>
          </a:xfrm>
          <a:prstGeom prst="rect">
            <a:avLst/>
          </a:prstGeom>
          <a:noFill/>
          <a:ln/>
        </p:spPr>
        <p:txBody>
          <a:bodyPr wrap="square" lIns="0" tIns="0" rIns="0" bIns="0" rtlCol="0" anchor="t"/>
          <a:lstStyle/>
          <a:p>
            <a:pPr indent="0" marL="0">
              <a:buNone/>
            </a:pPr>
            <a:r>
              <a:rPr lang="en-US" sz="1100" dirty="0">
                <a:solidFill>
                  <a:schemeClr val="tx2"/>
                </a:solidFill>
              </a:rPr>
              <a:t>rectangle with all motors healthy; logs saved</a:t>
            </a:r>
            <a:endParaRPr lang="en-US" sz="1100" dirty="0"/>
          </a:p>
        </p:txBody>
      </p:sp>
      <p:sp>
        <p:nvSpPr>
          <p:cNvPr id="17" name="Shape 15"/>
          <p:cNvSpPr/>
          <p:nvPr/>
        </p:nvSpPr>
        <p:spPr>
          <a:xfrm>
            <a:off x="5303520" y="1965960"/>
            <a:ext cx="228600" cy="0"/>
          </a:xfrm>
          <a:prstGeom prst="line">
            <a:avLst/>
          </a:prstGeom>
          <a:noFill/>
          <a:ln w="19050">
            <a:solidFill>
              <a:srgbClr val="9AA5B1"/>
            </a:solidFill>
            <a:prstDash val="solid"/>
            <a:tailEnd type="triangle"/>
          </a:ln>
        </p:spPr>
        <p:txBody>
          <a:bodyPr/>
          <a:p/>
        </p:txBody>
      </p:sp>
      <p:sp>
        <p:nvSpPr>
          <p:cNvPr id="18" name="Shape 16"/>
          <p:cNvSpPr/>
          <p:nvPr/>
        </p:nvSpPr>
        <p:spPr>
          <a:xfrm>
            <a:off x="5532120" y="1097280"/>
            <a:ext cx="1463040" cy="1737360"/>
          </a:xfrm>
          <a:prstGeom prst="rect">
            <a:avLst/>
          </a:prstGeom>
          <a:solidFill>
            <a:schemeClr val="bg2"/>
          </a:solidFill>
          <a:ln/>
        </p:spPr>
        <p:txBody>
          <a:bodyPr/>
          <a:p/>
        </p:txBody>
      </p:sp>
      <p:sp>
        <p:nvSpPr>
          <p:cNvPr id="19" name="Text 17"/>
          <p:cNvSpPr txBox="1"/>
          <p:nvPr/>
        </p:nvSpPr>
        <p:spPr>
          <a:xfrm>
            <a:off x="5669280" y="1188720"/>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20" name="Text 18"/>
          <p:cNvSpPr txBox="1"/>
          <p:nvPr/>
        </p:nvSpPr>
        <p:spPr>
          <a:xfrm>
            <a:off x="5669280" y="1572768"/>
            <a:ext cx="1234440" cy="457200"/>
          </a:xfrm>
          <a:prstGeom prst="rect">
            <a:avLst/>
          </a:prstGeom>
          <a:noFill/>
          <a:ln/>
        </p:spPr>
        <p:txBody>
          <a:bodyPr wrap="square" lIns="0" tIns="0" rIns="0" bIns="0" rtlCol="0" anchor="t"/>
          <a:lstStyle/>
          <a:p>
            <a:pPr indent="0" marL="0">
              <a:buNone/>
            </a:pPr>
            <a:r>
              <a:rPr lang="en-US" sz="1300" b="1" dirty="0">
                <a:solidFill>
                  <a:schemeClr val="tx1"/>
                </a:solidFill>
              </a:rPr>
              <a:t>Fault tests</a:t>
            </a:r>
            <a:endParaRPr lang="en-US" sz="1300" dirty="0"/>
          </a:p>
        </p:txBody>
      </p:sp>
      <p:sp>
        <p:nvSpPr>
          <p:cNvPr id="21" name="Text 19"/>
          <p:cNvSpPr txBox="1"/>
          <p:nvPr/>
        </p:nvSpPr>
        <p:spPr>
          <a:xfrm>
            <a:off x="5669280" y="2029968"/>
            <a:ext cx="1234440" cy="777240"/>
          </a:xfrm>
          <a:prstGeom prst="rect">
            <a:avLst/>
          </a:prstGeom>
          <a:noFill/>
          <a:ln/>
        </p:spPr>
        <p:txBody>
          <a:bodyPr wrap="square" lIns="0" tIns="0" rIns="0" bIns="0" rtlCol="0" anchor="t"/>
          <a:lstStyle/>
          <a:p>
            <a:pPr indent="0" marL="0">
              <a:buNone/>
            </a:pPr>
            <a:r>
              <a:rPr lang="en-US" sz="1100" dirty="0">
                <a:solidFill>
                  <a:schemeClr val="tx2"/>
                </a:solidFill>
              </a:rPr>
              <a:t>low height over grass; fault on, then off</a:t>
            </a:r>
            <a:endParaRPr lang="en-US" sz="1100" dirty="0"/>
          </a:p>
        </p:txBody>
      </p:sp>
      <p:sp>
        <p:nvSpPr>
          <p:cNvPr id="22" name="Shape 20"/>
          <p:cNvSpPr/>
          <p:nvPr/>
        </p:nvSpPr>
        <p:spPr>
          <a:xfrm>
            <a:off x="6995160" y="1965960"/>
            <a:ext cx="228600" cy="0"/>
          </a:xfrm>
          <a:prstGeom prst="line">
            <a:avLst/>
          </a:prstGeom>
          <a:noFill/>
          <a:ln w="19050">
            <a:solidFill>
              <a:srgbClr val="9AA5B1"/>
            </a:solidFill>
            <a:prstDash val="solid"/>
            <a:tailEnd type="triangle"/>
          </a:ln>
        </p:spPr>
        <p:txBody>
          <a:bodyPr/>
          <a:p/>
        </p:txBody>
      </p:sp>
      <p:sp>
        <p:nvSpPr>
          <p:cNvPr id="23" name="Shape 21"/>
          <p:cNvSpPr/>
          <p:nvPr/>
        </p:nvSpPr>
        <p:spPr>
          <a:xfrm>
            <a:off x="7223760" y="1097280"/>
            <a:ext cx="1463040" cy="1737360"/>
          </a:xfrm>
          <a:prstGeom prst="rect">
            <a:avLst/>
          </a:prstGeom>
          <a:solidFill>
            <a:schemeClr val="bg2"/>
          </a:solidFill>
          <a:ln/>
        </p:spPr>
        <p:txBody>
          <a:bodyPr/>
          <a:p/>
        </p:txBody>
      </p:sp>
      <p:sp>
        <p:nvSpPr>
          <p:cNvPr id="24" name="Text 22"/>
          <p:cNvSpPr txBox="1"/>
          <p:nvPr/>
        </p:nvSpPr>
        <p:spPr>
          <a:xfrm>
            <a:off x="7360920" y="1188720"/>
            <a:ext cx="365760" cy="365760"/>
          </a:xfrm>
          <a:prstGeom prst="rect">
            <a:avLst/>
          </a:prstGeom>
          <a:noFill/>
          <a:ln/>
        </p:spPr>
        <p:txBody>
          <a:bodyPr wrap="square" lIns="0" tIns="0" rIns="0" bIns="0" rtlCol="0" anchor="t"/>
          <a:lstStyle/>
          <a:p>
            <a:pPr indent="0" marL="0">
              <a:buNone/>
            </a:pPr>
            <a:r>
              <a:rPr lang="en-US" sz="1800" b="1" dirty="0">
                <a:solidFill>
                  <a:schemeClr val="accent1"/>
                </a:solidFill>
              </a:rPr>
              <a:t>5</a:t>
            </a:r>
            <a:endParaRPr lang="en-US" sz="1800" dirty="0"/>
          </a:p>
        </p:txBody>
      </p:sp>
      <p:sp>
        <p:nvSpPr>
          <p:cNvPr id="25" name="Text 23"/>
          <p:cNvSpPr txBox="1"/>
          <p:nvPr/>
        </p:nvSpPr>
        <p:spPr>
          <a:xfrm>
            <a:off x="7360920" y="1572768"/>
            <a:ext cx="1234440" cy="457200"/>
          </a:xfrm>
          <a:prstGeom prst="rect">
            <a:avLst/>
          </a:prstGeom>
          <a:noFill/>
          <a:ln/>
        </p:spPr>
        <p:txBody>
          <a:bodyPr wrap="square" lIns="0" tIns="0" rIns="0" bIns="0" rtlCol="0" anchor="t"/>
          <a:lstStyle/>
          <a:p>
            <a:pPr indent="0" marL="0">
              <a:buNone/>
            </a:pPr>
            <a:r>
              <a:rPr lang="en-US" sz="1300" b="1" dirty="0">
                <a:solidFill>
                  <a:schemeClr val="tx1"/>
                </a:solidFill>
              </a:rPr>
              <a:t>Full demo</a:t>
            </a:r>
            <a:endParaRPr lang="en-US" sz="1300" dirty="0"/>
          </a:p>
        </p:txBody>
      </p:sp>
      <p:sp>
        <p:nvSpPr>
          <p:cNvPr id="26" name="Text 24"/>
          <p:cNvSpPr txBox="1"/>
          <p:nvPr/>
        </p:nvSpPr>
        <p:spPr>
          <a:xfrm>
            <a:off x="7360920" y="2029968"/>
            <a:ext cx="1234440" cy="777240"/>
          </a:xfrm>
          <a:prstGeom prst="rect">
            <a:avLst/>
          </a:prstGeom>
          <a:noFill/>
          <a:ln/>
        </p:spPr>
        <p:txBody>
          <a:bodyPr wrap="square" lIns="0" tIns="0" rIns="0" bIns="0" rtlCol="0" anchor="t"/>
          <a:lstStyle/>
          <a:p>
            <a:pPr indent="0" marL="0">
              <a:buNone/>
            </a:pPr>
            <a:r>
              <a:rPr lang="en-US" sz="1100" dirty="0">
                <a:solidFill>
                  <a:schemeClr val="tx2"/>
                </a:solidFill>
              </a:rPr>
              <a:t>football ground: baseline + fault flight</a:t>
            </a:r>
            <a:endParaRPr lang="en-US" sz="1100" dirty="0"/>
          </a:p>
        </p:txBody>
      </p:sp>
      <p:sp>
        <p:nvSpPr>
          <p:cNvPr id="27" name="Text 2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1300" b="1" dirty="0">
                <a:solidFill>
                  <a:schemeClr val="tx1"/>
                </a:solidFill>
              </a:rPr>
              <a:t>Fallback levels after the fault, so every stage gives a working demo:</a:t>
            </a:r>
            <a:endParaRPr lang="en-US" sz="1300" dirty="0"/>
          </a:p>
        </p:txBody>
      </p:sp>
      <p:sp>
        <p:nvSpPr>
          <p:cNvPr id="28" name="Shape 26"/>
          <p:cNvSpPr/>
          <p:nvPr/>
        </p:nvSpPr>
        <p:spPr>
          <a:xfrm>
            <a:off x="457200" y="3474720"/>
            <a:ext cx="2606040" cy="777240"/>
          </a:xfrm>
          <a:prstGeom prst="rect">
            <a:avLst/>
          </a:prstGeom>
          <a:solidFill>
            <a:schemeClr val="bg1"/>
          </a:solidFill>
          <a:ln w="15875">
            <a:solidFill>
              <a:srgbClr val="9AA5B1"/>
            </a:solidFill>
            <a:prstDash val="solid"/>
          </a:ln>
        </p:spPr>
        <p:txBody>
          <a:bodyPr/>
          <a:p/>
        </p:txBody>
      </p:sp>
      <p:sp>
        <p:nvSpPr>
          <p:cNvPr id="29" name="Text 27"/>
          <p:cNvSpPr txBox="1"/>
          <p:nvPr/>
        </p:nvSpPr>
        <p:spPr>
          <a:xfrm>
            <a:off x="594360" y="3547872"/>
            <a:ext cx="2377440" cy="640080"/>
          </a:xfrm>
          <a:prstGeom prst="rect">
            <a:avLst/>
          </a:prstGeom>
          <a:noFill/>
          <a:ln/>
        </p:spPr>
        <p:txBody>
          <a:bodyPr wrap="square" lIns="0" tIns="0" rIns="0" bIns="0" rtlCol="0" anchor="t"/>
          <a:lstStyle/>
          <a:p>
            <a:pPr indent="0" marL="0">
              <a:buNone/>
            </a:pPr>
            <a:r>
              <a:rPr lang="en-US" sz="1400" b="1" dirty="0">
                <a:solidFill>
                  <a:schemeClr val="tx1"/>
                </a:solidFill>
              </a:rPr>
              <a:t>Level A</a:t>
            </a:r>
            <a:endParaRPr lang="en-US" sz="1400" dirty="0"/>
          </a:p>
          <a:p>
            <a:pPr indent="0" marL="0">
              <a:buNone/>
            </a:pPr>
            <a:r>
              <a:rPr lang="en-US" sz="1300" dirty="0">
                <a:solidFill>
                  <a:schemeClr val="tx2"/>
                </a:solidFill>
              </a:rPr>
              <a:t>spin and land safely</a:t>
            </a:r>
            <a:endParaRPr lang="en-US" sz="1400" dirty="0"/>
          </a:p>
        </p:txBody>
      </p:sp>
      <p:sp>
        <p:nvSpPr>
          <p:cNvPr id="30" name="Shape 28"/>
          <p:cNvSpPr/>
          <p:nvPr/>
        </p:nvSpPr>
        <p:spPr>
          <a:xfrm>
            <a:off x="3291840" y="3474720"/>
            <a:ext cx="2606040" cy="777240"/>
          </a:xfrm>
          <a:prstGeom prst="rect">
            <a:avLst/>
          </a:prstGeom>
          <a:solidFill>
            <a:schemeClr val="bg1"/>
          </a:solidFill>
          <a:ln w="15875">
            <a:solidFill>
              <a:srgbClr val="9AA5B1"/>
            </a:solidFill>
            <a:prstDash val="solid"/>
          </a:ln>
        </p:spPr>
        <p:txBody>
          <a:bodyPr/>
          <a:p/>
        </p:txBody>
      </p:sp>
      <p:sp>
        <p:nvSpPr>
          <p:cNvPr id="31" name="Text 29"/>
          <p:cNvSpPr txBox="1"/>
          <p:nvPr/>
        </p:nvSpPr>
        <p:spPr>
          <a:xfrm>
            <a:off x="3429000" y="3547872"/>
            <a:ext cx="2377440" cy="640080"/>
          </a:xfrm>
          <a:prstGeom prst="rect">
            <a:avLst/>
          </a:prstGeom>
          <a:noFill/>
          <a:ln/>
        </p:spPr>
        <p:txBody>
          <a:bodyPr wrap="square" lIns="0" tIns="0" rIns="0" bIns="0" rtlCol="0" anchor="t"/>
          <a:lstStyle/>
          <a:p>
            <a:pPr indent="0" marL="0">
              <a:buNone/>
            </a:pPr>
            <a:r>
              <a:rPr lang="en-US" sz="1400" b="1" dirty="0">
                <a:solidFill>
                  <a:schemeClr val="tx1"/>
                </a:solidFill>
              </a:rPr>
              <a:t>Level B</a:t>
            </a:r>
            <a:endParaRPr lang="en-US" sz="1400" dirty="0"/>
          </a:p>
          <a:p>
            <a:pPr indent="0" marL="0">
              <a:buNone/>
            </a:pPr>
            <a:r>
              <a:rPr lang="en-US" sz="1300" dirty="0">
                <a:solidFill>
                  <a:schemeClr val="tx2"/>
                </a:solidFill>
              </a:rPr>
              <a:t>spin and hold position</a:t>
            </a:r>
            <a:endParaRPr lang="en-US" sz="1400" dirty="0"/>
          </a:p>
        </p:txBody>
      </p:sp>
      <p:sp>
        <p:nvSpPr>
          <p:cNvPr id="32" name="Shape 30"/>
          <p:cNvSpPr/>
          <p:nvPr/>
        </p:nvSpPr>
        <p:spPr>
          <a:xfrm>
            <a:off x="6126480" y="3474720"/>
            <a:ext cx="2606040" cy="777240"/>
          </a:xfrm>
          <a:prstGeom prst="rect">
            <a:avLst/>
          </a:prstGeom>
          <a:solidFill>
            <a:schemeClr val="bg1"/>
          </a:solidFill>
          <a:ln w="15875">
            <a:solidFill>
              <a:srgbClr val="D9530B"/>
            </a:solidFill>
            <a:prstDash val="solid"/>
          </a:ln>
        </p:spPr>
        <p:txBody>
          <a:bodyPr/>
          <a:p/>
        </p:txBody>
      </p:sp>
      <p:sp>
        <p:nvSpPr>
          <p:cNvPr id="33" name="Text 31"/>
          <p:cNvSpPr txBox="1"/>
          <p:nvPr/>
        </p:nvSpPr>
        <p:spPr>
          <a:xfrm>
            <a:off x="6263640" y="3547872"/>
            <a:ext cx="2377440" cy="640080"/>
          </a:xfrm>
          <a:prstGeom prst="rect">
            <a:avLst/>
          </a:prstGeom>
          <a:noFill/>
          <a:ln/>
        </p:spPr>
        <p:txBody>
          <a:bodyPr wrap="square" lIns="0" tIns="0" rIns="0" bIns="0" rtlCol="0" anchor="t"/>
          <a:lstStyle/>
          <a:p>
            <a:pPr indent="0" marL="0">
              <a:buNone/>
            </a:pPr>
            <a:r>
              <a:rPr lang="en-US" sz="1400" b="1" dirty="0">
                <a:solidFill>
                  <a:schemeClr val="tx1"/>
                </a:solidFill>
              </a:rPr>
              <a:t>Level C</a:t>
            </a:r>
            <a:endParaRPr lang="en-US" sz="1400" dirty="0"/>
          </a:p>
          <a:p>
            <a:pPr indent="0" marL="0">
              <a:buNone/>
            </a:pPr>
            <a:r>
              <a:rPr lang="en-US" sz="1300" dirty="0">
                <a:solidFill>
                  <a:schemeClr val="tx2"/>
                </a:solidFill>
              </a:rPr>
              <a:t>spin and finish the rectangle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Deliverables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502920"/>
                <a:gridCol w="3383280"/>
                <a:gridCol w="4343400"/>
              </a:tblGrid>
              <a:tr h="320040">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Deliverable</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How we will show it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Quadrotor and propulsion integration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Crazyflie + positioning + radio + our app; thrust calibration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D2</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Stable baseline autonomous flight controller</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Position and attitude logs in healthy flight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D3</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Autonomous waypoint navigation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Rectangle flown; planned vs flown path plot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D4</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Interface for receiving the fault notification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Logs show the switch to fault mode on the message</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D5</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Fault-tolerant control strategy</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INDI + WLS allocation; simulation results vs stock controller</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D6</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Control reallocation and reconfiguration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Motor commands and limits, before vs after the fault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D7</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Baseline and post-fault flight demonstrations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Two logged flights on the football ground</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D8</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Continue the mission or end it safely</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A post-fault flight that finishes the rectangle or lands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D9</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Flight logs, data and technical report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Raw logs, analysis scripts and report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bl>
          </a:graphicData>
        </a:graphic>
      </p:graphicFrame>
      <p:sp>
        <p:nvSpPr>
          <p:cNvPr id="4" name="Text 1"/>
          <p:cNvSpPr txBox="1"/>
          <p:nvPr/>
        </p:nvSpPr>
        <p:spPr>
          <a:xfrm>
            <a:off x="457200" y="4462272"/>
            <a:ext cx="8229600" cy="201168"/>
          </a:xfrm>
          <a:prstGeom prst="rect">
            <a:avLst/>
          </a:prstGeom>
          <a:noFill/>
          <a:ln/>
        </p:spPr>
        <p:txBody>
          <a:bodyPr wrap="square" lIns="0" tIns="0" rIns="0" bIns="0" rtlCol="0" anchor="t"/>
          <a:lstStyle/>
          <a:p>
            <a:pPr indent="0" marL="0">
              <a:buNone/>
            </a:pPr>
            <a:r>
              <a:rPr lang="en-US" sz="1000" dirty="0">
                <a:solidFill>
                  <a:schemeClr val="tx2"/>
                </a:solidFill>
              </a:rPr>
              <a:t>D1–D8 follow the project brief one to one; D9 covers the common deliverables.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Stretch goals and scope</a:t>
            </a:r>
            <a:endParaRPr lang="en-US" sz="2800" dirty="0"/>
          </a:p>
        </p:txBody>
      </p:sp>
      <p:sp>
        <p:nvSpPr>
          <p:cNvPr id="3" name="Shape 1"/>
          <p:cNvSpPr/>
          <p:nvPr/>
        </p:nvSpPr>
        <p:spPr>
          <a:xfrm>
            <a:off x="457200" y="1051560"/>
            <a:ext cx="3977640" cy="2194560"/>
          </a:xfrm>
          <a:prstGeom prst="rect">
            <a:avLst/>
          </a:prstGeom>
          <a:solidFill>
            <a:schemeClr val="bg2"/>
          </a:solidFill>
          <a:ln/>
        </p:spPr>
        <p:txBody>
          <a:bodyPr/>
          <a:p/>
        </p:txBody>
      </p:sp>
      <p:sp>
        <p:nvSpPr>
          <p:cNvPr id="4" name="Shape 2"/>
          <p:cNvSpPr/>
          <p:nvPr/>
        </p:nvSpPr>
        <p:spPr>
          <a:xfrm>
            <a:off x="4709160" y="1051560"/>
            <a:ext cx="3977640" cy="2194560"/>
          </a:xfrm>
          <a:prstGeom prst="rect">
            <a:avLst/>
          </a:prstGeom>
          <a:solidFill>
            <a:schemeClr val="bg2"/>
          </a:solidFill>
          <a:ln/>
        </p:spPr>
        <p:txBody>
          <a:bodyPr/>
          <a:p/>
        </p:txBody>
      </p:sp>
      <p:sp>
        <p:nvSpPr>
          <p:cNvPr id="5" name="Text 3"/>
          <p:cNvSpPr txBox="1"/>
          <p:nvPr/>
        </p:nvSpPr>
        <p:spPr>
          <a:xfrm>
            <a:off x="640080" y="1188720"/>
            <a:ext cx="3657600" cy="292608"/>
          </a:xfrm>
          <a:prstGeom prst="rect">
            <a:avLst/>
          </a:prstGeom>
          <a:noFill/>
          <a:ln/>
        </p:spPr>
        <p:txBody>
          <a:bodyPr wrap="square" lIns="0" tIns="0" rIns="0" bIns="0" rtlCol="0" anchor="t"/>
          <a:lstStyle/>
          <a:p>
            <a:pPr indent="0" marL="0">
              <a:buNone/>
            </a:pPr>
            <a:r>
              <a:rPr lang="en-US" sz="1600" b="1" dirty="0">
                <a:solidFill>
                  <a:schemeClr val="tx1"/>
                </a:solidFill>
              </a:rPr>
              <a:t>Stretch goals</a:t>
            </a:r>
            <a:endParaRPr lang="en-US" sz="1600" dirty="0"/>
          </a:p>
        </p:txBody>
      </p:sp>
      <p:sp>
        <p:nvSpPr>
          <p:cNvPr id="6" name="Text 4"/>
          <p:cNvSpPr txBox="1"/>
          <p:nvPr/>
        </p:nvSpPr>
        <p:spPr>
          <a:xfrm>
            <a:off x="640080" y="1490472"/>
            <a:ext cx="3657600" cy="228600"/>
          </a:xfrm>
          <a:prstGeom prst="rect">
            <a:avLst/>
          </a:prstGeom>
          <a:noFill/>
          <a:ln/>
        </p:spPr>
        <p:txBody>
          <a:bodyPr wrap="square" lIns="0" tIns="0" rIns="0" bIns="0" rtlCol="0" anchor="t"/>
          <a:lstStyle/>
          <a:p>
            <a:pPr indent="0" marL="0">
              <a:buNone/>
            </a:pPr>
            <a:r>
              <a:rPr lang="en-US" sz="1100" dirty="0">
                <a:solidFill>
                  <a:schemeClr val="tx2"/>
                </a:solidFill>
              </a:rPr>
              <a:t>If time allows; not committed</a:t>
            </a:r>
            <a:endParaRPr lang="en-US" sz="1100" dirty="0"/>
          </a:p>
        </p:txBody>
      </p:sp>
      <p:sp>
        <p:nvSpPr>
          <p:cNvPr id="7" name="Text 5"/>
          <p:cNvSpPr txBox="1"/>
          <p:nvPr/>
        </p:nvSpPr>
        <p:spPr>
          <a:xfrm>
            <a:off x="640080" y="1828800"/>
            <a:ext cx="365760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Finish the full rectangle in every fault trial</a:t>
            </a:r>
            <a:endParaRPr lang="en-US" sz="1300" dirty="0"/>
          </a:p>
          <a:p>
            <a:pPr marL="342900" indent="-342900">
              <a:spcAft>
                <a:spcPts val="600"/>
              </a:spcAft>
              <a:buSzPct val="100000"/>
              <a:buChar char="•"/>
            </a:pPr>
            <a:r>
              <a:rPr lang="en-US" sz="1300" dirty="0">
                <a:solidFill>
                  <a:schemeClr val="tx1"/>
                </a:solidFill>
              </a:rPr>
              <a:t>Recover from a sudden drop (extreme case)</a:t>
            </a:r>
            <a:endParaRPr lang="en-US" sz="1300" dirty="0"/>
          </a:p>
          <a:p>
            <a:pPr marL="342900" indent="-342900">
              <a:spcAft>
                <a:spcPts val="600"/>
              </a:spcAft>
              <a:buSzPct val="100000"/>
              <a:buChar char="•"/>
            </a:pPr>
            <a:r>
              <a:rPr lang="en-US" sz="1300" dirty="0">
                <a:solidFill>
                  <a:schemeClr val="tx1"/>
                </a:solidFill>
              </a:rPr>
              <a:t>Compare the stock controller with ours in real flight (committed in simulation only)</a:t>
            </a:r>
            <a:endParaRPr lang="en-US" sz="1300" dirty="0"/>
          </a:p>
        </p:txBody>
      </p:sp>
      <p:sp>
        <p:nvSpPr>
          <p:cNvPr id="8" name="Text 6"/>
          <p:cNvSpPr txBox="1"/>
          <p:nvPr/>
        </p:nvSpPr>
        <p:spPr>
          <a:xfrm>
            <a:off x="4892040" y="1188720"/>
            <a:ext cx="3657600" cy="292608"/>
          </a:xfrm>
          <a:prstGeom prst="rect">
            <a:avLst/>
          </a:prstGeom>
          <a:noFill/>
          <a:ln/>
        </p:spPr>
        <p:txBody>
          <a:bodyPr wrap="square" lIns="0" tIns="0" rIns="0" bIns="0" rtlCol="0" anchor="t"/>
          <a:lstStyle/>
          <a:p>
            <a:pPr indent="0" marL="0">
              <a:buNone/>
            </a:pPr>
            <a:r>
              <a:rPr lang="en-US" sz="1600" b="1" dirty="0">
                <a:solidFill>
                  <a:schemeClr val="tx1"/>
                </a:solidFill>
              </a:rPr>
              <a:t>Out of scope</a:t>
            </a:r>
            <a:endParaRPr lang="en-US" sz="1600" dirty="0"/>
          </a:p>
        </p:txBody>
      </p:sp>
      <p:sp>
        <p:nvSpPr>
          <p:cNvPr id="9" name="Text 7"/>
          <p:cNvSpPr txBox="1"/>
          <p:nvPr/>
        </p:nvSpPr>
        <p:spPr>
          <a:xfrm>
            <a:off x="4892040" y="1490472"/>
            <a:ext cx="3657600" cy="228600"/>
          </a:xfrm>
          <a:prstGeom prst="rect">
            <a:avLst/>
          </a:prstGeom>
          <a:noFill/>
          <a:ln/>
        </p:spPr>
        <p:txBody>
          <a:bodyPr wrap="square" lIns="0" tIns="0" rIns="0" bIns="0" rtlCol="0" anchor="t"/>
          <a:lstStyle/>
          <a:p>
            <a:pPr indent="0" marL="0">
              <a:buNone/>
            </a:pPr>
            <a:r>
              <a:rPr lang="en-US" sz="1100" dirty="0">
                <a:solidFill>
                  <a:schemeClr val="tx2"/>
                </a:solidFill>
              </a:rPr>
              <a:t>Not part of this project</a:t>
            </a:r>
            <a:endParaRPr lang="en-US" sz="1100" dirty="0"/>
          </a:p>
        </p:txBody>
      </p:sp>
      <p:sp>
        <p:nvSpPr>
          <p:cNvPr id="10" name="Text 8"/>
          <p:cNvSpPr txBox="1"/>
          <p:nvPr/>
        </p:nvSpPr>
        <p:spPr>
          <a:xfrm>
            <a:off x="4892040" y="1828800"/>
            <a:ext cx="365760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Detecting or identifying the fault (excluded by the brief)</a:t>
            </a:r>
            <a:endParaRPr lang="en-US" sz="1300" dirty="0"/>
          </a:p>
          <a:p>
            <a:pPr marL="342900" indent="-342900">
              <a:spcAft>
                <a:spcPts val="600"/>
              </a:spcAft>
              <a:buSzPct val="100000"/>
              <a:buChar char="•"/>
            </a:pPr>
            <a:r>
              <a:rPr lang="en-US" sz="1300" dirty="0">
                <a:solidFill>
                  <a:schemeClr val="tx1"/>
                </a:solidFill>
              </a:rPr>
              <a:t>Other faults: sensor failures; a fully stopped motor (simulation only)</a:t>
            </a:r>
            <a:endParaRPr lang="en-US" sz="1300" dirty="0"/>
          </a:p>
        </p:txBody>
      </p:sp>
      <p:sp>
        <p:nvSpPr>
          <p:cNvPr id="11" name="Shape 9"/>
          <p:cNvSpPr/>
          <p:nvPr/>
        </p:nvSpPr>
        <p:spPr>
          <a:xfrm>
            <a:off x="457200" y="3520440"/>
            <a:ext cx="8229600" cy="685800"/>
          </a:xfrm>
          <a:prstGeom prst="rect">
            <a:avLst/>
          </a:prstGeom>
          <a:solidFill>
            <a:schemeClr val="bg1"/>
          </a:solidFill>
          <a:ln w="19050">
            <a:solidFill>
              <a:srgbClr val="D9530B"/>
            </a:solidFill>
            <a:prstDash val="solid"/>
          </a:ln>
        </p:spPr>
        <p:txBody>
          <a:bodyPr/>
          <a:p/>
        </p:txBody>
      </p:sp>
      <p:sp>
        <p:nvSpPr>
          <p:cNvPr id="12" name="Text 10"/>
          <p:cNvSpPr txBox="1"/>
          <p:nvPr/>
        </p:nvSpPr>
        <p:spPr>
          <a:xfrm>
            <a:off x="640080" y="3566160"/>
            <a:ext cx="7863840" cy="594360"/>
          </a:xfrm>
          <a:prstGeom prst="rect">
            <a:avLst/>
          </a:prstGeom>
          <a:noFill/>
          <a:ln/>
        </p:spPr>
        <p:txBody>
          <a:bodyPr wrap="square" lIns="0" tIns="0" rIns="0" bIns="0" rtlCol="0" anchor="ctr"/>
          <a:lstStyle/>
          <a:p>
            <a:pPr indent="0" marL="0">
              <a:buNone/>
            </a:pPr>
            <a:r>
              <a:rPr lang="en-US" sz="1500" b="1" dirty="0">
                <a:solidFill>
                  <a:schemeClr val="tx1"/>
                </a:solidFill>
              </a:rPr>
              <a:t>Our commitment after the fault: finish the rectangle or land safely, as the brief allows.</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Components</a:t>
            </a:r>
            <a:endParaRPr lang="en-US" sz="2800" dirty="0"/>
          </a:p>
        </p:txBody>
      </p:sp>
      <p:sp>
        <p:nvSpPr>
          <p:cNvPr id="3" name="Text 1"/>
          <p:cNvSpPr txBox="1"/>
          <p:nvPr/>
        </p:nvSpPr>
        <p:spPr>
          <a:xfrm>
            <a:off x="457200" y="960120"/>
            <a:ext cx="3931920" cy="274320"/>
          </a:xfrm>
          <a:prstGeom prst="rect">
            <a:avLst/>
          </a:prstGeom>
          <a:noFill/>
          <a:ln/>
        </p:spPr>
        <p:txBody>
          <a:bodyPr wrap="square" lIns="0" tIns="0" rIns="0" bIns="0" rtlCol="0" anchor="t"/>
          <a:lstStyle/>
          <a:p>
            <a:pPr indent="0" marL="0">
              <a:buNone/>
            </a:pPr>
            <a:r>
              <a:rPr lang="en-US" sz="1500" b="1" dirty="0">
                <a:solidFill>
                  <a:schemeClr val="tx1"/>
                </a:solidFill>
              </a:rPr>
              <a:t>Hardware</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3977640" cy="914400"/>
        </p:xfrm>
        <a:graphic>
          <a:graphicData uri="http://schemas.openxmlformats.org/drawingml/2006/table">
            <a:tbl>
              <a:tblPr/>
              <a:tblGrid>
                <a:gridCol w="1600200"/>
                <a:gridCol w="2377440"/>
              </a:tblGrid>
              <a:tr h="566928">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r>
              <a:tr h="5669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Crazyflie 2.1 nano quadrotor</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Stands in for a custom-built quadrotor (from the lab); runs our control code</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5669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Loco deck + UWB anchors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Tells the drone where it is outdoors (Flow deck as backup)</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5669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Crazyradio USB dongle</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Radio link: path commands, fault message, flight logs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566928">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Spare batteries, propellers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Several test flights per session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bl>
          </a:graphicData>
        </a:graphic>
      </p:graphicFrame>
      <p:sp>
        <p:nvSpPr>
          <p:cNvPr id="5" name="Text 2"/>
          <p:cNvSpPr txBox="1"/>
          <p:nvPr/>
        </p:nvSpPr>
        <p:spPr>
          <a:xfrm>
            <a:off x="4709160" y="960120"/>
            <a:ext cx="3931920" cy="274320"/>
          </a:xfrm>
          <a:prstGeom prst="rect">
            <a:avLst/>
          </a:prstGeom>
          <a:noFill/>
          <a:ln/>
        </p:spPr>
        <p:txBody>
          <a:bodyPr wrap="square" lIns="0" tIns="0" rIns="0" bIns="0" rtlCol="0" anchor="t"/>
          <a:lstStyle/>
          <a:p>
            <a:pPr indent="0" marL="0">
              <a:buNone/>
            </a:pPr>
            <a:r>
              <a:rPr lang="en-US" sz="1500" b="1" dirty="0">
                <a:solidFill>
                  <a:schemeClr val="tx1"/>
                </a:solidFill>
              </a:rPr>
              <a:t>Software</a:t>
            </a:r>
            <a:endParaRPr lang="en-US" sz="1500" dirty="0"/>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4709160" y="1280160"/>
          <a:ext cx="3977640" cy="914400"/>
        </p:xfrm>
        <a:graphic>
          <a:graphicData uri="http://schemas.openxmlformats.org/drawingml/2006/table">
            <a:tbl>
              <a:tblPr/>
              <a:tblGrid>
                <a:gridCol w="1600200"/>
                <a:gridCol w="2377440"/>
              </a:tblGrid>
              <a:tr h="502920">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r>
              <a:tr h="50292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Crazyflie firmware (C)</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The drone's built-in software; we add our controller to it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50292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cflib (Python)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Sends the path and fault message, records the logs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50292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CasADi / acados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Solves the MPC on the ground station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50292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Our WLS solver (C)</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Motor sharing; checked against our Python version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50292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Our Python simulator, CrazySim</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Simulators to test before flying</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bl>
          </a:graphicData>
        </a:graphic>
      </p:graphicFrame>
      <p:sp>
        <p:nvSpPr>
          <p:cNvPr id="7" name="Text 3"/>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100" dirty="0">
                <a:solidFill>
                  <a:schemeClr val="tx2"/>
                </a:solidFill>
              </a:rPr>
              <a:t>All software is open source. The drone is provided, so there is no hardware purchase beyond spares.</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Summary</a:t>
            </a:r>
            <a:endParaRPr lang="en-US" sz="2800" dirty="0"/>
          </a:p>
        </p:txBody>
      </p:sp>
      <p:sp>
        <p:nvSpPr>
          <p:cNvPr id="3" name="Text 1"/>
          <p:cNvSpPr txBox="1"/>
          <p:nvPr/>
        </p:nvSpPr>
        <p:spPr>
          <a:xfrm>
            <a:off x="457200" y="1143000"/>
            <a:ext cx="1463040" cy="365760"/>
          </a:xfrm>
          <a:prstGeom prst="rect">
            <a:avLst/>
          </a:prstGeom>
          <a:noFill/>
          <a:ln/>
        </p:spPr>
        <p:txBody>
          <a:bodyPr wrap="square" lIns="0" tIns="0" rIns="0" bIns="0" rtlCol="0" anchor="t"/>
          <a:lstStyle/>
          <a:p>
            <a:pPr indent="0" marL="0">
              <a:buNone/>
            </a:pPr>
            <a:r>
              <a:rPr lang="en-US" sz="1800" b="1" dirty="0">
                <a:solidFill>
                  <a:schemeClr val="accent1"/>
                </a:solidFill>
              </a:rPr>
              <a:t>Problem</a:t>
            </a:r>
            <a:endParaRPr lang="en-US" sz="1800" dirty="0"/>
          </a:p>
        </p:txBody>
      </p:sp>
      <p:sp>
        <p:nvSpPr>
          <p:cNvPr id="4" name="Text 2"/>
          <p:cNvSpPr txBox="1"/>
          <p:nvPr/>
        </p:nvSpPr>
        <p:spPr>
          <a:xfrm>
            <a:off x="2011680" y="1161288"/>
            <a:ext cx="6675120" cy="731520"/>
          </a:xfrm>
          <a:prstGeom prst="rect">
            <a:avLst/>
          </a:prstGeom>
          <a:noFill/>
          <a:ln/>
        </p:spPr>
        <p:txBody>
          <a:bodyPr wrap="square" lIns="0" tIns="0" rIns="0" bIns="0" rtlCol="0" anchor="t"/>
          <a:lstStyle/>
          <a:p>
            <a:pPr indent="0" marL="0">
              <a:buNone/>
            </a:pPr>
            <a:r>
              <a:rPr lang="en-US" sz="1600" dirty="0">
                <a:solidFill>
                  <a:schemeClr val="tx1"/>
                </a:solidFill>
              </a:rPr>
              <a:t>Keep a quadrotor under control on an autonomous mission when one motor drops to 50% RPM (25% of its thrust), then continue the mission or land safely.</a:t>
            </a:r>
            <a:endParaRPr lang="en-US" sz="1600" dirty="0"/>
          </a:p>
        </p:txBody>
      </p:sp>
      <p:sp>
        <p:nvSpPr>
          <p:cNvPr id="5" name="Text 3"/>
          <p:cNvSpPr txBox="1"/>
          <p:nvPr/>
        </p:nvSpPr>
        <p:spPr>
          <a:xfrm>
            <a:off x="457200" y="2011680"/>
            <a:ext cx="1463040" cy="365760"/>
          </a:xfrm>
          <a:prstGeom prst="rect">
            <a:avLst/>
          </a:prstGeom>
          <a:noFill/>
          <a:ln/>
        </p:spPr>
        <p:txBody>
          <a:bodyPr wrap="square" lIns="0" tIns="0" rIns="0" bIns="0" rtlCol="0" anchor="t"/>
          <a:lstStyle/>
          <a:p>
            <a:pPr indent="0" marL="0">
              <a:buNone/>
            </a:pPr>
            <a:r>
              <a:rPr lang="en-US" sz="1800" b="1" dirty="0">
                <a:solidFill>
                  <a:schemeClr val="accent1"/>
                </a:solidFill>
              </a:rPr>
              <a:t>Approach</a:t>
            </a:r>
            <a:endParaRPr lang="en-US" sz="1800" dirty="0"/>
          </a:p>
        </p:txBody>
      </p:sp>
      <p:sp>
        <p:nvSpPr>
          <p:cNvPr id="6" name="Text 4"/>
          <p:cNvSpPr txBox="1"/>
          <p:nvPr/>
        </p:nvSpPr>
        <p:spPr>
          <a:xfrm>
            <a:off x="2011680" y="2029968"/>
            <a:ext cx="6675120" cy="731520"/>
          </a:xfrm>
          <a:prstGeom prst="rect">
            <a:avLst/>
          </a:prstGeom>
          <a:noFill/>
          <a:ln/>
        </p:spPr>
        <p:txBody>
          <a:bodyPr wrap="square" lIns="0" tIns="0" rIns="0" bIns="0" rtlCol="0" anchor="t"/>
          <a:lstStyle/>
          <a:p>
            <a:pPr indent="0" marL="0">
              <a:buNone/>
            </a:pPr>
            <a:r>
              <a:rPr lang="en-US" sz="1600" dirty="0">
                <a:solidFill>
                  <a:schemeClr val="tx1"/>
                </a:solidFill>
              </a:rPr>
              <a:t>Give up heading and let it spin. MPC on the laptop plans within limits; INDI and WLS allocation on the drone keep it level.</a:t>
            </a:r>
            <a:endParaRPr lang="en-US" sz="1600" dirty="0"/>
          </a:p>
        </p:txBody>
      </p:sp>
      <p:sp>
        <p:nvSpPr>
          <p:cNvPr id="7" name="Text 5"/>
          <p:cNvSpPr txBox="1"/>
          <p:nvPr/>
        </p:nvSpPr>
        <p:spPr>
          <a:xfrm>
            <a:off x="457200" y="2880360"/>
            <a:ext cx="1463040" cy="365760"/>
          </a:xfrm>
          <a:prstGeom prst="rect">
            <a:avLst/>
          </a:prstGeom>
          <a:noFill/>
          <a:ln/>
        </p:spPr>
        <p:txBody>
          <a:bodyPr wrap="square" lIns="0" tIns="0" rIns="0" bIns="0" rtlCol="0" anchor="t"/>
          <a:lstStyle/>
          <a:p>
            <a:pPr indent="0" marL="0">
              <a:buNone/>
            </a:pPr>
            <a:r>
              <a:rPr lang="en-US" sz="1800" b="1" dirty="0">
                <a:solidFill>
                  <a:schemeClr val="accent1"/>
                </a:solidFill>
              </a:rPr>
              <a:t>Demo</a:t>
            </a:r>
            <a:endParaRPr lang="en-US" sz="1800" dirty="0"/>
          </a:p>
        </p:txBody>
      </p:sp>
      <p:sp>
        <p:nvSpPr>
          <p:cNvPr id="8" name="Text 6"/>
          <p:cNvSpPr txBox="1"/>
          <p:nvPr/>
        </p:nvSpPr>
        <p:spPr>
          <a:xfrm>
            <a:off x="2011680" y="2898648"/>
            <a:ext cx="6675120" cy="731520"/>
          </a:xfrm>
          <a:prstGeom prst="rect">
            <a:avLst/>
          </a:prstGeom>
          <a:noFill/>
          <a:ln/>
        </p:spPr>
        <p:txBody>
          <a:bodyPr wrap="square" lIns="0" tIns="0" rIns="0" bIns="0" rtlCol="0" anchor="t"/>
          <a:lstStyle/>
          <a:p>
            <a:pPr indent="0" marL="0">
              <a:buNone/>
            </a:pPr>
            <a:r>
              <a:rPr lang="en-US" sz="1600" dirty="0">
                <a:solidFill>
                  <a:schemeClr val="tx1"/>
                </a:solidFill>
              </a:rPr>
              <a:t>One rectangle on a football ground with a Crazyflie 2.1: a baseline flight, then a fault flight that finishes or lands safely.</a:t>
            </a:r>
            <a:endParaRPr lang="en-US" sz="1600" dirty="0"/>
          </a:p>
        </p:txBody>
      </p:sp>
      <p:sp>
        <p:nvSpPr>
          <p:cNvPr id="9" name="Text 7"/>
          <p:cNvSpPr txBox="1"/>
          <p:nvPr/>
        </p:nvSpPr>
        <p:spPr>
          <a:xfrm>
            <a:off x="457200" y="3931920"/>
            <a:ext cx="8229600" cy="457200"/>
          </a:xfrm>
          <a:prstGeom prst="rect">
            <a:avLst/>
          </a:prstGeom>
          <a:noFill/>
          <a:ln/>
        </p:spPr>
        <p:txBody>
          <a:bodyPr wrap="square" lIns="0" tIns="0" rIns="0" bIns="0" rtlCol="0" anchor="t"/>
          <a:lstStyle/>
          <a:p>
            <a:pPr indent="0" marL="0">
              <a:buNone/>
            </a:pPr>
            <a:r>
              <a:rPr lang="en-US" sz="2200" b="1" dirty="0">
                <a:solidFill>
                  <a:schemeClr val="tx1"/>
                </a:solidFill>
              </a:rPr>
              <a:t>Thank you. Questions welcome.</a:t>
            </a:r>
            <a:endParaRPr lang="en-US" sz="2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Problem statement</a:t>
            </a:r>
            <a:endParaRPr lang="en-US" sz="2800" dirty="0"/>
          </a:p>
        </p:txBody>
      </p:sp>
      <p:sp>
        <p:nvSpPr>
          <p:cNvPr id="3" name="Text 1"/>
          <p:cNvSpPr txBox="1"/>
          <p:nvPr/>
        </p:nvSpPr>
        <p:spPr>
          <a:xfrm>
            <a:off x="457200" y="10972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1</a:t>
            </a:r>
            <a:endParaRPr lang="en-US" sz="2200" dirty="0"/>
          </a:p>
        </p:txBody>
      </p:sp>
      <p:sp>
        <p:nvSpPr>
          <p:cNvPr id="4" name="Text 2"/>
          <p:cNvSpPr txBox="1"/>
          <p:nvPr/>
        </p:nvSpPr>
        <p:spPr>
          <a:xfrm>
            <a:off x="868680" y="1143000"/>
            <a:ext cx="4572000" cy="548640"/>
          </a:xfrm>
          <a:prstGeom prst="rect">
            <a:avLst/>
          </a:prstGeom>
          <a:noFill/>
          <a:ln/>
        </p:spPr>
        <p:txBody>
          <a:bodyPr wrap="square" lIns="0" tIns="0" rIns="0" bIns="0" rtlCol="0" anchor="t"/>
          <a:lstStyle/>
          <a:p>
            <a:pPr indent="0" marL="0">
              <a:buNone/>
            </a:pPr>
            <a:r>
              <a:rPr lang="en-US" sz="1500" dirty="0">
                <a:solidFill>
                  <a:schemeClr val="tx1"/>
                </a:solidFill>
              </a:rPr>
              <a:t>Design and build a quadrotor that stays under control after a partial loss of motor performance</a:t>
            </a:r>
            <a:endParaRPr lang="en-US" sz="1500" dirty="0"/>
          </a:p>
        </p:txBody>
      </p:sp>
      <p:sp>
        <p:nvSpPr>
          <p:cNvPr id="5" name="Text 3"/>
          <p:cNvSpPr txBox="1"/>
          <p:nvPr/>
        </p:nvSpPr>
        <p:spPr>
          <a:xfrm>
            <a:off x="457200" y="17830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2</a:t>
            </a:r>
            <a:endParaRPr lang="en-US" sz="2200" dirty="0"/>
          </a:p>
        </p:txBody>
      </p:sp>
      <p:sp>
        <p:nvSpPr>
          <p:cNvPr id="6" name="Text 4"/>
          <p:cNvSpPr txBox="1"/>
          <p:nvPr/>
        </p:nvSpPr>
        <p:spPr>
          <a:xfrm>
            <a:off x="868680" y="1828800"/>
            <a:ext cx="4572000" cy="548640"/>
          </a:xfrm>
          <a:prstGeom prst="rect">
            <a:avLst/>
          </a:prstGeom>
          <a:noFill/>
          <a:ln/>
        </p:spPr>
        <p:txBody>
          <a:bodyPr wrap="square" lIns="0" tIns="0" rIns="0" bIns="0" rtlCol="0" anchor="t"/>
          <a:lstStyle/>
          <a:p>
            <a:pPr indent="0" marL="0">
              <a:buNone/>
            </a:pPr>
            <a:r>
              <a:rPr lang="en-US" sz="1500" dirty="0">
                <a:solidFill>
                  <a:schemeClr val="tx1"/>
                </a:solidFill>
              </a:rPr>
              <a:t>During an autonomous waypoint mission, one motor is limited externally to 50% of its maximum RPM</a:t>
            </a:r>
            <a:endParaRPr lang="en-US" sz="1500" dirty="0"/>
          </a:p>
        </p:txBody>
      </p:sp>
      <p:sp>
        <p:nvSpPr>
          <p:cNvPr id="7" name="Text 5"/>
          <p:cNvSpPr txBox="1"/>
          <p:nvPr/>
        </p:nvSpPr>
        <p:spPr>
          <a:xfrm>
            <a:off x="457200" y="24688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3</a:t>
            </a:r>
            <a:endParaRPr lang="en-US" sz="2200" dirty="0"/>
          </a:p>
        </p:txBody>
      </p:sp>
      <p:sp>
        <p:nvSpPr>
          <p:cNvPr id="8" name="Text 6"/>
          <p:cNvSpPr txBox="1"/>
          <p:nvPr/>
        </p:nvSpPr>
        <p:spPr>
          <a:xfrm>
            <a:off x="868680" y="2514600"/>
            <a:ext cx="4572000" cy="548640"/>
          </a:xfrm>
          <a:prstGeom prst="rect">
            <a:avLst/>
          </a:prstGeom>
          <a:noFill/>
          <a:ln/>
        </p:spPr>
        <p:txBody>
          <a:bodyPr wrap="square" lIns="0" tIns="0" rIns="0" bIns="0" rtlCol="0" anchor="t"/>
          <a:lstStyle/>
          <a:p>
            <a:pPr indent="0" marL="0">
              <a:buNone/>
            </a:pPr>
            <a:r>
              <a:rPr lang="en-US" sz="1500" dirty="0">
                <a:solidFill>
                  <a:schemeClr val="tx1"/>
                </a:solidFill>
              </a:rPr>
              <a:t>The controller is told which motor: fault detection is not required</a:t>
            </a:r>
            <a:endParaRPr lang="en-US" sz="1500" dirty="0"/>
          </a:p>
        </p:txBody>
      </p:sp>
      <p:sp>
        <p:nvSpPr>
          <p:cNvPr id="9" name="Text 7"/>
          <p:cNvSpPr txBox="1"/>
          <p:nvPr/>
        </p:nvSpPr>
        <p:spPr>
          <a:xfrm>
            <a:off x="457200" y="31546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4</a:t>
            </a:r>
            <a:endParaRPr lang="en-US" sz="2200" dirty="0"/>
          </a:p>
        </p:txBody>
      </p:sp>
      <p:sp>
        <p:nvSpPr>
          <p:cNvPr id="10" name="Text 8"/>
          <p:cNvSpPr txBox="1"/>
          <p:nvPr/>
        </p:nvSpPr>
        <p:spPr>
          <a:xfrm>
            <a:off x="868680" y="3200400"/>
            <a:ext cx="4572000" cy="548640"/>
          </a:xfrm>
          <a:prstGeom prst="rect">
            <a:avLst/>
          </a:prstGeom>
          <a:noFill/>
          <a:ln/>
        </p:spPr>
        <p:txBody>
          <a:bodyPr wrap="square" lIns="0" tIns="0" rIns="0" bIns="0" rtlCol="0" anchor="t"/>
          <a:lstStyle/>
          <a:p>
            <a:pPr indent="0" marL="0">
              <a:buNone/>
            </a:pPr>
            <a:r>
              <a:rPr lang="en-US" sz="1500" dirty="0">
                <a:solidFill>
                  <a:schemeClr val="tx1"/>
                </a:solidFill>
              </a:rPr>
              <a:t>The controller must adapt to the reduced actuator capability</a:t>
            </a:r>
            <a:endParaRPr lang="en-US" sz="1500" dirty="0"/>
          </a:p>
        </p:txBody>
      </p:sp>
      <p:sp>
        <p:nvSpPr>
          <p:cNvPr id="11" name="Text 9"/>
          <p:cNvSpPr txBox="1"/>
          <p:nvPr/>
        </p:nvSpPr>
        <p:spPr>
          <a:xfrm>
            <a:off x="457200" y="3840480"/>
            <a:ext cx="365760" cy="548640"/>
          </a:xfrm>
          <a:prstGeom prst="rect">
            <a:avLst/>
          </a:prstGeom>
          <a:noFill/>
          <a:ln/>
        </p:spPr>
        <p:txBody>
          <a:bodyPr wrap="square" lIns="0" tIns="0" rIns="0" bIns="0" rtlCol="0" anchor="t"/>
          <a:lstStyle/>
          <a:p>
            <a:pPr indent="0" marL="0">
              <a:buNone/>
            </a:pPr>
            <a:r>
              <a:rPr lang="en-US" sz="2200" b="1" dirty="0">
                <a:solidFill>
                  <a:schemeClr val="accent1"/>
                </a:solidFill>
              </a:rPr>
              <a:t>5</a:t>
            </a:r>
            <a:endParaRPr lang="en-US" sz="2200" dirty="0"/>
          </a:p>
        </p:txBody>
      </p:sp>
      <p:sp>
        <p:nvSpPr>
          <p:cNvPr id="12" name="Text 10"/>
          <p:cNvSpPr txBox="1"/>
          <p:nvPr/>
        </p:nvSpPr>
        <p:spPr>
          <a:xfrm>
            <a:off x="868680" y="3886200"/>
            <a:ext cx="4572000" cy="548640"/>
          </a:xfrm>
          <a:prstGeom prst="rect">
            <a:avLst/>
          </a:prstGeom>
          <a:noFill/>
          <a:ln/>
        </p:spPr>
        <p:txBody>
          <a:bodyPr wrap="square" lIns="0" tIns="0" rIns="0" bIns="0" rtlCol="0" anchor="t"/>
          <a:lstStyle/>
          <a:p>
            <a:pPr indent="0" marL="0">
              <a:buNone/>
            </a:pPr>
            <a:r>
              <a:rPr lang="en-US" sz="1500" dirty="0">
                <a:solidFill>
                  <a:schemeClr val="tx1"/>
                </a:solidFill>
              </a:rPr>
              <a:t>It then continues the mission, or ends it safely and lands, under control throughout</a:t>
            </a:r>
            <a:endParaRPr lang="en-US" sz="1500" dirty="0"/>
          </a:p>
        </p:txBody>
      </p:sp>
      <p:sp>
        <p:nvSpPr>
          <p:cNvPr id="13" name="Shape 11"/>
          <p:cNvSpPr/>
          <p:nvPr/>
        </p:nvSpPr>
        <p:spPr>
          <a:xfrm>
            <a:off x="5806440" y="1097280"/>
            <a:ext cx="2880360" cy="3291840"/>
          </a:xfrm>
          <a:prstGeom prst="rect">
            <a:avLst/>
          </a:prstGeom>
          <a:solidFill>
            <a:schemeClr val="bg2"/>
          </a:solidFill>
          <a:ln/>
        </p:spPr>
        <p:txBody>
          <a:bodyPr/>
          <a:p/>
        </p:txBody>
      </p:sp>
      <p:sp>
        <p:nvSpPr>
          <p:cNvPr id="14" name="Text 12"/>
          <p:cNvSpPr txBox="1"/>
          <p:nvPr/>
        </p:nvSpPr>
        <p:spPr>
          <a:xfrm>
            <a:off x="6035040" y="1280160"/>
            <a:ext cx="2468880" cy="274320"/>
          </a:xfrm>
          <a:prstGeom prst="rect">
            <a:avLst/>
          </a:prstGeom>
          <a:noFill/>
          <a:ln/>
        </p:spPr>
        <p:txBody>
          <a:bodyPr wrap="square" lIns="0" tIns="0" rIns="0" bIns="0" rtlCol="0" anchor="t"/>
          <a:lstStyle/>
          <a:p>
            <a:pPr indent="0" marL="0">
              <a:buNone/>
            </a:pPr>
            <a:r>
              <a:rPr lang="en-US" sz="1500" b="1" dirty="0">
                <a:solidFill>
                  <a:schemeClr val="tx1"/>
                </a:solidFill>
              </a:rPr>
              <a:t>Our platform</a:t>
            </a:r>
            <a:endParaRPr lang="en-US" sz="1500" dirty="0"/>
          </a:p>
        </p:txBody>
      </p:sp>
      <p:sp>
        <p:nvSpPr>
          <p:cNvPr id="15" name="Text 13"/>
          <p:cNvSpPr txBox="1"/>
          <p:nvPr/>
        </p:nvSpPr>
        <p:spPr>
          <a:xfrm>
            <a:off x="6035040" y="1600200"/>
            <a:ext cx="2468880" cy="731520"/>
          </a:xfrm>
          <a:prstGeom prst="rect">
            <a:avLst/>
          </a:prstGeom>
          <a:noFill/>
          <a:ln/>
        </p:spPr>
        <p:txBody>
          <a:bodyPr wrap="square" lIns="0" tIns="0" rIns="0" bIns="0" rtlCol="0" anchor="t"/>
          <a:lstStyle/>
          <a:p>
            <a:pPr indent="0" marL="0">
              <a:buNone/>
            </a:pPr>
            <a:r>
              <a:rPr lang="en-US" sz="1400" dirty="0">
                <a:solidFill>
                  <a:schemeClr val="tx2"/>
                </a:solidFill>
              </a:rPr>
              <a:t>We cannot build a quadrotor within the project time, so we fly a Crazyflie 2.1 (27 g, open firmware) as the airframe.</a:t>
            </a:r>
            <a:endParaRPr lang="en-US" sz="1400" dirty="0"/>
          </a:p>
        </p:txBody>
      </p:sp>
      <p:sp>
        <p:nvSpPr>
          <p:cNvPr id="16" name="Text 14"/>
          <p:cNvSpPr txBox="1"/>
          <p:nvPr/>
        </p:nvSpPr>
        <p:spPr>
          <a:xfrm>
            <a:off x="6035040" y="2606040"/>
            <a:ext cx="2468880" cy="274320"/>
          </a:xfrm>
          <a:prstGeom prst="rect">
            <a:avLst/>
          </a:prstGeom>
          <a:noFill/>
          <a:ln/>
        </p:spPr>
        <p:txBody>
          <a:bodyPr wrap="square" lIns="0" tIns="0" rIns="0" bIns="0" rtlCol="0" anchor="t"/>
          <a:lstStyle/>
          <a:p>
            <a:pPr indent="0" marL="0">
              <a:buNone/>
            </a:pPr>
            <a:r>
              <a:rPr lang="en-US" sz="1500" b="1" dirty="0">
                <a:solidFill>
                  <a:schemeClr val="tx1"/>
                </a:solidFill>
              </a:rPr>
              <a:t>What is ours</a:t>
            </a:r>
            <a:endParaRPr lang="en-US" sz="1500" dirty="0"/>
          </a:p>
        </p:txBody>
      </p:sp>
      <p:sp>
        <p:nvSpPr>
          <p:cNvPr id="17" name="Text 15"/>
          <p:cNvSpPr txBox="1"/>
          <p:nvPr/>
        </p:nvSpPr>
        <p:spPr>
          <a:xfrm>
            <a:off x="6035040" y="2926080"/>
            <a:ext cx="2468880" cy="1097280"/>
          </a:xfrm>
          <a:prstGeom prst="rect">
            <a:avLst/>
          </a:prstGeom>
          <a:noFill/>
          <a:ln/>
        </p:spPr>
        <p:txBody>
          <a:bodyPr wrap="square" lIns="0" tIns="0" rIns="0" bIns="0" rtlCol="0" anchor="t"/>
          <a:lstStyle/>
          <a:p>
            <a:pPr indent="0" marL="0">
              <a:buNone/>
            </a:pPr>
            <a:r>
              <a:rPr lang="en-US" sz="1400" dirty="0">
                <a:solidFill>
                  <a:schemeClr val="tx2"/>
                </a:solidFill>
              </a:rPr>
              <a:t>The fault-tolerant controller, the fault interface and the mission logic. None of them depend on the airframe.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1"/>
                </a:solidFill>
              </a:rPr>
              <a:t>Progress so far (simulation)</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1097280"/>
                <a:gridCol w="3108960"/>
                <a:gridCol w="4023360"/>
              </a:tblGrid>
              <a:tr h="320040">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c>
                  <a:txBody>
                    <a:bodyPr/>
                    <a:lstStyle/>
                    <a:p>
                      <a:pPr indent="0" marL="0">
                        <a:buNone/>
                      </a:pPr>
                      <a:r>
                        <a:rPr lang="en-US" sz="1200" b="1" dirty="0">
                          <a:solidFill>
                            <a:srgbClr val="1F2933"/>
                          </a:solidFill>
                          <a:latin typeface="Calibri" pitchFamily="34" charset="0"/>
                          <a:ea typeface="Calibri" pitchFamily="34" charset="-122"/>
                          <a:cs typeface="Calibri" pitchFamily="34" charset="-120"/>
                        </a:rPr>
                        <a:t>Result</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solidFill>
                      <a:srgbClr val="F1F3F5"/>
                    </a:solidFill>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Python sim</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27 g quadrotor, M1 at 50% RPM on B → C</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Stock flips; ours finishes the rectangle</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Python sim</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Same, with 2 m/s wind</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Ours finishes; Kalman filter finds the wind force (20 mN)</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CrazySim</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Crazyflie 2.1 Brushless, M1 at 50% RPM</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Stock crashes; ours finishes the rectangle</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CrazySim</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Crazyflie 2.1 (27 g), M1 at 50% RPM</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Ours lands level at 0.6 m/s; stock falls at 2.2 m/s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CrazySim</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Crazyflie 2.1, M1 at half thrust, hover</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Ours stays level (2 deg); stock crashes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r h="320040">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CrazySim</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Crazyflie 2.1, M1 switched off</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c>
                  <a:txBody>
                    <a:bodyPr/>
                    <a:lstStyle/>
                    <a:p>
                      <a:pPr indent="0" marL="0">
                        <a:buNone/>
                      </a:pPr>
                      <a:r>
                        <a:rPr lang="en-US" sz="1200" dirty="0">
                          <a:solidFill>
                            <a:srgbClr val="1F2933"/>
                          </a:solidFill>
                          <a:latin typeface="Calibri" pitchFamily="34" charset="0"/>
                          <a:ea typeface="Calibri" pitchFamily="34" charset="-122"/>
                          <a:cs typeface="Calibri" pitchFamily="34" charset="-120"/>
                        </a:rPr>
                        <a:t>Ours comes down upright; stock flips</a:t>
                      </a:r>
                      <a:endParaRPr lang="en-US" sz="1200" dirty="0">
                        <a:latin typeface="Calibri" charset="0"/>
                        <a:ea typeface="Calibri" charset="0"/>
                        <a:cs typeface="Calibri" charset="0"/>
                      </a:endParaRPr>
                    </a:p>
                  </a:txBody>
                  <a:tcPr marL="76200" marR="76200" marT="38100" marB="38100" anchor="ctr">
                    <a:lnL w="9525" cap="flat" cmpd="sng" algn="ctr">
                      <a:solidFill>
                        <a:srgbClr val="C9D0D7"/>
                      </a:solidFill>
                      <a:prstDash val="solid"/>
                      <a:round/>
                      <a:headEnd type="none" w="med" len="med"/>
                      <a:tailEnd type="none" w="med" len="med"/>
                    </a:lnL>
                    <a:lnR w="9525" cap="flat" cmpd="sng" algn="ctr">
                      <a:solidFill>
                        <a:srgbClr val="C9D0D7"/>
                      </a:solidFill>
                      <a:prstDash val="solid"/>
                      <a:round/>
                      <a:headEnd type="none" w="med" len="med"/>
                      <a:tailEnd type="none" w="med" len="med"/>
                    </a:lnR>
                    <a:lnT w="9525" cap="flat" cmpd="sng" algn="ctr">
                      <a:solidFill>
                        <a:srgbClr val="C9D0D7"/>
                      </a:solidFill>
                      <a:prstDash val="solid"/>
                      <a:round/>
                      <a:headEnd type="none" w="med" len="med"/>
                      <a:tailEnd type="none" w="med" len="med"/>
                    </a:lnT>
                    <a:lnB w="9525" cap="flat" cmpd="sng" algn="ctr">
                      <a:solidFill>
                        <a:srgbClr val="C9D0D7"/>
                      </a:solidFill>
                      <a:prstDash val="solid"/>
                      <a:round/>
                      <a:headEnd type="none" w="med" len="med"/>
                      <a:tailEnd type="none" w="med" len="med"/>
                    </a:lnB>
                  </a:tcPr>
                </a:tc>
              </a:tr>
            </a:tbl>
          </a:graphicData>
        </a:graphic>
      </p:graphicFrame>
      <p:sp>
        <p:nvSpPr>
          <p:cNvPr id="4" name="Text 1"/>
          <p:cNvSpPr txBox="1"/>
          <p:nvPr/>
        </p:nvSpPr>
        <p:spPr>
          <a:xfrm>
            <a:off x="457200" y="4462272"/>
            <a:ext cx="8229600" cy="201168"/>
          </a:xfrm>
          <a:prstGeom prst="rect">
            <a:avLst/>
          </a:prstGeom>
          <a:noFill/>
          <a:ln/>
        </p:spPr>
        <p:txBody>
          <a:bodyPr wrap="square" lIns="0" tIns="0" rIns="0" bIns="0" rtlCol="0" anchor="t"/>
          <a:lstStyle/>
          <a:p>
            <a:pPr indent="0" marL="0">
              <a:buNone/>
            </a:pPr>
            <a:r>
              <a:rPr lang="en-US" sz="1000" dirty="0">
                <a:solidFill>
                  <a:schemeClr val="tx2"/>
                </a:solidFill>
              </a:rPr>
              <a:t>CrazySim runs the real Crazyflie firmware with our controller in C. Next: thrust test, then staged flights on the real drone.</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Project 6 Plain">
  <a:themeElements>
    <a:clrScheme name="Project 6 Plain">
      <a:dk1>
        <a:srgbClr val="1F2933"/>
      </a:dk1>
      <a:lt1>
        <a:srgbClr val="FFFFFF"/>
      </a:lt1>
      <a:dk2>
        <a:srgbClr val="5B6573"/>
      </a:dk2>
      <a:lt2>
        <a:srgbClr val="F1F3F5"/>
      </a:lt2>
      <a:accent1>
        <a:srgbClr val="D9530B"/>
      </a:accent1>
      <a:accent2>
        <a:srgbClr val="2F6F8F"/>
      </a:accent2>
      <a:accent3>
        <a:srgbClr val="2E7D4F"/>
      </a:accent3>
      <a:accent4>
        <a:srgbClr val="9AA5B1"/>
      </a:accent4>
      <a:accent5>
        <a:srgbClr val="B3261E"/>
      </a:accent5>
      <a:accent6>
        <a:srgbClr val="7A8794"/>
      </a:accent6>
      <a:hlink>
        <a:srgbClr val="2F6F8F"/>
      </a:hlink>
      <a:folHlink>
        <a:srgbClr val="5B6573"/>
      </a:folHlink>
    </a:clrScheme>
    <a:fontScheme name="Project 6 Pl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Fault-Tolerant Quadrotor Control</dc:title>
  <dc:subject>PptxGenJS Presentation</dc:subject>
  <dc:creator>Team LUGER</dc:creator>
  <cp:lastModifiedBy>Team LUGER</cp:lastModifiedBy>
  <cp:revision>1</cp:revision>
  <dcterms:created xsi:type="dcterms:W3CDTF">2026-10-27T11:47:19Z</dcterms:created>
  <dcterms:modified xsi:type="dcterms:W3CDTF">2026-10-27T11:47:19Z</dcterms:modified>
</cp:coreProperties>
</file>